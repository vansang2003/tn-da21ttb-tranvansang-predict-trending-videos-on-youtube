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x="18288000" cy="10287000"/>
  <p:notesSz cx="6858000" cy="9144000"/>
  <p:embeddedFontLst>
    <p:embeddedFont>
      <p:font typeface="Be Vietnam Ultra-Bold" charset="1" panose="00000900000000000000"/>
      <p:regular r:id="rId39"/>
    </p:embeddedFont>
    <p:embeddedFont>
      <p:font typeface="Arial MT Pro Bold" charset="1" panose="020B0802020202020204"/>
      <p:regular r:id="rId40"/>
    </p:embeddedFont>
    <p:embeddedFont>
      <p:font typeface="Poppins" charset="1" panose="00000500000000000000"/>
      <p:regular r:id="rId41"/>
    </p:embeddedFont>
    <p:embeddedFont>
      <p:font typeface="Poppins Semi-Bold" charset="1" panose="00000700000000000000"/>
      <p:regular r:id="rId42"/>
    </p:embeddedFont>
    <p:embeddedFont>
      <p:font typeface="Poppins Bold" charset="1" panose="00000800000000000000"/>
      <p:regular r:id="rId43"/>
    </p:embeddedFont>
    <p:embeddedFont>
      <p:font typeface="Poppins Ultra-Bold" charset="1" panose="00000900000000000000"/>
      <p:regular r:id="rId45"/>
    </p:embeddedFont>
    <p:embeddedFont>
      <p:font typeface="Barlow Bold" charset="1" panose="00000800000000000000"/>
      <p:regular r:id="rId47"/>
    </p:embeddedFont>
    <p:embeddedFont>
      <p:font typeface="Arial MT Pro" charset="1" panose="020B0502020202020204"/>
      <p:regular r:id="rId48"/>
    </p:embeddedFont>
    <p:embeddedFont>
      <p:font typeface="Be Vietnam Medium" charset="1" panose="00000600000000000000"/>
      <p:regular r:id="rId50"/>
    </p:embeddedFont>
    <p:embeddedFont>
      <p:font typeface="Be Vietnam" charset="1" panose="00000500000000000000"/>
      <p:regular r:id="rId51"/>
    </p:embeddedFont>
    <p:embeddedFont>
      <p:font typeface="Barlow Light" charset="1" panose="00000400000000000000"/>
      <p:regular r:id="rId52"/>
    </p:embeddedFont>
    <p:embeddedFont>
      <p:font typeface="Barlow" charset="1" panose="00000500000000000000"/>
      <p:regular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notesMasters/notesMaster1.xml" Type="http://schemas.openxmlformats.org/officeDocument/2006/relationships/notesMaster"/><Relationship Id="rId37" Target="theme/theme2.xml" Type="http://schemas.openxmlformats.org/officeDocument/2006/relationships/theme"/><Relationship Id="rId38" Target="notesSlides/notesSlide1.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notesSlides/notesSlide2.xml" Type="http://schemas.openxmlformats.org/officeDocument/2006/relationships/notesSlide"/><Relationship Id="rId45" Target="fonts/font45.fntdata" Type="http://schemas.openxmlformats.org/officeDocument/2006/relationships/font"/><Relationship Id="rId46" Target="notesSlides/notesSlide3.xml" Type="http://schemas.openxmlformats.org/officeDocument/2006/relationships/notesSlide"/><Relationship Id="rId47" Target="fonts/font47.fntdata" Type="http://schemas.openxmlformats.org/officeDocument/2006/relationships/font"/><Relationship Id="rId48" Target="fonts/font48.fntdata" Type="http://schemas.openxmlformats.org/officeDocument/2006/relationships/font"/><Relationship Id="rId49" Target="notesSlides/notesSlide4.xml" Type="http://schemas.openxmlformats.org/officeDocument/2006/relationships/notesSlide"/><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53" Target="notesSlides/notesSlide5.xml" Type="http://schemas.openxmlformats.org/officeDocument/2006/relationships/notesSlide"/><Relationship Id="rId54" Target="fonts/font54.fntdata" Type="http://schemas.openxmlformats.org/officeDocument/2006/relationships/font"/><Relationship Id="rId55" Target="notesSlides/notesSlide6.xml" Type="http://schemas.openxmlformats.org/officeDocument/2006/relationships/notesSlide"/><Relationship Id="rId56" Target="notesSlides/notesSlide7.xml" Type="http://schemas.openxmlformats.org/officeDocument/2006/relationships/notesSlide"/><Relationship Id="rId57" Target="notesSlides/notesSlide8.xml" Type="http://schemas.openxmlformats.org/officeDocument/2006/relationships/notesSlide"/><Relationship Id="rId58" Target="notesSlides/notesSlide9.xml" Type="http://schemas.openxmlformats.org/officeDocument/2006/relationships/notesSlide"/><Relationship Id="rId59" Target="notesSlides/notesSlide10.xml" Type="http://schemas.openxmlformats.org/officeDocument/2006/relationships/notesSlide"/><Relationship Id="rId6" Target="slides/slide1.xml" Type="http://schemas.openxmlformats.org/officeDocument/2006/relationships/slide"/><Relationship Id="rId60" Target="notesSlides/notesSlide11.xml" Type="http://schemas.openxmlformats.org/officeDocument/2006/relationships/notesSlide"/><Relationship Id="rId61" Target="notesSlides/notesSlide12.xml" Type="http://schemas.openxmlformats.org/officeDocument/2006/relationships/notesSlide"/><Relationship Id="rId62" Target="notesSlides/notesSlide13.xml" Type="http://schemas.openxmlformats.org/officeDocument/2006/relationships/notesSlide"/><Relationship Id="rId63" Target="notesSlides/notesSlide14.xml" Type="http://schemas.openxmlformats.org/officeDocument/2006/relationships/notesSlide"/><Relationship Id="rId64" Target="notesSlides/notesSlide15.xml" Type="http://schemas.openxmlformats.org/officeDocument/2006/relationships/notesSlide"/><Relationship Id="rId65" Target="notesSlides/notesSlide16.xml" Type="http://schemas.openxmlformats.org/officeDocument/2006/relationships/notesSlide"/><Relationship Id="rId66" Target="notesSlides/notesSlide17.xml" Type="http://schemas.openxmlformats.org/officeDocument/2006/relationships/notesSlide"/><Relationship Id="rId67" Target="notesSlides/notesSlide18.xml" Type="http://schemas.openxmlformats.org/officeDocument/2006/relationships/notesSlide"/><Relationship Id="rId68" Target="notesSlides/notesSlide19.xml" Type="http://schemas.openxmlformats.org/officeDocument/2006/relationships/notesSlide"/><Relationship Id="rId69" Target="notesSlides/notesSlide20.xml" Type="http://schemas.openxmlformats.org/officeDocument/2006/relationships/notesSlide"/><Relationship Id="rId7" Target="slides/slide2.xml" Type="http://schemas.openxmlformats.org/officeDocument/2006/relationships/slide"/><Relationship Id="rId70" Target="notesSlides/notesSlide21.xml" Type="http://schemas.openxmlformats.org/officeDocument/2006/relationships/notesSlide"/><Relationship Id="rId71" Target="notesSlides/notesSlide22.xml" Type="http://schemas.openxmlformats.org/officeDocument/2006/relationships/notesSlide"/><Relationship Id="rId72" Target="notesSlides/notesSlide23.xml" Type="http://schemas.openxmlformats.org/officeDocument/2006/relationships/notesSlide"/><Relationship Id="rId73" Target="notesSlides/notesSlide24.xml" Type="http://schemas.openxmlformats.org/officeDocument/2006/relationships/notesSlide"/><Relationship Id="rId74" Target="notesSlides/notesSlide25.xml" Type="http://schemas.openxmlformats.org/officeDocument/2006/relationships/notesSlide"/><Relationship Id="rId75" Target="notesSlides/notesSlide26.xml" Type="http://schemas.openxmlformats.org/officeDocument/2006/relationships/notesSlide"/><Relationship Id="rId76" Target="notesSlides/notesSlide27.xml" Type="http://schemas.openxmlformats.org/officeDocument/2006/relationships/notesSlide"/><Relationship Id="rId77" Target="notesSlides/notesSlide28.xml" Type="http://schemas.openxmlformats.org/officeDocument/2006/relationships/notesSlide"/><Relationship Id="rId78" Target="notesSlides/notesSlide29.xml" Type="http://schemas.openxmlformats.org/officeDocument/2006/relationships/notesSlide"/><Relationship Id="rId79" Target="notesSlides/notesSlide30.xml" Type="http://schemas.openxmlformats.org/officeDocument/2006/relationships/note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1.png" Type="http://schemas.openxmlformats.org/officeDocument/2006/relationships/image"/><Relationship Id="rId4" Target="../media/image1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3.png" Type="http://schemas.openxmlformats.org/officeDocument/2006/relationships/image"/><Relationship Id="rId4" Target="../media/image1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5.pn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8.png" Type="http://schemas.openxmlformats.org/officeDocument/2006/relationships/image"/><Relationship Id="rId4" Target="../media/image19.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2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21.png" Type="http://schemas.openxmlformats.org/officeDocument/2006/relationships/image"/><Relationship Id="rId4" Target="../media/image2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2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24.png" Type="http://schemas.openxmlformats.org/officeDocument/2006/relationships/image"/><Relationship Id="rId4" Target="../media/image2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26.png" Type="http://schemas.openxmlformats.org/officeDocument/2006/relationships/image"/><Relationship Id="rId4" Target="../media/image27.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2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2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30.png" Type="http://schemas.openxmlformats.org/officeDocument/2006/relationships/image"/><Relationship Id="rId4" Target="../media/image31.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5.pn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34.pn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37.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38.png" Type="http://schemas.openxmlformats.org/officeDocument/2006/relationships/image"/><Relationship Id="rId4" Target="../media/image39.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40.png" Type="http://schemas.openxmlformats.org/officeDocument/2006/relationships/image"/><Relationship Id="rId4" Target="../media/image41.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42.png" Type="http://schemas.openxmlformats.org/officeDocument/2006/relationships/image"/><Relationship Id="rId4" Target="../media/image43.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44.png" Type="http://schemas.openxmlformats.org/officeDocument/2006/relationships/image"/><Relationship Id="rId4" Target="../media/image45.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46.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5400000">
            <a:off x="-606750" y="4333810"/>
            <a:ext cx="2832600" cy="1619400"/>
            <a:chOff x="0" y="0"/>
            <a:chExt cx="3776800" cy="2159200"/>
          </a:xfrm>
        </p:grpSpPr>
        <p:sp>
          <p:nvSpPr>
            <p:cNvPr name="Freeform 3" id="3"/>
            <p:cNvSpPr/>
            <p:nvPr/>
          </p:nvSpPr>
          <p:spPr>
            <a:xfrm flipH="false" flipV="false" rot="0">
              <a:off x="0" y="0"/>
              <a:ext cx="3776853" cy="2159254"/>
            </a:xfrm>
            <a:custGeom>
              <a:avLst/>
              <a:gdLst/>
              <a:ahLst/>
              <a:cxnLst/>
              <a:rect r="r" b="b" t="t" l="l"/>
              <a:pathLst>
                <a:path h="2159254" w="3776853">
                  <a:moveTo>
                    <a:pt x="0" y="2159254"/>
                  </a:moveTo>
                  <a:lnTo>
                    <a:pt x="1888363" y="0"/>
                  </a:lnTo>
                  <a:lnTo>
                    <a:pt x="3776853" y="2159254"/>
                  </a:lnTo>
                  <a:close/>
                </a:path>
              </a:pathLst>
            </a:custGeom>
            <a:solidFill>
              <a:srgbClr val="00B5DD"/>
            </a:solidFill>
          </p:spPr>
        </p:sp>
      </p:grpSp>
      <p:sp>
        <p:nvSpPr>
          <p:cNvPr name="Freeform 4" id="4"/>
          <p:cNvSpPr/>
          <p:nvPr/>
        </p:nvSpPr>
        <p:spPr>
          <a:xfrm flipH="false" flipV="false" rot="0">
            <a:off x="410290" y="201802"/>
            <a:ext cx="1922286" cy="1922286"/>
          </a:xfrm>
          <a:custGeom>
            <a:avLst/>
            <a:gdLst/>
            <a:ahLst/>
            <a:cxnLst/>
            <a:rect r="r" b="b" t="t" l="l"/>
            <a:pathLst>
              <a:path h="1922286" w="1922286">
                <a:moveTo>
                  <a:pt x="0" y="0"/>
                </a:moveTo>
                <a:lnTo>
                  <a:pt x="1922286" y="0"/>
                </a:lnTo>
                <a:lnTo>
                  <a:pt x="1922286" y="1922286"/>
                </a:lnTo>
                <a:lnTo>
                  <a:pt x="0" y="1922286"/>
                </a:lnTo>
                <a:lnTo>
                  <a:pt x="0" y="0"/>
                </a:lnTo>
                <a:close/>
              </a:path>
            </a:pathLst>
          </a:custGeom>
          <a:blipFill>
            <a:blip r:embed="rId3"/>
            <a:stretch>
              <a:fillRect l="0" t="0" r="0" b="0"/>
            </a:stretch>
          </a:blipFill>
        </p:spPr>
      </p:sp>
      <p:sp>
        <p:nvSpPr>
          <p:cNvPr name="Freeform 5" id="5"/>
          <p:cNvSpPr/>
          <p:nvPr/>
        </p:nvSpPr>
        <p:spPr>
          <a:xfrm flipH="false" flipV="false" rot="0">
            <a:off x="11173145" y="1526398"/>
            <a:ext cx="6909860" cy="7234224"/>
          </a:xfrm>
          <a:custGeom>
            <a:avLst/>
            <a:gdLst/>
            <a:ahLst/>
            <a:cxnLst/>
            <a:rect r="r" b="b" t="t" l="l"/>
            <a:pathLst>
              <a:path h="7234224" w="6909860">
                <a:moveTo>
                  <a:pt x="0" y="0"/>
                </a:moveTo>
                <a:lnTo>
                  <a:pt x="6909860" y="0"/>
                </a:lnTo>
                <a:lnTo>
                  <a:pt x="6909860" y="7234224"/>
                </a:lnTo>
                <a:lnTo>
                  <a:pt x="0" y="72342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619250" y="2844002"/>
            <a:ext cx="10425715" cy="2089312"/>
          </a:xfrm>
          <a:prstGeom prst="rect">
            <a:avLst/>
          </a:prstGeom>
        </p:spPr>
        <p:txBody>
          <a:bodyPr anchor="t" rtlCol="false" tIns="0" lIns="0" bIns="0" rIns="0">
            <a:spAutoFit/>
          </a:bodyPr>
          <a:lstStyle/>
          <a:p>
            <a:pPr algn="ctr">
              <a:lnSpc>
                <a:spcPts val="5599"/>
              </a:lnSpc>
            </a:pPr>
            <a:r>
              <a:rPr lang="en-US" b="true" sz="3999">
                <a:solidFill>
                  <a:srgbClr val="007BB9"/>
                </a:solidFill>
                <a:latin typeface="Be Vietnam Ultra-Bold"/>
                <a:ea typeface="Be Vietnam Ultra-Bold"/>
                <a:cs typeface="Be Vietnam Ultra-Bold"/>
                <a:sym typeface="Be Vietnam Ultra-Bold"/>
              </a:rPr>
              <a:t>XÂY DỰNG HỆ THỐNG PHÂN TÍCH DỮ LIỆU</a:t>
            </a:r>
          </a:p>
          <a:p>
            <a:pPr algn="ctr">
              <a:lnSpc>
                <a:spcPts val="5599"/>
              </a:lnSpc>
            </a:pPr>
            <a:r>
              <a:rPr lang="en-US" b="true" sz="3999">
                <a:solidFill>
                  <a:srgbClr val="007BB9"/>
                </a:solidFill>
                <a:latin typeface="Be Vietnam Ultra-Bold"/>
                <a:ea typeface="Be Vietnam Ultra-Bold"/>
                <a:cs typeface="Be Vietnam Ultra-Bold"/>
                <a:sym typeface="Be Vietnam Ultra-Bold"/>
              </a:rPr>
              <a:t> VÀ DỰ ĐOÁN XU HƯỚNG VIDEO </a:t>
            </a:r>
          </a:p>
          <a:p>
            <a:pPr algn="ctr">
              <a:lnSpc>
                <a:spcPts val="5599"/>
              </a:lnSpc>
            </a:pPr>
            <a:r>
              <a:rPr lang="en-US" b="true" sz="3999">
                <a:solidFill>
                  <a:srgbClr val="007BB9"/>
                </a:solidFill>
                <a:latin typeface="Be Vietnam Ultra-Bold"/>
                <a:ea typeface="Be Vietnam Ultra-Bold"/>
                <a:cs typeface="Be Vietnam Ultra-Bold"/>
                <a:sym typeface="Be Vietnam Ultra-Bold"/>
              </a:rPr>
              <a:t>THỊNH HÀNH TRÊN NỀN TẢNG YOUTUBE </a:t>
            </a:r>
          </a:p>
        </p:txBody>
      </p:sp>
      <p:sp>
        <p:nvSpPr>
          <p:cNvPr name="TextBox 7" id="7"/>
          <p:cNvSpPr txBox="true"/>
          <p:nvPr/>
        </p:nvSpPr>
        <p:spPr>
          <a:xfrm rot="0">
            <a:off x="4663440" y="767552"/>
            <a:ext cx="8961120" cy="1704975"/>
          </a:xfrm>
          <a:prstGeom prst="rect">
            <a:avLst/>
          </a:prstGeom>
        </p:spPr>
        <p:txBody>
          <a:bodyPr anchor="t" rtlCol="false" tIns="0" lIns="0" bIns="0" rIns="0">
            <a:spAutoFit/>
          </a:bodyPr>
          <a:lstStyle/>
          <a:p>
            <a:pPr algn="ctr">
              <a:lnSpc>
                <a:spcPts val="4799"/>
              </a:lnSpc>
            </a:pPr>
            <a:r>
              <a:rPr lang="en-US" sz="3999" b="true">
                <a:solidFill>
                  <a:srgbClr val="000000"/>
                </a:solidFill>
                <a:latin typeface="Arial MT Pro Bold"/>
                <a:ea typeface="Arial MT Pro Bold"/>
                <a:cs typeface="Arial MT Pro Bold"/>
                <a:sym typeface="Arial MT Pro Bold"/>
              </a:rPr>
              <a:t>ĐẠI HỌC TRÀ VINH</a:t>
            </a:r>
          </a:p>
          <a:p>
            <a:pPr algn="ctr">
              <a:lnSpc>
                <a:spcPts val="4079"/>
              </a:lnSpc>
            </a:pPr>
            <a:r>
              <a:rPr lang="en-US" sz="3399" b="true">
                <a:solidFill>
                  <a:srgbClr val="000000"/>
                </a:solidFill>
                <a:latin typeface="Arial MT Pro Bold"/>
                <a:ea typeface="Arial MT Pro Bold"/>
                <a:cs typeface="Arial MT Pro Bold"/>
                <a:sym typeface="Arial MT Pro Bold"/>
              </a:rPr>
              <a:t> TRƯỜNG KỸ THUẬT VÀ CÔNG NGHỆ</a:t>
            </a:r>
          </a:p>
          <a:p>
            <a:pPr algn="ctr">
              <a:lnSpc>
                <a:spcPts val="4079"/>
              </a:lnSpc>
            </a:pPr>
          </a:p>
        </p:txBody>
      </p:sp>
      <p:sp>
        <p:nvSpPr>
          <p:cNvPr name="TextBox 8" id="8"/>
          <p:cNvSpPr txBox="true"/>
          <p:nvPr/>
        </p:nvSpPr>
        <p:spPr>
          <a:xfrm rot="0">
            <a:off x="1619250" y="7603429"/>
            <a:ext cx="9553895" cy="2895410"/>
          </a:xfrm>
          <a:prstGeom prst="rect">
            <a:avLst/>
          </a:prstGeom>
        </p:spPr>
        <p:txBody>
          <a:bodyPr anchor="t" rtlCol="false" tIns="0" lIns="0" bIns="0" rIns="0">
            <a:spAutoFit/>
          </a:bodyPr>
          <a:lstStyle/>
          <a:p>
            <a:pPr algn="l">
              <a:lnSpc>
                <a:spcPts val="3240"/>
              </a:lnSpc>
            </a:pPr>
            <a:r>
              <a:rPr lang="en-US" sz="2700">
                <a:solidFill>
                  <a:srgbClr val="000000"/>
                </a:solidFill>
                <a:latin typeface="Poppins"/>
                <a:ea typeface="Poppins"/>
                <a:cs typeface="Poppins"/>
                <a:sym typeface="Poppins"/>
              </a:rPr>
              <a:t>Sinh viên thực hiện: Trần Văn Sang            </a:t>
            </a:r>
          </a:p>
          <a:p>
            <a:pPr algn="l">
              <a:lnSpc>
                <a:spcPts val="3240"/>
              </a:lnSpc>
            </a:pPr>
            <a:r>
              <a:rPr lang="en-US" sz="2700">
                <a:solidFill>
                  <a:srgbClr val="000000"/>
                </a:solidFill>
                <a:latin typeface="Poppins"/>
                <a:ea typeface="Poppins"/>
                <a:cs typeface="Poppins"/>
                <a:sym typeface="Poppins"/>
              </a:rPr>
              <a:t>MSSV: 110121094            </a:t>
            </a:r>
          </a:p>
          <a:p>
            <a:pPr algn="l">
              <a:lnSpc>
                <a:spcPts val="3240"/>
              </a:lnSpc>
            </a:pPr>
            <a:r>
              <a:rPr lang="en-US" sz="2700">
                <a:solidFill>
                  <a:srgbClr val="000000"/>
                </a:solidFill>
                <a:latin typeface="Poppins"/>
                <a:ea typeface="Poppins"/>
                <a:cs typeface="Poppins"/>
                <a:sym typeface="Poppins"/>
              </a:rPr>
              <a:t>Mã lớp: DA21TTB</a:t>
            </a:r>
          </a:p>
          <a:p>
            <a:pPr algn="l">
              <a:lnSpc>
                <a:spcPts val="3240"/>
              </a:lnSpc>
            </a:pPr>
            <a:r>
              <a:rPr lang="en-US" sz="2700">
                <a:solidFill>
                  <a:srgbClr val="000000"/>
                </a:solidFill>
                <a:latin typeface="Poppins"/>
                <a:ea typeface="Poppins"/>
                <a:cs typeface="Poppins"/>
                <a:sym typeface="Poppins"/>
              </a:rPr>
              <a:t>Khóa: 2021 - 2025</a:t>
            </a:r>
          </a:p>
          <a:p>
            <a:pPr algn="l">
              <a:lnSpc>
                <a:spcPts val="3240"/>
              </a:lnSpc>
            </a:pPr>
          </a:p>
          <a:p>
            <a:pPr algn="l">
              <a:lnSpc>
                <a:spcPts val="3240"/>
              </a:lnSpc>
            </a:pPr>
          </a:p>
          <a:p>
            <a:pPr algn="l">
              <a:lnSpc>
                <a:spcPts val="3240"/>
              </a:lnSpc>
            </a:pPr>
          </a:p>
        </p:txBody>
      </p:sp>
      <p:sp>
        <p:nvSpPr>
          <p:cNvPr name="TextBox 9" id="9"/>
          <p:cNvSpPr txBox="true"/>
          <p:nvPr/>
        </p:nvSpPr>
        <p:spPr>
          <a:xfrm rot="0">
            <a:off x="2924418" y="5409842"/>
            <a:ext cx="7423829" cy="942921"/>
          </a:xfrm>
          <a:prstGeom prst="rect">
            <a:avLst/>
          </a:prstGeom>
        </p:spPr>
        <p:txBody>
          <a:bodyPr anchor="t" rtlCol="false" tIns="0" lIns="0" bIns="0" rIns="0">
            <a:spAutoFit/>
          </a:bodyPr>
          <a:lstStyle/>
          <a:p>
            <a:pPr algn="ctr">
              <a:lnSpc>
                <a:spcPts val="3600"/>
              </a:lnSpc>
            </a:pPr>
            <a:r>
              <a:rPr lang="en-US" sz="3000" b="true">
                <a:solidFill>
                  <a:srgbClr val="000000"/>
                </a:solidFill>
                <a:latin typeface="Poppins Semi-Bold"/>
                <a:ea typeface="Poppins Semi-Bold"/>
                <a:cs typeface="Poppins Semi-Bold"/>
                <a:sym typeface="Poppins Semi-Bold"/>
              </a:rPr>
              <a:t>KHÓA LUẬN TỐT NGHIỆP</a:t>
            </a:r>
          </a:p>
          <a:p>
            <a:pPr algn="ctr">
              <a:lnSpc>
                <a:spcPts val="3600"/>
              </a:lnSpc>
            </a:pPr>
            <a:r>
              <a:rPr lang="en-US" sz="3000" b="true">
                <a:solidFill>
                  <a:srgbClr val="000000"/>
                </a:solidFill>
                <a:latin typeface="Poppins Semi-Bold"/>
                <a:ea typeface="Poppins Semi-Bold"/>
                <a:cs typeface="Poppins Semi-Bold"/>
                <a:sym typeface="Poppins Semi-Bold"/>
              </a:rPr>
              <a:t>NGÀNH CÔNG NGHỆ THÔNG TIN</a:t>
            </a:r>
          </a:p>
        </p:txBody>
      </p:sp>
      <p:sp>
        <p:nvSpPr>
          <p:cNvPr name="TextBox 10" id="10"/>
          <p:cNvSpPr txBox="true"/>
          <p:nvPr/>
        </p:nvSpPr>
        <p:spPr>
          <a:xfrm rot="0">
            <a:off x="1619250" y="6993829"/>
            <a:ext cx="6495817" cy="447729"/>
          </a:xfrm>
          <a:prstGeom prst="rect">
            <a:avLst/>
          </a:prstGeom>
        </p:spPr>
        <p:txBody>
          <a:bodyPr anchor="t" rtlCol="false" tIns="0" lIns="0" bIns="0" rIns="0">
            <a:spAutoFit/>
          </a:bodyPr>
          <a:lstStyle/>
          <a:p>
            <a:pPr algn="l">
              <a:lnSpc>
                <a:spcPts val="3359"/>
              </a:lnSpc>
            </a:pPr>
            <a:r>
              <a:rPr lang="en-US" b="true" sz="2799">
                <a:solidFill>
                  <a:srgbClr val="000000"/>
                </a:solidFill>
                <a:latin typeface="Poppins Bold"/>
                <a:ea typeface="Poppins Bold"/>
                <a:cs typeface="Poppins Bold"/>
                <a:sym typeface="Poppins Bold"/>
              </a:rPr>
              <a:t>GVHD: ThS. Phạm Thị Trúc Mai</a:t>
            </a:r>
          </a:p>
        </p:txBody>
      </p:sp>
    </p:spTree>
  </p:cSld>
  <p:clrMapOvr>
    <a:masterClrMapping/>
  </p:clrMapOvr>
</p:sld>
</file>

<file path=ppt/slides/slide2.xml><?xml version="1.0" encoding="utf-8"?>
<p:sld xmlns:p="http://schemas.openxmlformats.org/presentationml/2006/main" xmlns:a="http://schemas.openxmlformats.org/drawingml/2006/main">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5400000">
            <a:off x="-200700" y="1448970"/>
            <a:ext cx="937200" cy="535800"/>
            <a:chOff x="0" y="0"/>
            <a:chExt cx="1249600" cy="714400"/>
          </a:xfrm>
        </p:grpSpPr>
        <p:sp>
          <p:nvSpPr>
            <p:cNvPr name="Freeform 3" id="3"/>
            <p:cNvSpPr/>
            <p:nvPr/>
          </p:nvSpPr>
          <p:spPr>
            <a:xfrm flipH="false" flipV="false" rot="0">
              <a:off x="0" y="0"/>
              <a:ext cx="1249680" cy="714375"/>
            </a:xfrm>
            <a:custGeom>
              <a:avLst/>
              <a:gdLst/>
              <a:ahLst/>
              <a:cxnLst/>
              <a:rect r="r" b="b" t="t" l="l"/>
              <a:pathLst>
                <a:path h="714375" w="1249680">
                  <a:moveTo>
                    <a:pt x="0" y="714375"/>
                  </a:moveTo>
                  <a:lnTo>
                    <a:pt x="624840" y="0"/>
                  </a:lnTo>
                  <a:lnTo>
                    <a:pt x="1249680" y="714375"/>
                  </a:lnTo>
                  <a:close/>
                </a:path>
              </a:pathLst>
            </a:custGeom>
            <a:solidFill>
              <a:srgbClr val="00B5DD"/>
            </a:solidFill>
          </p:spPr>
        </p:sp>
      </p:grpSp>
      <p:sp>
        <p:nvSpPr>
          <p:cNvPr name="TextBox 4" id="4"/>
          <p:cNvSpPr txBox="true"/>
          <p:nvPr/>
        </p:nvSpPr>
        <p:spPr>
          <a:xfrm rot="0">
            <a:off x="930350" y="1059996"/>
            <a:ext cx="11281800" cy="1125474"/>
          </a:xfrm>
          <a:prstGeom prst="rect">
            <a:avLst/>
          </a:prstGeom>
        </p:spPr>
        <p:txBody>
          <a:bodyPr anchor="t" rtlCol="false" tIns="0" lIns="0" bIns="0" rIns="0">
            <a:spAutoFit/>
          </a:bodyPr>
          <a:lstStyle/>
          <a:p>
            <a:pPr algn="l">
              <a:lnSpc>
                <a:spcPts val="8447"/>
              </a:lnSpc>
            </a:pPr>
            <a:r>
              <a:rPr lang="en-US" b="true" sz="8800">
                <a:solidFill>
                  <a:srgbClr val="007BB9"/>
                </a:solidFill>
                <a:latin typeface="Be Vietnam Ultra-Bold"/>
                <a:ea typeface="Be Vietnam Ultra-Bold"/>
                <a:cs typeface="Be Vietnam Ultra-Bold"/>
                <a:sym typeface="Be Vietnam Ultra-Bold"/>
              </a:rPr>
              <a:t>Nội dung chính</a:t>
            </a:r>
          </a:p>
        </p:txBody>
      </p:sp>
      <p:grpSp>
        <p:nvGrpSpPr>
          <p:cNvPr name="Group 5" id="5"/>
          <p:cNvGrpSpPr/>
          <p:nvPr/>
        </p:nvGrpSpPr>
        <p:grpSpPr>
          <a:xfrm rot="0">
            <a:off x="968800" y="2726800"/>
            <a:ext cx="8025600" cy="3252826"/>
            <a:chOff x="0" y="0"/>
            <a:chExt cx="10700800" cy="4337101"/>
          </a:xfrm>
        </p:grpSpPr>
        <p:sp>
          <p:nvSpPr>
            <p:cNvPr name="Freeform 6" id="6"/>
            <p:cNvSpPr/>
            <p:nvPr/>
          </p:nvSpPr>
          <p:spPr>
            <a:xfrm flipH="false" flipV="false" rot="0">
              <a:off x="0" y="0"/>
              <a:ext cx="10700766" cy="4337043"/>
            </a:xfrm>
            <a:custGeom>
              <a:avLst/>
              <a:gdLst/>
              <a:ahLst/>
              <a:cxnLst/>
              <a:rect r="r" b="b" t="t" l="l"/>
              <a:pathLst>
                <a:path h="4337043" w="10700766">
                  <a:moveTo>
                    <a:pt x="0" y="0"/>
                  </a:moveTo>
                  <a:lnTo>
                    <a:pt x="10700766" y="0"/>
                  </a:lnTo>
                  <a:lnTo>
                    <a:pt x="10700766" y="4337043"/>
                  </a:lnTo>
                  <a:lnTo>
                    <a:pt x="0" y="4337043"/>
                  </a:lnTo>
                  <a:close/>
                </a:path>
              </a:pathLst>
            </a:custGeom>
            <a:solidFill>
              <a:srgbClr val="E9EAF2"/>
            </a:solidFill>
          </p:spPr>
        </p:sp>
        <p:sp>
          <p:nvSpPr>
            <p:cNvPr name="TextBox 7" id="7"/>
            <p:cNvSpPr txBox="true"/>
            <p:nvPr/>
          </p:nvSpPr>
          <p:spPr>
            <a:xfrm>
              <a:off x="0" y="0"/>
              <a:ext cx="10700800" cy="4337101"/>
            </a:xfrm>
            <a:prstGeom prst="rect">
              <a:avLst/>
            </a:prstGeom>
          </p:spPr>
          <p:txBody>
            <a:bodyPr anchor="ctr" rtlCol="false" tIns="50800" lIns="50800" bIns="50800" rIns="50800"/>
            <a:lstStyle/>
            <a:p>
              <a:pPr algn="ctr">
                <a:lnSpc>
                  <a:spcPts val="5759"/>
                </a:lnSpc>
              </a:pPr>
            </a:p>
            <a:p>
              <a:pPr algn="ctr">
                <a:lnSpc>
                  <a:spcPts val="5759"/>
                </a:lnSpc>
              </a:pPr>
              <a:r>
                <a:rPr lang="en-US" sz="4800" b="true">
                  <a:solidFill>
                    <a:srgbClr val="000000"/>
                  </a:solidFill>
                  <a:latin typeface="Be Vietnam Ultra-Bold"/>
                  <a:ea typeface="Be Vietnam Ultra-Bold"/>
                  <a:cs typeface="Be Vietnam Ultra-Bold"/>
                  <a:sym typeface="Be Vietnam Ultra-Bold"/>
                </a:rPr>
                <a:t>Giới thiệu</a:t>
              </a:r>
            </a:p>
            <a:p>
              <a:pPr algn="ctr">
                <a:lnSpc>
                  <a:spcPts val="5759"/>
                </a:lnSpc>
              </a:pPr>
              <a:r>
                <a:rPr lang="en-US" b="true" sz="4800">
                  <a:solidFill>
                    <a:srgbClr val="000000"/>
                  </a:solidFill>
                  <a:latin typeface="Be Vietnam Ultra-Bold"/>
                  <a:ea typeface="Be Vietnam Ultra-Bold"/>
                  <a:cs typeface="Be Vietnam Ultra-Bold"/>
                  <a:sym typeface="Be Vietnam Ultra-Bold"/>
                </a:rPr>
                <a:t>đề tài</a:t>
              </a:r>
            </a:p>
            <a:p>
              <a:pPr algn="l">
                <a:lnSpc>
                  <a:spcPts val="5759"/>
                </a:lnSpc>
              </a:pPr>
            </a:p>
          </p:txBody>
        </p:sp>
      </p:grpSp>
      <p:grpSp>
        <p:nvGrpSpPr>
          <p:cNvPr name="Group 8" id="8"/>
          <p:cNvGrpSpPr/>
          <p:nvPr/>
        </p:nvGrpSpPr>
        <p:grpSpPr>
          <a:xfrm rot="0">
            <a:off x="9326140" y="2726800"/>
            <a:ext cx="8025600" cy="3169200"/>
            <a:chOff x="0" y="0"/>
            <a:chExt cx="10700800" cy="4225600"/>
          </a:xfrm>
        </p:grpSpPr>
        <p:sp>
          <p:nvSpPr>
            <p:cNvPr name="Freeform 9" id="9"/>
            <p:cNvSpPr/>
            <p:nvPr/>
          </p:nvSpPr>
          <p:spPr>
            <a:xfrm flipH="false" flipV="false" rot="0">
              <a:off x="0" y="0"/>
              <a:ext cx="10700766" cy="4225544"/>
            </a:xfrm>
            <a:custGeom>
              <a:avLst/>
              <a:gdLst/>
              <a:ahLst/>
              <a:cxnLst/>
              <a:rect r="r" b="b" t="t" l="l"/>
              <a:pathLst>
                <a:path h="4225544" w="10700766">
                  <a:moveTo>
                    <a:pt x="0" y="0"/>
                  </a:moveTo>
                  <a:lnTo>
                    <a:pt x="10700766" y="0"/>
                  </a:lnTo>
                  <a:lnTo>
                    <a:pt x="10700766" y="4225544"/>
                  </a:lnTo>
                  <a:lnTo>
                    <a:pt x="0" y="4225544"/>
                  </a:lnTo>
                  <a:close/>
                </a:path>
              </a:pathLst>
            </a:custGeom>
            <a:solidFill>
              <a:srgbClr val="E9EAF2"/>
            </a:solidFill>
          </p:spPr>
        </p:sp>
        <p:sp>
          <p:nvSpPr>
            <p:cNvPr name="TextBox 10" id="10"/>
            <p:cNvSpPr txBox="true"/>
            <p:nvPr/>
          </p:nvSpPr>
          <p:spPr>
            <a:xfrm>
              <a:off x="0" y="0"/>
              <a:ext cx="10700800" cy="4225600"/>
            </a:xfrm>
            <a:prstGeom prst="rect">
              <a:avLst/>
            </a:prstGeom>
          </p:spPr>
          <p:txBody>
            <a:bodyPr anchor="ctr" rtlCol="false" tIns="50800" lIns="50800" bIns="50800" rIns="50800"/>
            <a:lstStyle/>
            <a:p>
              <a:pPr algn="ctr">
                <a:lnSpc>
                  <a:spcPts val="5759"/>
                </a:lnSpc>
              </a:pPr>
              <a:r>
                <a:rPr lang="en-US" sz="4800" b="true">
                  <a:solidFill>
                    <a:srgbClr val="000000"/>
                  </a:solidFill>
                  <a:latin typeface="Be Vietnam Ultra-Bold"/>
                  <a:ea typeface="Be Vietnam Ultra-Bold"/>
                  <a:cs typeface="Be Vietnam Ultra-Bold"/>
                  <a:sym typeface="Be Vietnam Ultra-Bold"/>
                </a:rPr>
                <a:t>Cơ sở </a:t>
              </a:r>
            </a:p>
            <a:p>
              <a:pPr algn="ctr">
                <a:lnSpc>
                  <a:spcPts val="5759"/>
                </a:lnSpc>
              </a:pPr>
              <a:r>
                <a:rPr lang="en-US" sz="4800" b="true">
                  <a:solidFill>
                    <a:srgbClr val="000000"/>
                  </a:solidFill>
                  <a:latin typeface="Be Vietnam Ultra-Bold"/>
                  <a:ea typeface="Be Vietnam Ultra-Bold"/>
                  <a:cs typeface="Be Vietnam Ultra-Bold"/>
                  <a:sym typeface="Be Vietnam Ultra-Bold"/>
                </a:rPr>
                <a:t>lý thuyết</a:t>
              </a:r>
            </a:p>
          </p:txBody>
        </p:sp>
      </p:grpSp>
      <p:grpSp>
        <p:nvGrpSpPr>
          <p:cNvPr name="Group 11" id="11"/>
          <p:cNvGrpSpPr/>
          <p:nvPr/>
        </p:nvGrpSpPr>
        <p:grpSpPr>
          <a:xfrm rot="0">
            <a:off x="968800" y="6243800"/>
            <a:ext cx="8025600" cy="3169200"/>
            <a:chOff x="0" y="0"/>
            <a:chExt cx="10700800" cy="4225600"/>
          </a:xfrm>
        </p:grpSpPr>
        <p:sp>
          <p:nvSpPr>
            <p:cNvPr name="Freeform 12" id="12"/>
            <p:cNvSpPr/>
            <p:nvPr/>
          </p:nvSpPr>
          <p:spPr>
            <a:xfrm flipH="false" flipV="false" rot="0">
              <a:off x="0" y="0"/>
              <a:ext cx="10700766" cy="4225544"/>
            </a:xfrm>
            <a:custGeom>
              <a:avLst/>
              <a:gdLst/>
              <a:ahLst/>
              <a:cxnLst/>
              <a:rect r="r" b="b" t="t" l="l"/>
              <a:pathLst>
                <a:path h="4225544" w="10700766">
                  <a:moveTo>
                    <a:pt x="0" y="0"/>
                  </a:moveTo>
                  <a:lnTo>
                    <a:pt x="10700766" y="0"/>
                  </a:lnTo>
                  <a:lnTo>
                    <a:pt x="10700766" y="4225544"/>
                  </a:lnTo>
                  <a:lnTo>
                    <a:pt x="0" y="4225544"/>
                  </a:lnTo>
                  <a:close/>
                </a:path>
              </a:pathLst>
            </a:custGeom>
            <a:solidFill>
              <a:srgbClr val="E9EAF2"/>
            </a:solidFill>
          </p:spPr>
        </p:sp>
        <p:sp>
          <p:nvSpPr>
            <p:cNvPr name="TextBox 13" id="13"/>
            <p:cNvSpPr txBox="true"/>
            <p:nvPr/>
          </p:nvSpPr>
          <p:spPr>
            <a:xfrm>
              <a:off x="0" y="0"/>
              <a:ext cx="10700800" cy="4225600"/>
            </a:xfrm>
            <a:prstGeom prst="rect">
              <a:avLst/>
            </a:prstGeom>
          </p:spPr>
          <p:txBody>
            <a:bodyPr anchor="ctr" rtlCol="false" tIns="50800" lIns="50800" bIns="50800" rIns="50800"/>
            <a:lstStyle/>
            <a:p>
              <a:pPr algn="ctr">
                <a:lnSpc>
                  <a:spcPts val="5759"/>
                </a:lnSpc>
              </a:pPr>
              <a:r>
                <a:rPr lang="en-US" sz="4800" b="true">
                  <a:solidFill>
                    <a:srgbClr val="000000"/>
                  </a:solidFill>
                  <a:latin typeface="Be Vietnam Ultra-Bold"/>
                  <a:ea typeface="Be Vietnam Ultra-Bold"/>
                  <a:cs typeface="Be Vietnam Ultra-Bold"/>
                  <a:sym typeface="Be Vietnam Ultra-Bold"/>
                </a:rPr>
                <a:t>Ứng dụng</a:t>
              </a:r>
            </a:p>
            <a:p>
              <a:pPr algn="ctr">
                <a:lnSpc>
                  <a:spcPts val="5759"/>
                </a:lnSpc>
              </a:pPr>
              <a:r>
                <a:rPr lang="en-US" b="true" sz="4800">
                  <a:solidFill>
                    <a:srgbClr val="000000"/>
                  </a:solidFill>
                  <a:latin typeface="Be Vietnam Ultra-Bold"/>
                  <a:ea typeface="Be Vietnam Ultra-Bold"/>
                  <a:cs typeface="Be Vietnam Ultra-Bold"/>
                  <a:sym typeface="Be Vietnam Ultra-Bold"/>
                </a:rPr>
                <a:t> dự đoán</a:t>
              </a:r>
            </a:p>
          </p:txBody>
        </p:sp>
      </p:grpSp>
      <p:grpSp>
        <p:nvGrpSpPr>
          <p:cNvPr name="Group 14" id="14"/>
          <p:cNvGrpSpPr/>
          <p:nvPr/>
        </p:nvGrpSpPr>
        <p:grpSpPr>
          <a:xfrm rot="0">
            <a:off x="9326140" y="6243800"/>
            <a:ext cx="8025600" cy="3169200"/>
            <a:chOff x="0" y="0"/>
            <a:chExt cx="10700800" cy="4225600"/>
          </a:xfrm>
        </p:grpSpPr>
        <p:sp>
          <p:nvSpPr>
            <p:cNvPr name="Freeform 15" id="15"/>
            <p:cNvSpPr/>
            <p:nvPr/>
          </p:nvSpPr>
          <p:spPr>
            <a:xfrm flipH="false" flipV="false" rot="0">
              <a:off x="0" y="0"/>
              <a:ext cx="10700766" cy="4225544"/>
            </a:xfrm>
            <a:custGeom>
              <a:avLst/>
              <a:gdLst/>
              <a:ahLst/>
              <a:cxnLst/>
              <a:rect r="r" b="b" t="t" l="l"/>
              <a:pathLst>
                <a:path h="4225544" w="10700766">
                  <a:moveTo>
                    <a:pt x="0" y="0"/>
                  </a:moveTo>
                  <a:lnTo>
                    <a:pt x="10700766" y="0"/>
                  </a:lnTo>
                  <a:lnTo>
                    <a:pt x="10700766" y="4225544"/>
                  </a:lnTo>
                  <a:lnTo>
                    <a:pt x="0" y="4225544"/>
                  </a:lnTo>
                  <a:close/>
                </a:path>
              </a:pathLst>
            </a:custGeom>
            <a:solidFill>
              <a:srgbClr val="E9EAF2"/>
            </a:solidFill>
          </p:spPr>
        </p:sp>
        <p:sp>
          <p:nvSpPr>
            <p:cNvPr name="TextBox 16" id="16"/>
            <p:cNvSpPr txBox="true"/>
            <p:nvPr/>
          </p:nvSpPr>
          <p:spPr>
            <a:xfrm>
              <a:off x="0" y="0"/>
              <a:ext cx="10700800" cy="4225600"/>
            </a:xfrm>
            <a:prstGeom prst="rect">
              <a:avLst/>
            </a:prstGeom>
          </p:spPr>
          <p:txBody>
            <a:bodyPr anchor="ctr" rtlCol="false" tIns="50800" lIns="50800" bIns="50800" rIns="50800"/>
            <a:lstStyle/>
            <a:p>
              <a:pPr algn="ctr">
                <a:lnSpc>
                  <a:spcPts val="5759"/>
                </a:lnSpc>
              </a:pPr>
              <a:r>
                <a:rPr lang="en-US" sz="4800" b="true">
                  <a:solidFill>
                    <a:srgbClr val="000000"/>
                  </a:solidFill>
                  <a:latin typeface="Be Vietnam Ultra-Bold"/>
                  <a:ea typeface="Be Vietnam Ultra-Bold"/>
                  <a:cs typeface="Be Vietnam Ultra-Bold"/>
                  <a:sym typeface="Be Vietnam Ultra-Bold"/>
                </a:rPr>
                <a:t>     Kết luận</a:t>
              </a:r>
            </a:p>
            <a:p>
              <a:pPr algn="ctr">
                <a:lnSpc>
                  <a:spcPts val="5759"/>
                </a:lnSpc>
              </a:pPr>
              <a:r>
                <a:rPr lang="en-US" b="true" sz="4800">
                  <a:solidFill>
                    <a:srgbClr val="000000"/>
                  </a:solidFill>
                  <a:latin typeface="Be Vietnam Ultra-Bold"/>
                  <a:ea typeface="Be Vietnam Ultra-Bold"/>
                  <a:cs typeface="Be Vietnam Ultra-Bold"/>
                  <a:sym typeface="Be Vietnam Ultra-Bold"/>
                </a:rPr>
                <a:t>       và hướng phát triển</a:t>
              </a:r>
            </a:p>
          </p:txBody>
        </p:sp>
      </p:grpSp>
      <p:grpSp>
        <p:nvGrpSpPr>
          <p:cNvPr name="Group 17" id="17"/>
          <p:cNvGrpSpPr/>
          <p:nvPr/>
        </p:nvGrpSpPr>
        <p:grpSpPr>
          <a:xfrm rot="0">
            <a:off x="6571250" y="3476778"/>
            <a:ext cx="4834200" cy="4834200"/>
            <a:chOff x="0" y="0"/>
            <a:chExt cx="6445600" cy="6445600"/>
          </a:xfrm>
        </p:grpSpPr>
        <p:sp>
          <p:nvSpPr>
            <p:cNvPr name="Freeform 18" id="18"/>
            <p:cNvSpPr/>
            <p:nvPr/>
          </p:nvSpPr>
          <p:spPr>
            <a:xfrm flipH="false" flipV="false" rot="0">
              <a:off x="-17" y="0"/>
              <a:ext cx="3222769" cy="3233293"/>
            </a:xfrm>
            <a:custGeom>
              <a:avLst/>
              <a:gdLst/>
              <a:ahLst/>
              <a:cxnLst/>
              <a:rect r="r" b="b" t="t" l="l"/>
              <a:pathLst>
                <a:path h="3233293" w="3222769">
                  <a:moveTo>
                    <a:pt x="17" y="3233293"/>
                  </a:moveTo>
                  <a:cubicBezTo>
                    <a:pt x="-2777" y="2376805"/>
                    <a:pt x="335551" y="1554353"/>
                    <a:pt x="940198" y="947674"/>
                  </a:cubicBezTo>
                  <a:cubicBezTo>
                    <a:pt x="1544845" y="340995"/>
                    <a:pt x="2366281" y="0"/>
                    <a:pt x="3222769" y="0"/>
                  </a:cubicBezTo>
                  <a:lnTo>
                    <a:pt x="3222769" y="3222752"/>
                  </a:lnTo>
                  <a:close/>
                </a:path>
              </a:pathLst>
            </a:custGeom>
            <a:solidFill>
              <a:srgbClr val="00B5DD"/>
            </a:solidFill>
          </p:spPr>
        </p:sp>
      </p:grpSp>
      <p:grpSp>
        <p:nvGrpSpPr>
          <p:cNvPr name="Group 19" id="19"/>
          <p:cNvGrpSpPr/>
          <p:nvPr/>
        </p:nvGrpSpPr>
        <p:grpSpPr>
          <a:xfrm rot="5400000">
            <a:off x="6919758" y="3476778"/>
            <a:ext cx="4834200" cy="4834200"/>
            <a:chOff x="0" y="0"/>
            <a:chExt cx="6445600" cy="6445600"/>
          </a:xfrm>
        </p:grpSpPr>
        <p:sp>
          <p:nvSpPr>
            <p:cNvPr name="Freeform 20" id="20"/>
            <p:cNvSpPr/>
            <p:nvPr/>
          </p:nvSpPr>
          <p:spPr>
            <a:xfrm flipH="false" flipV="false" rot="0">
              <a:off x="-17" y="0"/>
              <a:ext cx="3222769" cy="3233293"/>
            </a:xfrm>
            <a:custGeom>
              <a:avLst/>
              <a:gdLst/>
              <a:ahLst/>
              <a:cxnLst/>
              <a:rect r="r" b="b" t="t" l="l"/>
              <a:pathLst>
                <a:path h="3233293" w="3222769">
                  <a:moveTo>
                    <a:pt x="17" y="3233293"/>
                  </a:moveTo>
                  <a:cubicBezTo>
                    <a:pt x="-2777" y="2376805"/>
                    <a:pt x="335551" y="1554353"/>
                    <a:pt x="940198" y="947674"/>
                  </a:cubicBezTo>
                  <a:cubicBezTo>
                    <a:pt x="1544845" y="340995"/>
                    <a:pt x="2366281" y="0"/>
                    <a:pt x="3222769" y="0"/>
                  </a:cubicBezTo>
                  <a:lnTo>
                    <a:pt x="3222769" y="3222752"/>
                  </a:lnTo>
                  <a:close/>
                </a:path>
              </a:pathLst>
            </a:custGeom>
            <a:solidFill>
              <a:srgbClr val="F9CB07"/>
            </a:solidFill>
          </p:spPr>
        </p:sp>
      </p:grpSp>
      <p:grpSp>
        <p:nvGrpSpPr>
          <p:cNvPr name="Group 21" id="21"/>
          <p:cNvGrpSpPr/>
          <p:nvPr/>
        </p:nvGrpSpPr>
        <p:grpSpPr>
          <a:xfrm rot="-10800000">
            <a:off x="6919758" y="3828012"/>
            <a:ext cx="4834200" cy="4834200"/>
            <a:chOff x="0" y="0"/>
            <a:chExt cx="6445600" cy="6445600"/>
          </a:xfrm>
        </p:grpSpPr>
        <p:sp>
          <p:nvSpPr>
            <p:cNvPr name="Freeform 22" id="22"/>
            <p:cNvSpPr/>
            <p:nvPr/>
          </p:nvSpPr>
          <p:spPr>
            <a:xfrm flipH="false" flipV="false" rot="0">
              <a:off x="-17" y="0"/>
              <a:ext cx="3222769" cy="3233293"/>
            </a:xfrm>
            <a:custGeom>
              <a:avLst/>
              <a:gdLst/>
              <a:ahLst/>
              <a:cxnLst/>
              <a:rect r="r" b="b" t="t" l="l"/>
              <a:pathLst>
                <a:path h="3233293" w="3222769">
                  <a:moveTo>
                    <a:pt x="17" y="3233293"/>
                  </a:moveTo>
                  <a:cubicBezTo>
                    <a:pt x="-2777" y="2376805"/>
                    <a:pt x="335551" y="1554353"/>
                    <a:pt x="940198" y="947674"/>
                  </a:cubicBezTo>
                  <a:cubicBezTo>
                    <a:pt x="1544845" y="340995"/>
                    <a:pt x="2366281" y="0"/>
                    <a:pt x="3222769" y="0"/>
                  </a:cubicBezTo>
                  <a:lnTo>
                    <a:pt x="3222769" y="3222752"/>
                  </a:lnTo>
                  <a:close/>
                </a:path>
              </a:pathLst>
            </a:custGeom>
            <a:solidFill>
              <a:srgbClr val="FF4D4D"/>
            </a:solidFill>
          </p:spPr>
        </p:sp>
      </p:grpSp>
      <p:grpSp>
        <p:nvGrpSpPr>
          <p:cNvPr name="Group 23" id="23"/>
          <p:cNvGrpSpPr/>
          <p:nvPr/>
        </p:nvGrpSpPr>
        <p:grpSpPr>
          <a:xfrm rot="-5400000">
            <a:off x="6571250" y="3828012"/>
            <a:ext cx="4834200" cy="4834200"/>
            <a:chOff x="0" y="0"/>
            <a:chExt cx="6445600" cy="6445600"/>
          </a:xfrm>
        </p:grpSpPr>
        <p:sp>
          <p:nvSpPr>
            <p:cNvPr name="Freeform 24" id="24"/>
            <p:cNvSpPr/>
            <p:nvPr/>
          </p:nvSpPr>
          <p:spPr>
            <a:xfrm flipH="false" flipV="false" rot="0">
              <a:off x="-17" y="0"/>
              <a:ext cx="3222769" cy="3233293"/>
            </a:xfrm>
            <a:custGeom>
              <a:avLst/>
              <a:gdLst/>
              <a:ahLst/>
              <a:cxnLst/>
              <a:rect r="r" b="b" t="t" l="l"/>
              <a:pathLst>
                <a:path h="3233293" w="3222769">
                  <a:moveTo>
                    <a:pt x="17" y="3233293"/>
                  </a:moveTo>
                  <a:cubicBezTo>
                    <a:pt x="-2777" y="2376805"/>
                    <a:pt x="335551" y="1554353"/>
                    <a:pt x="940198" y="947674"/>
                  </a:cubicBezTo>
                  <a:cubicBezTo>
                    <a:pt x="1544845" y="340995"/>
                    <a:pt x="2366281" y="0"/>
                    <a:pt x="3222769" y="0"/>
                  </a:cubicBezTo>
                  <a:lnTo>
                    <a:pt x="3222769" y="3222752"/>
                  </a:lnTo>
                  <a:close/>
                </a:path>
              </a:pathLst>
            </a:custGeom>
            <a:solidFill>
              <a:srgbClr val="8C50FF"/>
            </a:solidFill>
          </p:spPr>
        </p:sp>
      </p:grpSp>
      <p:sp>
        <p:nvSpPr>
          <p:cNvPr name="TextBox 25" id="25"/>
          <p:cNvSpPr txBox="true"/>
          <p:nvPr/>
        </p:nvSpPr>
        <p:spPr>
          <a:xfrm rot="0">
            <a:off x="7775640" y="4464199"/>
            <a:ext cx="510082" cy="981075"/>
          </a:xfrm>
          <a:prstGeom prst="rect">
            <a:avLst/>
          </a:prstGeom>
        </p:spPr>
        <p:txBody>
          <a:bodyPr anchor="t" rtlCol="false" tIns="0" lIns="0" bIns="0" rIns="0">
            <a:spAutoFit/>
          </a:bodyPr>
          <a:lstStyle/>
          <a:p>
            <a:pPr algn="ctr">
              <a:lnSpc>
                <a:spcPts val="7200"/>
              </a:lnSpc>
            </a:pPr>
            <a:r>
              <a:rPr lang="en-US" sz="6000" b="true">
                <a:solidFill>
                  <a:srgbClr val="FFFFFF"/>
                </a:solidFill>
                <a:latin typeface="Poppins Ultra-Bold"/>
                <a:ea typeface="Poppins Ultra-Bold"/>
                <a:cs typeface="Poppins Ultra-Bold"/>
                <a:sym typeface="Poppins Ultra-Bold"/>
              </a:rPr>
              <a:t>1</a:t>
            </a:r>
          </a:p>
        </p:txBody>
      </p:sp>
      <p:sp>
        <p:nvSpPr>
          <p:cNvPr name="TextBox 26" id="26"/>
          <p:cNvSpPr txBox="true"/>
          <p:nvPr/>
        </p:nvSpPr>
        <p:spPr>
          <a:xfrm rot="0">
            <a:off x="10035396" y="4479639"/>
            <a:ext cx="547138" cy="981075"/>
          </a:xfrm>
          <a:prstGeom prst="rect">
            <a:avLst/>
          </a:prstGeom>
        </p:spPr>
        <p:txBody>
          <a:bodyPr anchor="t" rtlCol="false" tIns="0" lIns="0" bIns="0" rIns="0">
            <a:spAutoFit/>
          </a:bodyPr>
          <a:lstStyle/>
          <a:p>
            <a:pPr algn="ctr">
              <a:lnSpc>
                <a:spcPts val="7200"/>
              </a:lnSpc>
            </a:pPr>
            <a:r>
              <a:rPr lang="en-US" sz="6000" b="true">
                <a:solidFill>
                  <a:srgbClr val="FFFFFF"/>
                </a:solidFill>
                <a:latin typeface="Poppins Bold"/>
                <a:ea typeface="Poppins Bold"/>
                <a:cs typeface="Poppins Bold"/>
                <a:sym typeface="Poppins Bold"/>
              </a:rPr>
              <a:t>2</a:t>
            </a:r>
          </a:p>
        </p:txBody>
      </p:sp>
      <p:sp>
        <p:nvSpPr>
          <p:cNvPr name="TextBox 27" id="27"/>
          <p:cNvSpPr txBox="true"/>
          <p:nvPr/>
        </p:nvSpPr>
        <p:spPr>
          <a:xfrm rot="0">
            <a:off x="7775640" y="6676949"/>
            <a:ext cx="510084" cy="981075"/>
          </a:xfrm>
          <a:prstGeom prst="rect">
            <a:avLst/>
          </a:prstGeom>
        </p:spPr>
        <p:txBody>
          <a:bodyPr anchor="t" rtlCol="false" tIns="0" lIns="0" bIns="0" rIns="0">
            <a:spAutoFit/>
          </a:bodyPr>
          <a:lstStyle/>
          <a:p>
            <a:pPr algn="ctr">
              <a:lnSpc>
                <a:spcPts val="7200"/>
              </a:lnSpc>
            </a:pPr>
            <a:r>
              <a:rPr lang="en-US" sz="6000" b="true">
                <a:solidFill>
                  <a:srgbClr val="FFFFFF"/>
                </a:solidFill>
                <a:latin typeface="Poppins Bold"/>
                <a:ea typeface="Poppins Bold"/>
                <a:cs typeface="Poppins Bold"/>
                <a:sym typeface="Poppins Bold"/>
              </a:rPr>
              <a:t>3</a:t>
            </a:r>
          </a:p>
        </p:txBody>
      </p:sp>
      <p:sp>
        <p:nvSpPr>
          <p:cNvPr name="TextBox 28" id="28"/>
          <p:cNvSpPr txBox="true"/>
          <p:nvPr/>
        </p:nvSpPr>
        <p:spPr>
          <a:xfrm rot="0">
            <a:off x="10035398" y="6692389"/>
            <a:ext cx="547138" cy="981075"/>
          </a:xfrm>
          <a:prstGeom prst="rect">
            <a:avLst/>
          </a:prstGeom>
        </p:spPr>
        <p:txBody>
          <a:bodyPr anchor="t" rtlCol="false" tIns="0" lIns="0" bIns="0" rIns="0">
            <a:spAutoFit/>
          </a:bodyPr>
          <a:lstStyle/>
          <a:p>
            <a:pPr algn="ctr">
              <a:lnSpc>
                <a:spcPts val="7200"/>
              </a:lnSpc>
            </a:pPr>
            <a:r>
              <a:rPr lang="en-US" sz="6000" b="true">
                <a:solidFill>
                  <a:srgbClr val="FFFFFF"/>
                </a:solidFill>
                <a:latin typeface="Poppins Bold"/>
                <a:ea typeface="Poppins Bold"/>
                <a:cs typeface="Poppins Bold"/>
                <a:sym typeface="Poppins Bold"/>
              </a:rPr>
              <a:t>4</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5400000">
            <a:off x="-606750" y="4333810"/>
            <a:ext cx="2832600" cy="1619400"/>
            <a:chOff x="0" y="0"/>
            <a:chExt cx="3776800" cy="2159200"/>
          </a:xfrm>
        </p:grpSpPr>
        <p:sp>
          <p:nvSpPr>
            <p:cNvPr name="Freeform 3" id="3"/>
            <p:cNvSpPr/>
            <p:nvPr/>
          </p:nvSpPr>
          <p:spPr>
            <a:xfrm flipH="false" flipV="false" rot="0">
              <a:off x="0" y="0"/>
              <a:ext cx="3776853" cy="2159254"/>
            </a:xfrm>
            <a:custGeom>
              <a:avLst/>
              <a:gdLst/>
              <a:ahLst/>
              <a:cxnLst/>
              <a:rect r="r" b="b" t="t" l="l"/>
              <a:pathLst>
                <a:path h="2159254" w="3776853">
                  <a:moveTo>
                    <a:pt x="0" y="2159254"/>
                  </a:moveTo>
                  <a:lnTo>
                    <a:pt x="1888363" y="0"/>
                  </a:lnTo>
                  <a:lnTo>
                    <a:pt x="3776853" y="2159254"/>
                  </a:lnTo>
                  <a:close/>
                </a:path>
              </a:pathLst>
            </a:custGeom>
            <a:solidFill>
              <a:srgbClr val="00B5DD"/>
            </a:solidFill>
          </p:spPr>
        </p:sp>
      </p:grpSp>
      <p:sp>
        <p:nvSpPr>
          <p:cNvPr name="Freeform 4" id="4"/>
          <p:cNvSpPr/>
          <p:nvPr/>
        </p:nvSpPr>
        <p:spPr>
          <a:xfrm flipH="false" flipV="false" rot="0">
            <a:off x="8028533" y="828602"/>
            <a:ext cx="7976550" cy="8396369"/>
          </a:xfrm>
          <a:custGeom>
            <a:avLst/>
            <a:gdLst/>
            <a:ahLst/>
            <a:cxnLst/>
            <a:rect r="r" b="b" t="t" l="l"/>
            <a:pathLst>
              <a:path h="8396369" w="7976550">
                <a:moveTo>
                  <a:pt x="0" y="0"/>
                </a:moveTo>
                <a:lnTo>
                  <a:pt x="7976550" y="0"/>
                </a:lnTo>
                <a:lnTo>
                  <a:pt x="7976550" y="8396369"/>
                </a:lnTo>
                <a:lnTo>
                  <a:pt x="0" y="83963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878623" y="3556762"/>
            <a:ext cx="6624839" cy="2787649"/>
          </a:xfrm>
          <a:prstGeom prst="rect">
            <a:avLst/>
          </a:prstGeom>
        </p:spPr>
        <p:txBody>
          <a:bodyPr anchor="t" rtlCol="false" tIns="0" lIns="0" bIns="0" rIns="0">
            <a:spAutoFit/>
          </a:bodyPr>
          <a:lstStyle/>
          <a:p>
            <a:pPr algn="l">
              <a:lnSpc>
                <a:spcPts val="11200"/>
              </a:lnSpc>
            </a:pPr>
            <a:r>
              <a:rPr lang="en-US" sz="8000" b="true">
                <a:solidFill>
                  <a:srgbClr val="007BB9"/>
                </a:solidFill>
                <a:latin typeface="Be Vietnam Ultra-Bold"/>
                <a:ea typeface="Be Vietnam Ultra-Bold"/>
                <a:cs typeface="Be Vietnam Ultra-Bold"/>
                <a:sym typeface="Be Vietnam Ultra-Bold"/>
              </a:rPr>
              <a:t>GIỚI THIỆU</a:t>
            </a:r>
          </a:p>
          <a:p>
            <a:pPr algn="l">
              <a:lnSpc>
                <a:spcPts val="11200"/>
              </a:lnSpc>
            </a:pPr>
            <a:r>
              <a:rPr lang="en-US" b="true" sz="8000">
                <a:solidFill>
                  <a:srgbClr val="007BB9"/>
                </a:solidFill>
                <a:latin typeface="Be Vietnam Ultra-Bold"/>
                <a:ea typeface="Be Vietnam Ultra-Bold"/>
                <a:cs typeface="Be Vietnam Ultra-Bold"/>
                <a:sym typeface="Be Vietnam Ultra-Bold"/>
              </a:rPr>
              <a:t>ĐỀ TÀI</a:t>
            </a:r>
          </a:p>
        </p:txBody>
      </p:sp>
      <p:sp>
        <p:nvSpPr>
          <p:cNvPr name="TextBox 6" id="6"/>
          <p:cNvSpPr txBox="true"/>
          <p:nvPr/>
        </p:nvSpPr>
        <p:spPr>
          <a:xfrm rot="0">
            <a:off x="-7650" y="4442777"/>
            <a:ext cx="1036350" cy="2658750"/>
          </a:xfrm>
          <a:prstGeom prst="rect">
            <a:avLst/>
          </a:prstGeom>
        </p:spPr>
        <p:txBody>
          <a:bodyPr anchor="t" rtlCol="false" tIns="0" lIns="0" bIns="0" rIns="0">
            <a:spAutoFit/>
          </a:bodyPr>
          <a:lstStyle/>
          <a:p>
            <a:pPr algn="ctr">
              <a:lnSpc>
                <a:spcPts val="8640"/>
              </a:lnSpc>
            </a:pPr>
            <a:r>
              <a:rPr lang="en-US" b="true" sz="7200">
                <a:solidFill>
                  <a:srgbClr val="FFFFFF"/>
                </a:solidFill>
                <a:latin typeface="Barlow Bold"/>
                <a:ea typeface="Barlow Bold"/>
                <a:cs typeface="Barlow Bold"/>
                <a:sym typeface="Barlow Bold"/>
              </a:rPr>
              <a:t>1</a:t>
            </a:r>
          </a:p>
        </p:txBody>
      </p:sp>
      <p:sp>
        <p:nvSpPr>
          <p:cNvPr name="TextBox 7" id="7"/>
          <p:cNvSpPr txBox="true"/>
          <p:nvPr/>
        </p:nvSpPr>
        <p:spPr>
          <a:xfrm rot="0">
            <a:off x="17075385" y="9726651"/>
            <a:ext cx="913800" cy="895350"/>
          </a:xfrm>
          <a:prstGeom prst="rect">
            <a:avLst/>
          </a:prstGeom>
        </p:spPr>
        <p:txBody>
          <a:bodyPr anchor="t" rtlCol="false" tIns="0" lIns="0" bIns="0" rIns="0">
            <a:spAutoFit/>
          </a:bodyPr>
          <a:lstStyle/>
          <a:p>
            <a:pPr algn="r">
              <a:lnSpc>
                <a:spcPts val="3359"/>
              </a:lnSpc>
            </a:pPr>
            <a:r>
              <a:rPr lang="en-US" sz="2799">
                <a:solidFill>
                  <a:srgbClr val="0088A6"/>
                </a:solidFill>
                <a:latin typeface="Arial MT Pro"/>
                <a:ea typeface="Arial MT Pro"/>
                <a:cs typeface="Arial MT Pro"/>
                <a:sym typeface="Arial MT Pro"/>
              </a:rPr>
              <a:t>3</a:t>
            </a:r>
          </a:p>
          <a:p>
            <a:pPr algn="r">
              <a:lnSpc>
                <a:spcPts val="3359"/>
              </a:lnSpc>
            </a:pP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0">
            <a:off x="17373600" y="9349700"/>
            <a:ext cx="937200" cy="937200"/>
            <a:chOff x="0" y="0"/>
            <a:chExt cx="1249600" cy="1249600"/>
          </a:xfrm>
        </p:grpSpPr>
        <p:sp>
          <p:nvSpPr>
            <p:cNvPr name="Freeform 3" id="3"/>
            <p:cNvSpPr/>
            <p:nvPr/>
          </p:nvSpPr>
          <p:spPr>
            <a:xfrm flipH="false" flipV="false" rot="0">
              <a:off x="0" y="0"/>
              <a:ext cx="1249553" cy="1249553"/>
            </a:xfrm>
            <a:custGeom>
              <a:avLst/>
              <a:gdLst/>
              <a:ahLst/>
              <a:cxnLst/>
              <a:rect r="r" b="b" t="t" l="l"/>
              <a:pathLst>
                <a:path h="1249553" w="1249553">
                  <a:moveTo>
                    <a:pt x="1249553" y="1249553"/>
                  </a:moveTo>
                  <a:lnTo>
                    <a:pt x="1249553" y="0"/>
                  </a:lnTo>
                  <a:lnTo>
                    <a:pt x="0" y="1249553"/>
                  </a:lnTo>
                  <a:close/>
                </a:path>
              </a:pathLst>
            </a:custGeom>
            <a:solidFill>
              <a:srgbClr val="00B5DD"/>
            </a:solidFill>
          </p:spPr>
        </p:sp>
      </p:grpSp>
      <p:grpSp>
        <p:nvGrpSpPr>
          <p:cNvPr name="Group 4" id="4"/>
          <p:cNvGrpSpPr/>
          <p:nvPr/>
        </p:nvGrpSpPr>
        <p:grpSpPr>
          <a:xfrm rot="5400000">
            <a:off x="-200700" y="1448970"/>
            <a:ext cx="937200" cy="535800"/>
            <a:chOff x="0" y="0"/>
            <a:chExt cx="1249600" cy="714400"/>
          </a:xfrm>
        </p:grpSpPr>
        <p:sp>
          <p:nvSpPr>
            <p:cNvPr name="Freeform 5" id="5"/>
            <p:cNvSpPr/>
            <p:nvPr/>
          </p:nvSpPr>
          <p:spPr>
            <a:xfrm flipH="false" flipV="false" rot="0">
              <a:off x="0" y="0"/>
              <a:ext cx="1249680" cy="714375"/>
            </a:xfrm>
            <a:custGeom>
              <a:avLst/>
              <a:gdLst/>
              <a:ahLst/>
              <a:cxnLst/>
              <a:rect r="r" b="b" t="t" l="l"/>
              <a:pathLst>
                <a:path h="714375" w="1249680">
                  <a:moveTo>
                    <a:pt x="0" y="714375"/>
                  </a:moveTo>
                  <a:lnTo>
                    <a:pt x="624840" y="0"/>
                  </a:lnTo>
                  <a:lnTo>
                    <a:pt x="1249680" y="714375"/>
                  </a:lnTo>
                  <a:close/>
                </a:path>
              </a:pathLst>
            </a:custGeom>
            <a:solidFill>
              <a:srgbClr val="00B5DD"/>
            </a:solidFill>
          </p:spPr>
        </p:sp>
      </p:grpSp>
      <p:sp>
        <p:nvSpPr>
          <p:cNvPr name="Freeform 6" id="6"/>
          <p:cNvSpPr/>
          <p:nvPr/>
        </p:nvSpPr>
        <p:spPr>
          <a:xfrm flipH="false" flipV="false" rot="1934341">
            <a:off x="12069614" y="1017440"/>
            <a:ext cx="4966377" cy="3985517"/>
          </a:xfrm>
          <a:custGeom>
            <a:avLst/>
            <a:gdLst/>
            <a:ahLst/>
            <a:cxnLst/>
            <a:rect r="r" b="b" t="t" l="l"/>
            <a:pathLst>
              <a:path h="3985517" w="4966377">
                <a:moveTo>
                  <a:pt x="0" y="0"/>
                </a:moveTo>
                <a:lnTo>
                  <a:pt x="4966377" y="0"/>
                </a:lnTo>
                <a:lnTo>
                  <a:pt x="4966377" y="3985517"/>
                </a:lnTo>
                <a:lnTo>
                  <a:pt x="0" y="39855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181598" y="1181100"/>
            <a:ext cx="8827422" cy="908685"/>
          </a:xfrm>
          <a:prstGeom prst="rect">
            <a:avLst/>
          </a:prstGeom>
        </p:spPr>
        <p:txBody>
          <a:bodyPr anchor="t" rtlCol="false" tIns="0" lIns="0" bIns="0" rIns="0">
            <a:spAutoFit/>
          </a:bodyPr>
          <a:lstStyle/>
          <a:p>
            <a:pPr algn="l">
              <a:lnSpc>
                <a:spcPts val="6719"/>
              </a:lnSpc>
            </a:pPr>
            <a:r>
              <a:rPr lang="en-US" b="true" sz="6999">
                <a:solidFill>
                  <a:srgbClr val="007BB9"/>
                </a:solidFill>
                <a:latin typeface="Be Vietnam Medium"/>
                <a:ea typeface="Be Vietnam Medium"/>
                <a:cs typeface="Be Vietnam Medium"/>
                <a:sym typeface="Be Vietnam Medium"/>
              </a:rPr>
              <a:t>1.1 Lí do chọn đề tài</a:t>
            </a:r>
          </a:p>
        </p:txBody>
      </p:sp>
      <p:sp>
        <p:nvSpPr>
          <p:cNvPr name="TextBox 8" id="8"/>
          <p:cNvSpPr txBox="true"/>
          <p:nvPr/>
        </p:nvSpPr>
        <p:spPr>
          <a:xfrm rot="0">
            <a:off x="267900" y="2905423"/>
            <a:ext cx="15293878" cy="5972175"/>
          </a:xfrm>
          <a:prstGeom prst="rect">
            <a:avLst/>
          </a:prstGeom>
        </p:spPr>
        <p:txBody>
          <a:bodyPr anchor="t" rtlCol="false" tIns="0" lIns="0" bIns="0" rIns="0">
            <a:spAutoFit/>
          </a:bodyPr>
          <a:lstStyle/>
          <a:p>
            <a:pPr algn="just" marL="1066356" indent="-533178" lvl="1">
              <a:lnSpc>
                <a:spcPts val="5250"/>
              </a:lnSpc>
              <a:buFont typeface="Arial"/>
              <a:buChar char="•"/>
            </a:pPr>
            <a:r>
              <a:rPr lang="en-US" sz="3500">
                <a:solidFill>
                  <a:srgbClr val="3A3F50"/>
                </a:solidFill>
                <a:latin typeface="Be Vietnam"/>
                <a:ea typeface="Be Vietnam"/>
                <a:cs typeface="Be Vietnam"/>
                <a:sym typeface="Be Vietnam"/>
              </a:rPr>
              <a:t>Sự phát triển của công nghệ và mạng xã hội khiến </a:t>
            </a:r>
          </a:p>
          <a:p>
            <a:pPr algn="just">
              <a:lnSpc>
                <a:spcPts val="5250"/>
              </a:lnSpc>
            </a:pPr>
            <a:r>
              <a:rPr lang="en-US" sz="3500">
                <a:solidFill>
                  <a:srgbClr val="3A3F50"/>
                </a:solidFill>
                <a:latin typeface="Be Vietnam"/>
                <a:ea typeface="Be Vietnam"/>
                <a:cs typeface="Be Vietnam"/>
                <a:sym typeface="Be Vietnam"/>
              </a:rPr>
              <a:t>           </a:t>
            </a:r>
            <a:r>
              <a:rPr lang="en-US" sz="3500">
                <a:solidFill>
                  <a:srgbClr val="3A3F50"/>
                </a:solidFill>
                <a:latin typeface="Be Vietnam"/>
                <a:ea typeface="Be Vietnam"/>
                <a:cs typeface="Be Vietnam"/>
                <a:sym typeface="Be Vietnam"/>
              </a:rPr>
              <a:t>YouTube trở thành nguồn dữ liệu khổng lồ phản ánh </a:t>
            </a:r>
          </a:p>
          <a:p>
            <a:pPr algn="just">
              <a:lnSpc>
                <a:spcPts val="5250"/>
              </a:lnSpc>
            </a:pPr>
            <a:r>
              <a:rPr lang="en-US" sz="3500">
                <a:solidFill>
                  <a:srgbClr val="3A3F50"/>
                </a:solidFill>
                <a:latin typeface="Be Vietnam"/>
                <a:ea typeface="Be Vietnam"/>
                <a:cs typeface="Be Vietnam"/>
                <a:sym typeface="Be Vietnam"/>
              </a:rPr>
              <a:t>           </a:t>
            </a:r>
            <a:r>
              <a:rPr lang="en-US" sz="3500">
                <a:solidFill>
                  <a:srgbClr val="3A3F50"/>
                </a:solidFill>
                <a:latin typeface="Be Vietnam"/>
                <a:ea typeface="Be Vietnam"/>
                <a:cs typeface="Be Vietnam"/>
                <a:sym typeface="Be Vietnam"/>
              </a:rPr>
              <a:t>xu hướng người dùng.</a:t>
            </a:r>
          </a:p>
          <a:p>
            <a:pPr algn="just" marL="1066356" indent="-533178" lvl="1">
              <a:lnSpc>
                <a:spcPts val="5250"/>
              </a:lnSpc>
              <a:buFont typeface="Arial"/>
              <a:buChar char="•"/>
            </a:pPr>
            <a:r>
              <a:rPr lang="en-US" sz="3500">
                <a:solidFill>
                  <a:srgbClr val="3A3F50"/>
                </a:solidFill>
                <a:latin typeface="Be Vietnam"/>
                <a:ea typeface="Be Vietnam"/>
                <a:cs typeface="Be Vietnam"/>
                <a:sym typeface="Be Vietnam"/>
              </a:rPr>
              <a:t>Phân tích dữ liệu YouTube mang lại giá trị cho các lĩnh vực </a:t>
            </a:r>
          </a:p>
          <a:p>
            <a:pPr algn="just">
              <a:lnSpc>
                <a:spcPts val="5250"/>
              </a:lnSpc>
            </a:pPr>
            <a:r>
              <a:rPr lang="en-US" sz="3500">
                <a:solidFill>
                  <a:srgbClr val="00B5DD"/>
                </a:solidFill>
                <a:latin typeface="Be Vietnam"/>
                <a:ea typeface="Be Vietnam"/>
                <a:cs typeface="Be Vietnam"/>
                <a:sym typeface="Be Vietnam"/>
              </a:rPr>
              <a:t>           </a:t>
            </a:r>
            <a:r>
              <a:rPr lang="en-US" sz="3500">
                <a:solidFill>
                  <a:srgbClr val="3A3F50"/>
                </a:solidFill>
                <a:latin typeface="Be Vietnam"/>
                <a:ea typeface="Be Vietnam"/>
                <a:cs typeface="Be Vietnam"/>
                <a:sym typeface="Be Vietnam"/>
              </a:rPr>
              <a:t>như marketing, truyền thông và dự đoán thị hiếu.</a:t>
            </a:r>
          </a:p>
          <a:p>
            <a:pPr algn="just" marL="1066356" indent="-533178" lvl="1">
              <a:lnSpc>
                <a:spcPts val="5250"/>
              </a:lnSpc>
              <a:buFont typeface="Arial"/>
              <a:buChar char="•"/>
            </a:pPr>
            <a:r>
              <a:rPr lang="en-US" sz="3500">
                <a:solidFill>
                  <a:srgbClr val="3A3F50"/>
                </a:solidFill>
                <a:latin typeface="Be Vietnam"/>
                <a:ea typeface="Be Vietnam"/>
                <a:cs typeface="Be Vietnam"/>
                <a:sym typeface="Be Vietnam"/>
              </a:rPr>
              <a:t>Đề tài được chọn nhằm ứng dụng khoa học dữ liệu vào việc xây dựng hệ thống dự đoán xu hướng video thịnh hành.</a:t>
            </a:r>
          </a:p>
          <a:p>
            <a:pPr algn="just">
              <a:lnSpc>
                <a:spcPts val="5250"/>
              </a:lnSpc>
            </a:pPr>
          </a:p>
          <a:p>
            <a:pPr algn="just">
              <a:lnSpc>
                <a:spcPts val="5250"/>
              </a:lnSpc>
            </a:pPr>
          </a:p>
        </p:txBody>
      </p:sp>
      <p:sp>
        <p:nvSpPr>
          <p:cNvPr name="TextBox 9" id="9"/>
          <p:cNvSpPr txBox="true"/>
          <p:nvPr/>
        </p:nvSpPr>
        <p:spPr>
          <a:xfrm rot="0">
            <a:off x="17259300" y="9808775"/>
            <a:ext cx="913800" cy="733425"/>
          </a:xfrm>
          <a:prstGeom prst="rect">
            <a:avLst/>
          </a:prstGeom>
        </p:spPr>
        <p:txBody>
          <a:bodyPr anchor="t" rtlCol="false" tIns="0" lIns="0" bIns="0" rIns="0">
            <a:spAutoFit/>
          </a:bodyPr>
          <a:lstStyle/>
          <a:p>
            <a:pPr algn="r">
              <a:lnSpc>
                <a:spcPts val="2879"/>
              </a:lnSpc>
            </a:pPr>
            <a:r>
              <a:rPr lang="en-US" sz="2400">
                <a:solidFill>
                  <a:srgbClr val="FFFFFF"/>
                </a:solidFill>
                <a:latin typeface="Barlow Light"/>
                <a:ea typeface="Barlow Light"/>
                <a:cs typeface="Barlow Light"/>
                <a:sym typeface="Barlow Light"/>
              </a:rPr>
              <a:t>4</a:t>
            </a:r>
          </a:p>
          <a:p>
            <a:pPr algn="r">
              <a:lnSpc>
                <a:spcPts val="2879"/>
              </a:lnSpc>
            </a:pP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0">
            <a:off x="17373600" y="9349700"/>
            <a:ext cx="937200" cy="937200"/>
            <a:chOff x="0" y="0"/>
            <a:chExt cx="1249600" cy="1249600"/>
          </a:xfrm>
        </p:grpSpPr>
        <p:sp>
          <p:nvSpPr>
            <p:cNvPr name="Freeform 3" id="3"/>
            <p:cNvSpPr/>
            <p:nvPr/>
          </p:nvSpPr>
          <p:spPr>
            <a:xfrm flipH="false" flipV="false" rot="0">
              <a:off x="0" y="0"/>
              <a:ext cx="1249553" cy="1249553"/>
            </a:xfrm>
            <a:custGeom>
              <a:avLst/>
              <a:gdLst/>
              <a:ahLst/>
              <a:cxnLst/>
              <a:rect r="r" b="b" t="t" l="l"/>
              <a:pathLst>
                <a:path h="1249553" w="1249553">
                  <a:moveTo>
                    <a:pt x="1249553" y="1249553"/>
                  </a:moveTo>
                  <a:lnTo>
                    <a:pt x="1249553" y="0"/>
                  </a:lnTo>
                  <a:lnTo>
                    <a:pt x="0" y="1249553"/>
                  </a:lnTo>
                  <a:close/>
                </a:path>
              </a:pathLst>
            </a:custGeom>
            <a:solidFill>
              <a:srgbClr val="00B5DD"/>
            </a:solidFill>
          </p:spPr>
        </p:sp>
      </p:grpSp>
      <p:grpSp>
        <p:nvGrpSpPr>
          <p:cNvPr name="Group 4" id="4"/>
          <p:cNvGrpSpPr/>
          <p:nvPr/>
        </p:nvGrpSpPr>
        <p:grpSpPr>
          <a:xfrm rot="5400000">
            <a:off x="-200700" y="1448970"/>
            <a:ext cx="937200" cy="535800"/>
            <a:chOff x="0" y="0"/>
            <a:chExt cx="1249600" cy="714400"/>
          </a:xfrm>
        </p:grpSpPr>
        <p:sp>
          <p:nvSpPr>
            <p:cNvPr name="Freeform 5" id="5"/>
            <p:cNvSpPr/>
            <p:nvPr/>
          </p:nvSpPr>
          <p:spPr>
            <a:xfrm flipH="false" flipV="false" rot="0">
              <a:off x="0" y="0"/>
              <a:ext cx="1249680" cy="714375"/>
            </a:xfrm>
            <a:custGeom>
              <a:avLst/>
              <a:gdLst/>
              <a:ahLst/>
              <a:cxnLst/>
              <a:rect r="r" b="b" t="t" l="l"/>
              <a:pathLst>
                <a:path h="714375" w="1249680">
                  <a:moveTo>
                    <a:pt x="0" y="714375"/>
                  </a:moveTo>
                  <a:lnTo>
                    <a:pt x="624840" y="0"/>
                  </a:lnTo>
                  <a:lnTo>
                    <a:pt x="1249680" y="714375"/>
                  </a:lnTo>
                  <a:close/>
                </a:path>
              </a:pathLst>
            </a:custGeom>
            <a:solidFill>
              <a:srgbClr val="00B5DD"/>
            </a:solidFill>
          </p:spPr>
        </p:sp>
      </p:grpSp>
      <p:sp>
        <p:nvSpPr>
          <p:cNvPr name="TextBox 6" id="6"/>
          <p:cNvSpPr txBox="true"/>
          <p:nvPr/>
        </p:nvSpPr>
        <p:spPr>
          <a:xfrm rot="0">
            <a:off x="0" y="2434088"/>
            <a:ext cx="11461329" cy="6638925"/>
          </a:xfrm>
          <a:prstGeom prst="rect">
            <a:avLst/>
          </a:prstGeom>
        </p:spPr>
        <p:txBody>
          <a:bodyPr anchor="t" rtlCol="false" tIns="0" lIns="0" bIns="0" rIns="0">
            <a:spAutoFit/>
          </a:bodyPr>
          <a:lstStyle/>
          <a:p>
            <a:pPr algn="just" marL="1066356" indent="-533178" lvl="1">
              <a:lnSpc>
                <a:spcPts val="5250"/>
              </a:lnSpc>
              <a:buFont typeface="Arial"/>
              <a:buChar char="•"/>
            </a:pPr>
            <a:r>
              <a:rPr lang="en-US" sz="3500">
                <a:solidFill>
                  <a:srgbClr val="3A3F50"/>
                </a:solidFill>
                <a:latin typeface="Be Vietnam"/>
                <a:ea typeface="Be Vietnam"/>
                <a:cs typeface="Be Vietnam"/>
                <a:sym typeface="Be Vietnam"/>
              </a:rPr>
              <a:t>Đề tài tập trung nghiên cứu dữ liệu video trong mục “Thịnh hành” trên YouTube.</a:t>
            </a:r>
          </a:p>
          <a:p>
            <a:pPr algn="just" marL="1066356" indent="-533178" lvl="1">
              <a:lnSpc>
                <a:spcPts val="5250"/>
              </a:lnSpc>
              <a:buFont typeface="Arial"/>
              <a:buChar char="•"/>
            </a:pPr>
            <a:r>
              <a:rPr lang="en-US" sz="3500">
                <a:solidFill>
                  <a:srgbClr val="3A3F50"/>
                </a:solidFill>
                <a:latin typeface="Be Vietnam"/>
                <a:ea typeface="Be Vietnam"/>
                <a:cs typeface="Be Vietnam"/>
                <a:sym typeface="Be Vietnam"/>
              </a:rPr>
              <a:t>Các yếu tố được phân tích gồm lượt xem, thích, bình luận, từ khóa và thông tin kênh.</a:t>
            </a:r>
          </a:p>
          <a:p>
            <a:pPr algn="just" marL="1066356" indent="-533178" lvl="1">
              <a:lnSpc>
                <a:spcPts val="5250"/>
              </a:lnSpc>
              <a:buFont typeface="Arial"/>
              <a:buChar char="•"/>
            </a:pPr>
            <a:r>
              <a:rPr lang="en-US" sz="3500">
                <a:solidFill>
                  <a:srgbClr val="3A3F50"/>
                </a:solidFill>
                <a:latin typeface="Be Vietnam"/>
                <a:ea typeface="Be Vietnam"/>
                <a:cs typeface="Be Vietnam"/>
                <a:sym typeface="Be Vietnam"/>
              </a:rPr>
              <a:t>Ng</a:t>
            </a:r>
            <a:r>
              <a:rPr lang="en-US" sz="3500">
                <a:solidFill>
                  <a:srgbClr val="3A3F50"/>
                </a:solidFill>
                <a:latin typeface="Be Vietnam"/>
                <a:ea typeface="Be Vietnam"/>
                <a:cs typeface="Be Vietnam"/>
                <a:sym typeface="Be Vietnam"/>
              </a:rPr>
              <a:t>oài ra, nghiên cứu áp dụng mô hình machine learning và công cụ xử lý dữ liệu để dự đoán xu hướng.</a:t>
            </a:r>
          </a:p>
          <a:p>
            <a:pPr algn="just">
              <a:lnSpc>
                <a:spcPts val="5250"/>
              </a:lnSpc>
            </a:pPr>
          </a:p>
          <a:p>
            <a:pPr algn="just">
              <a:lnSpc>
                <a:spcPts val="5250"/>
              </a:lnSpc>
            </a:pPr>
          </a:p>
          <a:p>
            <a:pPr algn="just">
              <a:lnSpc>
                <a:spcPts val="5250"/>
              </a:lnSpc>
            </a:pPr>
          </a:p>
        </p:txBody>
      </p:sp>
      <p:sp>
        <p:nvSpPr>
          <p:cNvPr name="Freeform 7" id="7"/>
          <p:cNvSpPr/>
          <p:nvPr/>
        </p:nvSpPr>
        <p:spPr>
          <a:xfrm flipH="false" flipV="false" rot="0">
            <a:off x="12020428" y="2397040"/>
            <a:ext cx="5238872" cy="5492919"/>
          </a:xfrm>
          <a:custGeom>
            <a:avLst/>
            <a:gdLst/>
            <a:ahLst/>
            <a:cxnLst/>
            <a:rect r="r" b="b" t="t" l="l"/>
            <a:pathLst>
              <a:path h="5492919" w="5238872">
                <a:moveTo>
                  <a:pt x="0" y="0"/>
                </a:moveTo>
                <a:lnTo>
                  <a:pt x="5238872" y="0"/>
                </a:lnTo>
                <a:lnTo>
                  <a:pt x="5238872" y="5492920"/>
                </a:lnTo>
                <a:lnTo>
                  <a:pt x="0" y="5492920"/>
                </a:lnTo>
                <a:lnTo>
                  <a:pt x="0" y="0"/>
                </a:lnTo>
                <a:close/>
              </a:path>
            </a:pathLst>
          </a:custGeom>
          <a:blipFill>
            <a:blip r:embed="rId3"/>
            <a:stretch>
              <a:fillRect l="0" t="0" r="0" b="0"/>
            </a:stretch>
          </a:blipFill>
        </p:spPr>
      </p:sp>
      <p:sp>
        <p:nvSpPr>
          <p:cNvPr name="TextBox 8" id="8"/>
          <p:cNvSpPr txBox="true"/>
          <p:nvPr/>
        </p:nvSpPr>
        <p:spPr>
          <a:xfrm rot="0">
            <a:off x="1181598" y="1181100"/>
            <a:ext cx="12227521" cy="908739"/>
          </a:xfrm>
          <a:prstGeom prst="rect">
            <a:avLst/>
          </a:prstGeom>
        </p:spPr>
        <p:txBody>
          <a:bodyPr anchor="t" rtlCol="false" tIns="0" lIns="0" bIns="0" rIns="0">
            <a:spAutoFit/>
          </a:bodyPr>
          <a:lstStyle/>
          <a:p>
            <a:pPr algn="l">
              <a:lnSpc>
                <a:spcPts val="6719"/>
              </a:lnSpc>
            </a:pPr>
            <a:r>
              <a:rPr lang="en-US" b="true" sz="6999">
                <a:solidFill>
                  <a:srgbClr val="007BB9"/>
                </a:solidFill>
                <a:latin typeface="Be Vietnam Medium"/>
                <a:ea typeface="Be Vietnam Medium"/>
                <a:cs typeface="Be Vietnam Medium"/>
                <a:sym typeface="Be Vietnam Medium"/>
              </a:rPr>
              <a:t>1.2 Đối tượng nghiên cứu</a:t>
            </a:r>
          </a:p>
        </p:txBody>
      </p:sp>
      <p:sp>
        <p:nvSpPr>
          <p:cNvPr name="TextBox 9" id="9"/>
          <p:cNvSpPr txBox="true"/>
          <p:nvPr/>
        </p:nvSpPr>
        <p:spPr>
          <a:xfrm rot="0">
            <a:off x="17259300" y="9808775"/>
            <a:ext cx="913800" cy="371508"/>
          </a:xfrm>
          <a:prstGeom prst="rect">
            <a:avLst/>
          </a:prstGeom>
        </p:spPr>
        <p:txBody>
          <a:bodyPr anchor="t" rtlCol="false" tIns="0" lIns="0" bIns="0" rIns="0">
            <a:spAutoFit/>
          </a:bodyPr>
          <a:lstStyle/>
          <a:p>
            <a:pPr algn="r">
              <a:lnSpc>
                <a:spcPts val="2879"/>
              </a:lnSpc>
            </a:pPr>
            <a:r>
              <a:rPr lang="en-US" sz="2400">
                <a:solidFill>
                  <a:srgbClr val="FFFFFF"/>
                </a:solidFill>
                <a:latin typeface="Barlow"/>
                <a:ea typeface="Barlow"/>
                <a:cs typeface="Barlow"/>
                <a:sym typeface="Barlow"/>
              </a:rPr>
              <a:t>5</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0">
            <a:off x="17373600" y="9349700"/>
            <a:ext cx="937200" cy="937200"/>
            <a:chOff x="0" y="0"/>
            <a:chExt cx="1249600" cy="1249600"/>
          </a:xfrm>
        </p:grpSpPr>
        <p:sp>
          <p:nvSpPr>
            <p:cNvPr name="Freeform 3" id="3"/>
            <p:cNvSpPr/>
            <p:nvPr/>
          </p:nvSpPr>
          <p:spPr>
            <a:xfrm flipH="false" flipV="false" rot="0">
              <a:off x="0" y="0"/>
              <a:ext cx="1249553" cy="1249553"/>
            </a:xfrm>
            <a:custGeom>
              <a:avLst/>
              <a:gdLst/>
              <a:ahLst/>
              <a:cxnLst/>
              <a:rect r="r" b="b" t="t" l="l"/>
              <a:pathLst>
                <a:path h="1249553" w="1249553">
                  <a:moveTo>
                    <a:pt x="1249553" y="1249553"/>
                  </a:moveTo>
                  <a:lnTo>
                    <a:pt x="1249553" y="0"/>
                  </a:lnTo>
                  <a:lnTo>
                    <a:pt x="0" y="1249553"/>
                  </a:lnTo>
                  <a:close/>
                </a:path>
              </a:pathLst>
            </a:custGeom>
            <a:solidFill>
              <a:srgbClr val="00B5DD"/>
            </a:solidFill>
          </p:spPr>
        </p:sp>
      </p:grpSp>
      <p:grpSp>
        <p:nvGrpSpPr>
          <p:cNvPr name="Group 4" id="4"/>
          <p:cNvGrpSpPr/>
          <p:nvPr/>
        </p:nvGrpSpPr>
        <p:grpSpPr>
          <a:xfrm rot="5400000">
            <a:off x="-200700" y="1448970"/>
            <a:ext cx="937200" cy="535800"/>
            <a:chOff x="0" y="0"/>
            <a:chExt cx="1249600" cy="714400"/>
          </a:xfrm>
        </p:grpSpPr>
        <p:sp>
          <p:nvSpPr>
            <p:cNvPr name="Freeform 5" id="5"/>
            <p:cNvSpPr/>
            <p:nvPr/>
          </p:nvSpPr>
          <p:spPr>
            <a:xfrm flipH="false" flipV="false" rot="0">
              <a:off x="0" y="0"/>
              <a:ext cx="1249680" cy="714375"/>
            </a:xfrm>
            <a:custGeom>
              <a:avLst/>
              <a:gdLst/>
              <a:ahLst/>
              <a:cxnLst/>
              <a:rect r="r" b="b" t="t" l="l"/>
              <a:pathLst>
                <a:path h="714375" w="1249680">
                  <a:moveTo>
                    <a:pt x="0" y="714375"/>
                  </a:moveTo>
                  <a:lnTo>
                    <a:pt x="624840" y="0"/>
                  </a:lnTo>
                  <a:lnTo>
                    <a:pt x="1249680" y="714375"/>
                  </a:lnTo>
                  <a:close/>
                </a:path>
              </a:pathLst>
            </a:custGeom>
            <a:solidFill>
              <a:srgbClr val="00B5DD"/>
            </a:solidFill>
          </p:spPr>
        </p:sp>
      </p:grpSp>
      <p:sp>
        <p:nvSpPr>
          <p:cNvPr name="TextBox 6" id="6"/>
          <p:cNvSpPr txBox="true"/>
          <p:nvPr/>
        </p:nvSpPr>
        <p:spPr>
          <a:xfrm rot="0">
            <a:off x="813699" y="1181100"/>
            <a:ext cx="16660602" cy="908739"/>
          </a:xfrm>
          <a:prstGeom prst="rect">
            <a:avLst/>
          </a:prstGeom>
        </p:spPr>
        <p:txBody>
          <a:bodyPr anchor="t" rtlCol="false" tIns="0" lIns="0" bIns="0" rIns="0">
            <a:spAutoFit/>
          </a:bodyPr>
          <a:lstStyle/>
          <a:p>
            <a:pPr algn="l">
              <a:lnSpc>
                <a:spcPts val="6719"/>
              </a:lnSpc>
            </a:pPr>
            <a:r>
              <a:rPr lang="en-US" b="true" sz="6999">
                <a:solidFill>
                  <a:srgbClr val="007BB9"/>
                </a:solidFill>
                <a:latin typeface="Be Vietnam Medium"/>
                <a:ea typeface="Be Vietnam Medium"/>
                <a:cs typeface="Be Vietnam Medium"/>
                <a:sym typeface="Be Vietnam Medium"/>
              </a:rPr>
              <a:t>1.3 Mục tiêu nghiên cứu</a:t>
            </a:r>
          </a:p>
        </p:txBody>
      </p:sp>
      <p:sp>
        <p:nvSpPr>
          <p:cNvPr name="TextBox 7" id="7"/>
          <p:cNvSpPr txBox="true"/>
          <p:nvPr/>
        </p:nvSpPr>
        <p:spPr>
          <a:xfrm rot="0">
            <a:off x="6024402" y="2325003"/>
            <a:ext cx="10886307" cy="6121103"/>
          </a:xfrm>
          <a:prstGeom prst="rect">
            <a:avLst/>
          </a:prstGeom>
        </p:spPr>
        <p:txBody>
          <a:bodyPr anchor="t" rtlCol="false" tIns="0" lIns="0" bIns="0" rIns="0">
            <a:spAutoFit/>
          </a:bodyPr>
          <a:lstStyle/>
          <a:p>
            <a:pPr algn="just" marL="974954" indent="-487477" lvl="1">
              <a:lnSpc>
                <a:spcPts val="5440"/>
              </a:lnSpc>
              <a:buFont typeface="Arial"/>
              <a:buChar char="•"/>
            </a:pPr>
            <a:r>
              <a:rPr lang="en-US" sz="3200">
                <a:solidFill>
                  <a:srgbClr val="3A3F50"/>
                </a:solidFill>
                <a:latin typeface="Be Vietnam"/>
                <a:ea typeface="Be Vietnam"/>
                <a:cs typeface="Be Vietnam"/>
                <a:sym typeface="Be Vietnam"/>
              </a:rPr>
              <a:t>Xây dựng hệ thống thu thập, phân tích và dự đoán xu hướng video thịnh hành trên YouTube.</a:t>
            </a:r>
          </a:p>
          <a:p>
            <a:pPr algn="just" marL="974954" indent="-487477" lvl="1">
              <a:lnSpc>
                <a:spcPts val="5440"/>
              </a:lnSpc>
              <a:buFont typeface="Arial"/>
              <a:buChar char="•"/>
            </a:pPr>
            <a:r>
              <a:rPr lang="en-US" sz="3200">
                <a:solidFill>
                  <a:srgbClr val="3A3F50"/>
                </a:solidFill>
                <a:latin typeface="Be Vietnam"/>
                <a:ea typeface="Be Vietnam"/>
                <a:cs typeface="Be Vietnam"/>
                <a:sym typeface="Be Vietnam"/>
              </a:rPr>
              <a:t>Thu thập </a:t>
            </a:r>
            <a:r>
              <a:rPr lang="en-US" sz="3200">
                <a:solidFill>
                  <a:srgbClr val="3A3F50"/>
                </a:solidFill>
                <a:latin typeface="Be Vietnam"/>
                <a:ea typeface="Be Vietnam"/>
                <a:cs typeface="Be Vietnam"/>
                <a:sym typeface="Be Vietnam"/>
              </a:rPr>
              <a:t>và làm sạch dữ liệu, áp dụ</a:t>
            </a:r>
            <a:r>
              <a:rPr lang="en-US" sz="3200">
                <a:solidFill>
                  <a:srgbClr val="3A3F50"/>
                </a:solidFill>
                <a:latin typeface="Be Vietnam"/>
                <a:ea typeface="Be Vietnam"/>
                <a:cs typeface="Be Vietnam"/>
                <a:sym typeface="Be Vietnam"/>
              </a:rPr>
              <a:t>ng machine learning để tìm yếu tố ảnh hưởng đến độ phổ biến của các video trên Youtube.</a:t>
            </a:r>
          </a:p>
          <a:p>
            <a:pPr algn="just" marL="974954" indent="-487477" lvl="1">
              <a:lnSpc>
                <a:spcPts val="5440"/>
              </a:lnSpc>
              <a:buFont typeface="Arial"/>
              <a:buChar char="•"/>
            </a:pPr>
            <a:r>
              <a:rPr lang="en-US" sz="3200">
                <a:solidFill>
                  <a:srgbClr val="3A3F50"/>
                </a:solidFill>
                <a:latin typeface="Be Vietnam"/>
                <a:ea typeface="Be Vietnam"/>
                <a:cs typeface="Be Vietnam"/>
                <a:sym typeface="Be Vietnam"/>
              </a:rPr>
              <a:t>Phát triển giao diện web trực quan giúp người dùng dễ dàng theo dõi và khai thác dữ liệu phân tích.</a:t>
            </a:r>
          </a:p>
          <a:p>
            <a:pPr algn="just">
              <a:lnSpc>
                <a:spcPts val="5440"/>
              </a:lnSpc>
            </a:pPr>
          </a:p>
          <a:p>
            <a:pPr algn="just">
              <a:lnSpc>
                <a:spcPts val="5440"/>
              </a:lnSpc>
            </a:pPr>
          </a:p>
        </p:txBody>
      </p:sp>
      <p:sp>
        <p:nvSpPr>
          <p:cNvPr name="TextBox 8" id="8"/>
          <p:cNvSpPr txBox="true"/>
          <p:nvPr/>
        </p:nvSpPr>
        <p:spPr>
          <a:xfrm rot="0">
            <a:off x="17842101" y="9808841"/>
            <a:ext cx="181074" cy="428559"/>
          </a:xfrm>
          <a:prstGeom prst="rect">
            <a:avLst/>
          </a:prstGeom>
        </p:spPr>
        <p:txBody>
          <a:bodyPr anchor="t" rtlCol="false" tIns="0" lIns="0" bIns="0" rIns="0">
            <a:spAutoFit/>
          </a:bodyPr>
          <a:lstStyle/>
          <a:p>
            <a:pPr algn="r">
              <a:lnSpc>
                <a:spcPts val="3359"/>
              </a:lnSpc>
            </a:pPr>
            <a:r>
              <a:rPr lang="en-US" sz="2799">
                <a:solidFill>
                  <a:srgbClr val="FFFFFF"/>
                </a:solidFill>
                <a:latin typeface="Barlow Light"/>
                <a:ea typeface="Barlow Light"/>
                <a:cs typeface="Barlow Light"/>
                <a:sym typeface="Barlow Light"/>
              </a:rPr>
              <a:t>6</a:t>
            </a:r>
          </a:p>
        </p:txBody>
      </p:sp>
      <p:sp>
        <p:nvSpPr>
          <p:cNvPr name="Freeform 9" id="9"/>
          <p:cNvSpPr/>
          <p:nvPr/>
        </p:nvSpPr>
        <p:spPr>
          <a:xfrm flipH="false" flipV="false" rot="0">
            <a:off x="267900" y="2884749"/>
            <a:ext cx="5860587" cy="5494300"/>
          </a:xfrm>
          <a:custGeom>
            <a:avLst/>
            <a:gdLst/>
            <a:ahLst/>
            <a:cxnLst/>
            <a:rect r="r" b="b" t="t" l="l"/>
            <a:pathLst>
              <a:path h="5494300" w="5860587">
                <a:moveTo>
                  <a:pt x="0" y="0"/>
                </a:moveTo>
                <a:lnTo>
                  <a:pt x="5860587" y="0"/>
                </a:lnTo>
                <a:lnTo>
                  <a:pt x="5860587" y="5494300"/>
                </a:lnTo>
                <a:lnTo>
                  <a:pt x="0" y="54943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0">
            <a:off x="17373600" y="9349700"/>
            <a:ext cx="937200" cy="937200"/>
            <a:chOff x="0" y="0"/>
            <a:chExt cx="1249600" cy="1249600"/>
          </a:xfrm>
        </p:grpSpPr>
        <p:sp>
          <p:nvSpPr>
            <p:cNvPr name="Freeform 3" id="3"/>
            <p:cNvSpPr/>
            <p:nvPr/>
          </p:nvSpPr>
          <p:spPr>
            <a:xfrm flipH="false" flipV="false" rot="0">
              <a:off x="0" y="0"/>
              <a:ext cx="1249553" cy="1249553"/>
            </a:xfrm>
            <a:custGeom>
              <a:avLst/>
              <a:gdLst/>
              <a:ahLst/>
              <a:cxnLst/>
              <a:rect r="r" b="b" t="t" l="l"/>
              <a:pathLst>
                <a:path h="1249553" w="1249553">
                  <a:moveTo>
                    <a:pt x="1249553" y="1249553"/>
                  </a:moveTo>
                  <a:lnTo>
                    <a:pt x="1249553" y="0"/>
                  </a:lnTo>
                  <a:lnTo>
                    <a:pt x="0" y="1249553"/>
                  </a:lnTo>
                  <a:close/>
                </a:path>
              </a:pathLst>
            </a:custGeom>
            <a:solidFill>
              <a:srgbClr val="00B5DD"/>
            </a:solidFill>
          </p:spPr>
        </p:sp>
      </p:grpSp>
      <p:grpSp>
        <p:nvGrpSpPr>
          <p:cNvPr name="Group 4" id="4"/>
          <p:cNvGrpSpPr/>
          <p:nvPr/>
        </p:nvGrpSpPr>
        <p:grpSpPr>
          <a:xfrm rot="5400000">
            <a:off x="-200700" y="1448970"/>
            <a:ext cx="937200" cy="535800"/>
            <a:chOff x="0" y="0"/>
            <a:chExt cx="1249600" cy="714400"/>
          </a:xfrm>
        </p:grpSpPr>
        <p:sp>
          <p:nvSpPr>
            <p:cNvPr name="Freeform 5" id="5"/>
            <p:cNvSpPr/>
            <p:nvPr/>
          </p:nvSpPr>
          <p:spPr>
            <a:xfrm flipH="false" flipV="false" rot="0">
              <a:off x="0" y="0"/>
              <a:ext cx="1249680" cy="714375"/>
            </a:xfrm>
            <a:custGeom>
              <a:avLst/>
              <a:gdLst/>
              <a:ahLst/>
              <a:cxnLst/>
              <a:rect r="r" b="b" t="t" l="l"/>
              <a:pathLst>
                <a:path h="714375" w="1249680">
                  <a:moveTo>
                    <a:pt x="0" y="714375"/>
                  </a:moveTo>
                  <a:lnTo>
                    <a:pt x="624840" y="0"/>
                  </a:lnTo>
                  <a:lnTo>
                    <a:pt x="1249680" y="714375"/>
                  </a:lnTo>
                  <a:close/>
                </a:path>
              </a:pathLst>
            </a:custGeom>
            <a:solidFill>
              <a:srgbClr val="00B5DD"/>
            </a:solidFill>
          </p:spPr>
        </p:sp>
      </p:grpSp>
      <p:sp>
        <p:nvSpPr>
          <p:cNvPr name="Freeform 6" id="6"/>
          <p:cNvSpPr/>
          <p:nvPr/>
        </p:nvSpPr>
        <p:spPr>
          <a:xfrm flipH="false" flipV="false" rot="0">
            <a:off x="11337438" y="2089838"/>
            <a:ext cx="5576082" cy="6779431"/>
          </a:xfrm>
          <a:custGeom>
            <a:avLst/>
            <a:gdLst/>
            <a:ahLst/>
            <a:cxnLst/>
            <a:rect r="r" b="b" t="t" l="l"/>
            <a:pathLst>
              <a:path h="6779431" w="5576082">
                <a:moveTo>
                  <a:pt x="0" y="0"/>
                </a:moveTo>
                <a:lnTo>
                  <a:pt x="5576082" y="0"/>
                </a:lnTo>
                <a:lnTo>
                  <a:pt x="5576082" y="6779431"/>
                </a:lnTo>
                <a:lnTo>
                  <a:pt x="0" y="67794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721518" y="1181100"/>
            <a:ext cx="16192002" cy="908738"/>
          </a:xfrm>
          <a:prstGeom prst="rect">
            <a:avLst/>
          </a:prstGeom>
        </p:spPr>
        <p:txBody>
          <a:bodyPr anchor="t" rtlCol="false" tIns="0" lIns="0" bIns="0" rIns="0">
            <a:spAutoFit/>
          </a:bodyPr>
          <a:lstStyle/>
          <a:p>
            <a:pPr algn="l">
              <a:lnSpc>
                <a:spcPts val="6719"/>
              </a:lnSpc>
            </a:pPr>
            <a:r>
              <a:rPr lang="en-US" b="true" sz="6999">
                <a:solidFill>
                  <a:srgbClr val="007BB9"/>
                </a:solidFill>
                <a:latin typeface="Be Vietnam Medium"/>
                <a:ea typeface="Be Vietnam Medium"/>
                <a:cs typeface="Be Vietnam Medium"/>
                <a:sym typeface="Be Vietnam Medium"/>
              </a:rPr>
              <a:t>1.4 Phương pháp nghiên cứu</a:t>
            </a:r>
          </a:p>
        </p:txBody>
      </p:sp>
      <p:sp>
        <p:nvSpPr>
          <p:cNvPr name="TextBox 8" id="8"/>
          <p:cNvSpPr txBox="true"/>
          <p:nvPr/>
        </p:nvSpPr>
        <p:spPr>
          <a:xfrm rot="0">
            <a:off x="-132771" y="2455981"/>
            <a:ext cx="10781117" cy="5851764"/>
          </a:xfrm>
          <a:prstGeom prst="rect">
            <a:avLst/>
          </a:prstGeom>
        </p:spPr>
        <p:txBody>
          <a:bodyPr anchor="t" rtlCol="false" tIns="0" lIns="0" bIns="0" rIns="0">
            <a:spAutoFit/>
          </a:bodyPr>
          <a:lstStyle/>
          <a:p>
            <a:pPr algn="l" marL="1188225" indent="-594112" lvl="1">
              <a:lnSpc>
                <a:spcPts val="7800"/>
              </a:lnSpc>
              <a:buFont typeface="Arial"/>
              <a:buChar char="•"/>
            </a:pPr>
            <a:r>
              <a:rPr lang="en-US" sz="3900">
                <a:solidFill>
                  <a:srgbClr val="3A3F50"/>
                </a:solidFill>
                <a:latin typeface="Be Vietnam"/>
                <a:ea typeface="Be Vietnam"/>
                <a:cs typeface="Be Vietnam"/>
                <a:sym typeface="Be Vietnam"/>
              </a:rPr>
              <a:t>Phương pháp thu thập dữ liệu</a:t>
            </a:r>
          </a:p>
          <a:p>
            <a:pPr algn="l" marL="1188225" indent="-594112" lvl="1">
              <a:lnSpc>
                <a:spcPts val="7800"/>
              </a:lnSpc>
              <a:buFont typeface="Arial"/>
              <a:buChar char="•"/>
            </a:pPr>
            <a:r>
              <a:rPr lang="en-US" sz="3900">
                <a:solidFill>
                  <a:srgbClr val="3A3F50"/>
                </a:solidFill>
                <a:latin typeface="Be Vietnam"/>
                <a:ea typeface="Be Vietnam"/>
                <a:cs typeface="Be Vietnam"/>
                <a:sym typeface="Be Vietnam"/>
              </a:rPr>
              <a:t>Phương pháp phân tích dữ liệu</a:t>
            </a:r>
          </a:p>
          <a:p>
            <a:pPr algn="l" marL="1188225" indent="-594112" lvl="1">
              <a:lnSpc>
                <a:spcPts val="7800"/>
              </a:lnSpc>
              <a:buFont typeface="Arial"/>
              <a:buChar char="•"/>
            </a:pPr>
            <a:r>
              <a:rPr lang="en-US" sz="3900">
                <a:solidFill>
                  <a:srgbClr val="3A3F50"/>
                </a:solidFill>
                <a:latin typeface="Be Vietnam"/>
                <a:ea typeface="Be Vietnam"/>
                <a:cs typeface="Be Vietnam"/>
                <a:sym typeface="Be Vietnam"/>
              </a:rPr>
              <a:t>Phương pháp mô hình hóa và dự</a:t>
            </a:r>
            <a:r>
              <a:rPr lang="en-US" sz="3900">
                <a:solidFill>
                  <a:srgbClr val="00B5DD"/>
                </a:solidFill>
                <a:latin typeface="Be Vietnam"/>
                <a:ea typeface="Be Vietnam"/>
                <a:cs typeface="Be Vietnam"/>
                <a:sym typeface="Be Vietnam"/>
              </a:rPr>
              <a:t> </a:t>
            </a:r>
            <a:r>
              <a:rPr lang="en-US" sz="3900">
                <a:solidFill>
                  <a:srgbClr val="3A3F50"/>
                </a:solidFill>
                <a:latin typeface="Be Vietnam"/>
                <a:ea typeface="Be Vietnam"/>
                <a:cs typeface="Be Vietnam"/>
                <a:sym typeface="Be Vietnam"/>
              </a:rPr>
              <a:t>đoán</a:t>
            </a:r>
          </a:p>
          <a:p>
            <a:pPr algn="l" marL="1188225" indent="-594112" lvl="1">
              <a:lnSpc>
                <a:spcPts val="7800"/>
              </a:lnSpc>
              <a:buFont typeface="Arial"/>
              <a:buChar char="•"/>
            </a:pPr>
            <a:r>
              <a:rPr lang="en-US" sz="3900">
                <a:solidFill>
                  <a:srgbClr val="3A3F50"/>
                </a:solidFill>
                <a:latin typeface="Be Vietnam"/>
                <a:ea typeface="Be Vietnam"/>
                <a:cs typeface="Be Vietnam"/>
                <a:sym typeface="Be Vietnam"/>
              </a:rPr>
              <a:t>Phương pháp xây dựng hệ thống</a:t>
            </a:r>
          </a:p>
          <a:p>
            <a:pPr algn="l">
              <a:lnSpc>
                <a:spcPts val="7800"/>
              </a:lnSpc>
            </a:pPr>
            <a:r>
              <a:rPr lang="en-US" sz="3900">
                <a:solidFill>
                  <a:srgbClr val="00B5DD"/>
                </a:solidFill>
                <a:latin typeface="Be Vietnam"/>
                <a:ea typeface="Be Vietnam"/>
                <a:cs typeface="Be Vietnam"/>
                <a:sym typeface="Be Vietnam"/>
              </a:rPr>
              <a:t>.</a:t>
            </a:r>
          </a:p>
          <a:p>
            <a:pPr algn="just">
              <a:lnSpc>
                <a:spcPts val="7800"/>
              </a:lnSpc>
            </a:pPr>
          </a:p>
        </p:txBody>
      </p:sp>
      <p:sp>
        <p:nvSpPr>
          <p:cNvPr name="TextBox 9" id="9"/>
          <p:cNvSpPr txBox="true"/>
          <p:nvPr/>
        </p:nvSpPr>
        <p:spPr>
          <a:xfrm rot="0">
            <a:off x="17857149" y="9808841"/>
            <a:ext cx="166026" cy="428559"/>
          </a:xfrm>
          <a:prstGeom prst="rect">
            <a:avLst/>
          </a:prstGeom>
        </p:spPr>
        <p:txBody>
          <a:bodyPr anchor="t" rtlCol="false" tIns="0" lIns="0" bIns="0" rIns="0">
            <a:spAutoFit/>
          </a:bodyPr>
          <a:lstStyle/>
          <a:p>
            <a:pPr algn="r">
              <a:lnSpc>
                <a:spcPts val="3359"/>
              </a:lnSpc>
            </a:pPr>
            <a:r>
              <a:rPr lang="en-US" sz="2799">
                <a:solidFill>
                  <a:srgbClr val="FFFFFF"/>
                </a:solidFill>
                <a:latin typeface="Barlow Light"/>
                <a:ea typeface="Barlow Light"/>
                <a:cs typeface="Barlow Light"/>
                <a:sym typeface="Barlow Light"/>
              </a:rPr>
              <a:t>7</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5400000">
            <a:off x="-606750" y="4333810"/>
            <a:ext cx="2832600" cy="1619400"/>
            <a:chOff x="0" y="0"/>
            <a:chExt cx="3776800" cy="2159200"/>
          </a:xfrm>
        </p:grpSpPr>
        <p:sp>
          <p:nvSpPr>
            <p:cNvPr name="Freeform 3" id="3"/>
            <p:cNvSpPr/>
            <p:nvPr/>
          </p:nvSpPr>
          <p:spPr>
            <a:xfrm flipH="false" flipV="false" rot="0">
              <a:off x="0" y="0"/>
              <a:ext cx="3776853" cy="2159254"/>
            </a:xfrm>
            <a:custGeom>
              <a:avLst/>
              <a:gdLst/>
              <a:ahLst/>
              <a:cxnLst/>
              <a:rect r="r" b="b" t="t" l="l"/>
              <a:pathLst>
                <a:path h="2159254" w="3776853">
                  <a:moveTo>
                    <a:pt x="0" y="2159254"/>
                  </a:moveTo>
                  <a:lnTo>
                    <a:pt x="1888363" y="0"/>
                  </a:lnTo>
                  <a:lnTo>
                    <a:pt x="3776853" y="2159254"/>
                  </a:lnTo>
                  <a:close/>
                </a:path>
              </a:pathLst>
            </a:custGeom>
            <a:solidFill>
              <a:srgbClr val="00B5DD"/>
            </a:solidFill>
          </p:spPr>
        </p:sp>
      </p:grpSp>
      <p:sp>
        <p:nvSpPr>
          <p:cNvPr name="Freeform 4" id="4"/>
          <p:cNvSpPr/>
          <p:nvPr/>
        </p:nvSpPr>
        <p:spPr>
          <a:xfrm flipH="false" flipV="false" rot="0">
            <a:off x="8887450" y="823346"/>
            <a:ext cx="7885943" cy="7807084"/>
          </a:xfrm>
          <a:custGeom>
            <a:avLst/>
            <a:gdLst/>
            <a:ahLst/>
            <a:cxnLst/>
            <a:rect r="r" b="b" t="t" l="l"/>
            <a:pathLst>
              <a:path h="7807084" w="7885943">
                <a:moveTo>
                  <a:pt x="0" y="0"/>
                </a:moveTo>
                <a:lnTo>
                  <a:pt x="7885944" y="0"/>
                </a:lnTo>
                <a:lnTo>
                  <a:pt x="7885944" y="7807084"/>
                </a:lnTo>
                <a:lnTo>
                  <a:pt x="0" y="78070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845810" y="3803650"/>
            <a:ext cx="7827228" cy="2603500"/>
          </a:xfrm>
          <a:prstGeom prst="rect">
            <a:avLst/>
          </a:prstGeom>
        </p:spPr>
        <p:txBody>
          <a:bodyPr anchor="t" rtlCol="false" tIns="0" lIns="0" bIns="0" rIns="0">
            <a:spAutoFit/>
          </a:bodyPr>
          <a:lstStyle/>
          <a:p>
            <a:pPr algn="l">
              <a:lnSpc>
                <a:spcPts val="10400"/>
              </a:lnSpc>
            </a:pPr>
            <a:r>
              <a:rPr lang="en-US" sz="8000" b="true">
                <a:solidFill>
                  <a:srgbClr val="007BB9"/>
                </a:solidFill>
                <a:latin typeface="Be Vietnam Ultra-Bold"/>
                <a:ea typeface="Be Vietnam Ultra-Bold"/>
                <a:cs typeface="Be Vietnam Ultra-Bold"/>
                <a:sym typeface="Be Vietnam Ultra-Bold"/>
              </a:rPr>
              <a:t>CƠ SỞ </a:t>
            </a:r>
          </a:p>
          <a:p>
            <a:pPr algn="l">
              <a:lnSpc>
                <a:spcPts val="10400"/>
              </a:lnSpc>
            </a:pPr>
            <a:r>
              <a:rPr lang="en-US" b="true" sz="8000">
                <a:solidFill>
                  <a:srgbClr val="007BB9"/>
                </a:solidFill>
                <a:latin typeface="Be Vietnam Ultra-Bold"/>
                <a:ea typeface="Be Vietnam Ultra-Bold"/>
                <a:cs typeface="Be Vietnam Ultra-Bold"/>
                <a:sym typeface="Be Vietnam Ultra-Bold"/>
              </a:rPr>
              <a:t>LÝ THUYẾT</a:t>
            </a:r>
          </a:p>
        </p:txBody>
      </p:sp>
      <p:sp>
        <p:nvSpPr>
          <p:cNvPr name="TextBox 6" id="6"/>
          <p:cNvSpPr txBox="true"/>
          <p:nvPr/>
        </p:nvSpPr>
        <p:spPr>
          <a:xfrm rot="0">
            <a:off x="-7650" y="4500283"/>
            <a:ext cx="1036350" cy="2658750"/>
          </a:xfrm>
          <a:prstGeom prst="rect">
            <a:avLst/>
          </a:prstGeom>
        </p:spPr>
        <p:txBody>
          <a:bodyPr anchor="t" rtlCol="false" tIns="0" lIns="0" bIns="0" rIns="0">
            <a:spAutoFit/>
          </a:bodyPr>
          <a:lstStyle/>
          <a:p>
            <a:pPr algn="ctr">
              <a:lnSpc>
                <a:spcPts val="8640"/>
              </a:lnSpc>
            </a:pPr>
            <a:r>
              <a:rPr lang="en-US" b="true" sz="7200">
                <a:solidFill>
                  <a:srgbClr val="FFFFFF"/>
                </a:solidFill>
                <a:latin typeface="Barlow Bold"/>
                <a:ea typeface="Barlow Bold"/>
                <a:cs typeface="Barlow Bold"/>
                <a:sym typeface="Barlow Bold"/>
              </a:rPr>
              <a:t>2</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0">
            <a:off x="17373600" y="9349700"/>
            <a:ext cx="937200" cy="937200"/>
            <a:chOff x="0" y="0"/>
            <a:chExt cx="1249600" cy="1249600"/>
          </a:xfrm>
        </p:grpSpPr>
        <p:sp>
          <p:nvSpPr>
            <p:cNvPr name="Freeform 3" id="3"/>
            <p:cNvSpPr/>
            <p:nvPr/>
          </p:nvSpPr>
          <p:spPr>
            <a:xfrm flipH="false" flipV="false" rot="0">
              <a:off x="0" y="0"/>
              <a:ext cx="1249553" cy="1249553"/>
            </a:xfrm>
            <a:custGeom>
              <a:avLst/>
              <a:gdLst/>
              <a:ahLst/>
              <a:cxnLst/>
              <a:rect r="r" b="b" t="t" l="l"/>
              <a:pathLst>
                <a:path h="1249553" w="1249553">
                  <a:moveTo>
                    <a:pt x="1249553" y="1249553"/>
                  </a:moveTo>
                  <a:lnTo>
                    <a:pt x="1249553" y="0"/>
                  </a:lnTo>
                  <a:lnTo>
                    <a:pt x="0" y="1249553"/>
                  </a:lnTo>
                  <a:close/>
                </a:path>
              </a:pathLst>
            </a:custGeom>
            <a:solidFill>
              <a:srgbClr val="00B5DD"/>
            </a:solidFill>
          </p:spPr>
        </p:sp>
      </p:grpSp>
      <p:grpSp>
        <p:nvGrpSpPr>
          <p:cNvPr name="Group 4" id="4"/>
          <p:cNvGrpSpPr/>
          <p:nvPr/>
        </p:nvGrpSpPr>
        <p:grpSpPr>
          <a:xfrm rot="5400000">
            <a:off x="-200700" y="1448970"/>
            <a:ext cx="937200" cy="535800"/>
            <a:chOff x="0" y="0"/>
            <a:chExt cx="1249600" cy="714400"/>
          </a:xfrm>
        </p:grpSpPr>
        <p:sp>
          <p:nvSpPr>
            <p:cNvPr name="Freeform 5" id="5"/>
            <p:cNvSpPr/>
            <p:nvPr/>
          </p:nvSpPr>
          <p:spPr>
            <a:xfrm flipH="false" flipV="false" rot="0">
              <a:off x="0" y="0"/>
              <a:ext cx="1249680" cy="714375"/>
            </a:xfrm>
            <a:custGeom>
              <a:avLst/>
              <a:gdLst/>
              <a:ahLst/>
              <a:cxnLst/>
              <a:rect r="r" b="b" t="t" l="l"/>
              <a:pathLst>
                <a:path h="714375" w="1249680">
                  <a:moveTo>
                    <a:pt x="0" y="714375"/>
                  </a:moveTo>
                  <a:lnTo>
                    <a:pt x="624840" y="0"/>
                  </a:lnTo>
                  <a:lnTo>
                    <a:pt x="1249680" y="714375"/>
                  </a:lnTo>
                  <a:close/>
                </a:path>
              </a:pathLst>
            </a:custGeom>
            <a:solidFill>
              <a:srgbClr val="00B5DD"/>
            </a:solidFill>
          </p:spPr>
        </p:sp>
      </p:grpSp>
      <p:grpSp>
        <p:nvGrpSpPr>
          <p:cNvPr name="Group 6" id="6"/>
          <p:cNvGrpSpPr/>
          <p:nvPr/>
        </p:nvGrpSpPr>
        <p:grpSpPr>
          <a:xfrm rot="0">
            <a:off x="11514577" y="3390900"/>
            <a:ext cx="6201623" cy="4657464"/>
            <a:chOff x="0" y="0"/>
            <a:chExt cx="8268831" cy="6209952"/>
          </a:xfrm>
        </p:grpSpPr>
        <p:sp>
          <p:nvSpPr>
            <p:cNvPr name="Freeform 7" id="7"/>
            <p:cNvSpPr/>
            <p:nvPr/>
          </p:nvSpPr>
          <p:spPr>
            <a:xfrm flipH="false" flipV="false" rot="0">
              <a:off x="1615736" y="0"/>
              <a:ext cx="6006754" cy="4237492"/>
            </a:xfrm>
            <a:custGeom>
              <a:avLst/>
              <a:gdLst/>
              <a:ahLst/>
              <a:cxnLst/>
              <a:rect r="r" b="b" t="t" l="l"/>
              <a:pathLst>
                <a:path h="4237492" w="6006754">
                  <a:moveTo>
                    <a:pt x="0" y="0"/>
                  </a:moveTo>
                  <a:lnTo>
                    <a:pt x="6006753" y="0"/>
                  </a:lnTo>
                  <a:lnTo>
                    <a:pt x="6006753" y="4237492"/>
                  </a:lnTo>
                  <a:lnTo>
                    <a:pt x="0" y="4237492"/>
                  </a:lnTo>
                  <a:lnTo>
                    <a:pt x="0" y="0"/>
                  </a:lnTo>
                  <a:close/>
                </a:path>
              </a:pathLst>
            </a:custGeom>
            <a:blipFill>
              <a:blip r:embed="rId3"/>
              <a:stretch>
                <a:fillRect l="0" t="0" r="0" b="0"/>
              </a:stretch>
            </a:blipFill>
          </p:spPr>
        </p:sp>
        <p:sp>
          <p:nvSpPr>
            <p:cNvPr name="Freeform 8" id="8"/>
            <p:cNvSpPr/>
            <p:nvPr/>
          </p:nvSpPr>
          <p:spPr>
            <a:xfrm flipH="false" flipV="false" rot="0">
              <a:off x="0" y="2902420"/>
              <a:ext cx="8268831" cy="3307532"/>
            </a:xfrm>
            <a:custGeom>
              <a:avLst/>
              <a:gdLst/>
              <a:ahLst/>
              <a:cxnLst/>
              <a:rect r="r" b="b" t="t" l="l"/>
              <a:pathLst>
                <a:path h="3307532" w="8268831">
                  <a:moveTo>
                    <a:pt x="0" y="0"/>
                  </a:moveTo>
                  <a:lnTo>
                    <a:pt x="8268831" y="0"/>
                  </a:lnTo>
                  <a:lnTo>
                    <a:pt x="8268831" y="3307532"/>
                  </a:lnTo>
                  <a:lnTo>
                    <a:pt x="0" y="33075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9" id="9"/>
          <p:cNvSpPr txBox="true"/>
          <p:nvPr/>
        </p:nvSpPr>
        <p:spPr>
          <a:xfrm rot="0">
            <a:off x="571343" y="1341218"/>
            <a:ext cx="17360419" cy="657279"/>
          </a:xfrm>
          <a:prstGeom prst="rect">
            <a:avLst/>
          </a:prstGeom>
        </p:spPr>
        <p:txBody>
          <a:bodyPr anchor="t" rtlCol="false" tIns="0" lIns="0" bIns="0" rIns="0">
            <a:spAutoFit/>
          </a:bodyPr>
          <a:lstStyle/>
          <a:p>
            <a:pPr algn="l">
              <a:lnSpc>
                <a:spcPts val="4800"/>
              </a:lnSpc>
            </a:pPr>
            <a:r>
              <a:rPr lang="en-US" b="true" sz="5000">
                <a:solidFill>
                  <a:srgbClr val="007BB9"/>
                </a:solidFill>
                <a:latin typeface="Be Vietnam Medium"/>
                <a:ea typeface="Be Vietnam Medium"/>
                <a:cs typeface="Be Vietnam Medium"/>
                <a:sym typeface="Be Vietnam Medium"/>
              </a:rPr>
              <a:t>2.1 Tổng quan về video thịnh hành trên nền tảng Youtube</a:t>
            </a:r>
          </a:p>
        </p:txBody>
      </p:sp>
      <p:sp>
        <p:nvSpPr>
          <p:cNvPr name="TextBox 10" id="10"/>
          <p:cNvSpPr txBox="true"/>
          <p:nvPr/>
        </p:nvSpPr>
        <p:spPr>
          <a:xfrm rot="0">
            <a:off x="17259300" y="10384025"/>
            <a:ext cx="913800" cy="371475"/>
          </a:xfrm>
          <a:prstGeom prst="rect">
            <a:avLst/>
          </a:prstGeom>
        </p:spPr>
        <p:txBody>
          <a:bodyPr anchor="t" rtlCol="false" tIns="0" lIns="0" bIns="0" rIns="0">
            <a:spAutoFit/>
          </a:bodyPr>
          <a:lstStyle/>
          <a:p>
            <a:pPr algn="r">
              <a:lnSpc>
                <a:spcPts val="2879"/>
              </a:lnSpc>
            </a:pPr>
            <a:r>
              <a:rPr lang="en-US" sz="2400">
                <a:solidFill>
                  <a:srgbClr val="FFFFFF"/>
                </a:solidFill>
                <a:latin typeface="Barlow Light"/>
                <a:ea typeface="Barlow Light"/>
                <a:cs typeface="Barlow Light"/>
                <a:sym typeface="Barlow Light"/>
              </a:rPr>
              <a:t>10</a:t>
            </a:r>
          </a:p>
        </p:txBody>
      </p:sp>
      <p:sp>
        <p:nvSpPr>
          <p:cNvPr name="TextBox 11" id="11"/>
          <p:cNvSpPr txBox="true"/>
          <p:nvPr/>
        </p:nvSpPr>
        <p:spPr>
          <a:xfrm rot="0">
            <a:off x="1028700" y="2418447"/>
            <a:ext cx="8115300" cy="657279"/>
          </a:xfrm>
          <a:prstGeom prst="rect">
            <a:avLst/>
          </a:prstGeom>
        </p:spPr>
        <p:txBody>
          <a:bodyPr anchor="t" rtlCol="false" tIns="0" lIns="0" bIns="0" rIns="0">
            <a:spAutoFit/>
          </a:bodyPr>
          <a:lstStyle/>
          <a:p>
            <a:pPr algn="l">
              <a:lnSpc>
                <a:spcPts val="4800"/>
              </a:lnSpc>
            </a:pPr>
            <a:r>
              <a:rPr lang="en-US" sz="5000">
                <a:solidFill>
                  <a:srgbClr val="007BB9"/>
                </a:solidFill>
                <a:latin typeface="Be Vietnam"/>
                <a:ea typeface="Be Vietnam"/>
                <a:cs typeface="Be Vietnam"/>
                <a:sym typeface="Be Vietnam"/>
              </a:rPr>
              <a:t>Youtube Trending</a:t>
            </a:r>
          </a:p>
        </p:txBody>
      </p:sp>
      <p:sp>
        <p:nvSpPr>
          <p:cNvPr name="TextBox 12" id="12"/>
          <p:cNvSpPr txBox="true"/>
          <p:nvPr/>
        </p:nvSpPr>
        <p:spPr>
          <a:xfrm rot="0">
            <a:off x="17838628" y="9808841"/>
            <a:ext cx="184547" cy="428559"/>
          </a:xfrm>
          <a:prstGeom prst="rect">
            <a:avLst/>
          </a:prstGeom>
        </p:spPr>
        <p:txBody>
          <a:bodyPr anchor="t" rtlCol="false" tIns="0" lIns="0" bIns="0" rIns="0">
            <a:spAutoFit/>
          </a:bodyPr>
          <a:lstStyle/>
          <a:p>
            <a:pPr algn="r">
              <a:lnSpc>
                <a:spcPts val="3359"/>
              </a:lnSpc>
            </a:pPr>
            <a:r>
              <a:rPr lang="en-US" sz="2799">
                <a:solidFill>
                  <a:srgbClr val="FFFFFF"/>
                </a:solidFill>
                <a:latin typeface="Barlow Light"/>
                <a:ea typeface="Barlow Light"/>
                <a:cs typeface="Barlow Light"/>
                <a:sym typeface="Barlow Light"/>
              </a:rPr>
              <a:t>9</a:t>
            </a:r>
          </a:p>
        </p:txBody>
      </p:sp>
      <p:sp>
        <p:nvSpPr>
          <p:cNvPr name="TextBox 13" id="13"/>
          <p:cNvSpPr txBox="true"/>
          <p:nvPr/>
        </p:nvSpPr>
        <p:spPr>
          <a:xfrm rot="0">
            <a:off x="154299" y="3295650"/>
            <a:ext cx="11059480" cy="5695950"/>
          </a:xfrm>
          <a:prstGeom prst="rect">
            <a:avLst/>
          </a:prstGeom>
        </p:spPr>
        <p:txBody>
          <a:bodyPr anchor="t" rtlCol="false" tIns="0" lIns="0" bIns="0" rIns="0">
            <a:spAutoFit/>
          </a:bodyPr>
          <a:lstStyle/>
          <a:p>
            <a:pPr algn="just" marL="914019" indent="-457010" lvl="1">
              <a:lnSpc>
                <a:spcPts val="4500"/>
              </a:lnSpc>
              <a:buFont typeface="Arial"/>
              <a:buChar char="•"/>
            </a:pPr>
            <a:r>
              <a:rPr lang="en-US" sz="3000">
                <a:solidFill>
                  <a:srgbClr val="3A3F50"/>
                </a:solidFill>
                <a:latin typeface="Be Vietnam"/>
                <a:ea typeface="Be Vietnam"/>
                <a:cs typeface="Be Vietnam"/>
                <a:sym typeface="Be Vietnam"/>
              </a:rPr>
              <a:t>Video thịnh hành trên YouTube là các video được hệ thống của YouTube lựa chọn và đề xuất ở mục Thịnh hành, dựa trên các tiêu chí như lượt xem, tốc độ tăng tương tác (views,</a:t>
            </a:r>
            <a:r>
              <a:rPr lang="en-US" sz="3000">
                <a:solidFill>
                  <a:srgbClr val="3A3F50"/>
                </a:solidFill>
                <a:latin typeface="Be Vietnam"/>
                <a:ea typeface="Be Vietnam"/>
                <a:cs typeface="Be Vietnam"/>
                <a:sym typeface="Be Vietnam"/>
              </a:rPr>
              <a:t> likes, comments) và mức độ phổ biến tại từng khu vực/quốc gia. </a:t>
            </a:r>
          </a:p>
          <a:p>
            <a:pPr algn="just" marL="914019" indent="-457010" lvl="1">
              <a:lnSpc>
                <a:spcPts val="4500"/>
              </a:lnSpc>
              <a:buFont typeface="Arial"/>
              <a:buChar char="•"/>
            </a:pPr>
            <a:r>
              <a:rPr lang="en-US" sz="3000">
                <a:solidFill>
                  <a:srgbClr val="3A3F50"/>
                </a:solidFill>
                <a:latin typeface="Be Vietnam"/>
                <a:ea typeface="Be Vietnam"/>
                <a:cs typeface="Be Vietnam"/>
                <a:sym typeface="Be Vietnam"/>
              </a:rPr>
              <a:t>Các video này thường đạt con số ấn tượng trong thời gian ngắn, phản ánh xu hướng theo thời gian thực và đại diện cho những nội dung đang được người dùng quan tâm.</a:t>
            </a:r>
          </a:p>
          <a:p>
            <a:pPr algn="just">
              <a:lnSpc>
                <a:spcPts val="4500"/>
              </a:lnSpc>
            </a:pP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0">
            <a:off x="17373600" y="9349700"/>
            <a:ext cx="937200" cy="937200"/>
            <a:chOff x="0" y="0"/>
            <a:chExt cx="1249600" cy="1249600"/>
          </a:xfrm>
        </p:grpSpPr>
        <p:sp>
          <p:nvSpPr>
            <p:cNvPr name="Freeform 3" id="3"/>
            <p:cNvSpPr/>
            <p:nvPr/>
          </p:nvSpPr>
          <p:spPr>
            <a:xfrm flipH="false" flipV="false" rot="0">
              <a:off x="0" y="0"/>
              <a:ext cx="1249553" cy="1249553"/>
            </a:xfrm>
            <a:custGeom>
              <a:avLst/>
              <a:gdLst/>
              <a:ahLst/>
              <a:cxnLst/>
              <a:rect r="r" b="b" t="t" l="l"/>
              <a:pathLst>
                <a:path h="1249553" w="1249553">
                  <a:moveTo>
                    <a:pt x="1249553" y="1249553"/>
                  </a:moveTo>
                  <a:lnTo>
                    <a:pt x="1249553" y="0"/>
                  </a:lnTo>
                  <a:lnTo>
                    <a:pt x="0" y="1249553"/>
                  </a:lnTo>
                  <a:close/>
                </a:path>
              </a:pathLst>
            </a:custGeom>
            <a:solidFill>
              <a:srgbClr val="00B5DD"/>
            </a:solidFill>
          </p:spPr>
        </p:sp>
      </p:grpSp>
      <p:grpSp>
        <p:nvGrpSpPr>
          <p:cNvPr name="Group 4" id="4"/>
          <p:cNvGrpSpPr/>
          <p:nvPr/>
        </p:nvGrpSpPr>
        <p:grpSpPr>
          <a:xfrm rot="5400000">
            <a:off x="-200700" y="1448970"/>
            <a:ext cx="937200" cy="535800"/>
            <a:chOff x="0" y="0"/>
            <a:chExt cx="1249600" cy="714400"/>
          </a:xfrm>
        </p:grpSpPr>
        <p:sp>
          <p:nvSpPr>
            <p:cNvPr name="Freeform 5" id="5"/>
            <p:cNvSpPr/>
            <p:nvPr/>
          </p:nvSpPr>
          <p:spPr>
            <a:xfrm flipH="false" flipV="false" rot="0">
              <a:off x="0" y="0"/>
              <a:ext cx="1249680" cy="714375"/>
            </a:xfrm>
            <a:custGeom>
              <a:avLst/>
              <a:gdLst/>
              <a:ahLst/>
              <a:cxnLst/>
              <a:rect r="r" b="b" t="t" l="l"/>
              <a:pathLst>
                <a:path h="714375" w="1249680">
                  <a:moveTo>
                    <a:pt x="0" y="714375"/>
                  </a:moveTo>
                  <a:lnTo>
                    <a:pt x="624840" y="0"/>
                  </a:lnTo>
                  <a:lnTo>
                    <a:pt x="1249680" y="714375"/>
                  </a:lnTo>
                  <a:close/>
                </a:path>
              </a:pathLst>
            </a:custGeom>
            <a:solidFill>
              <a:srgbClr val="00B5DD"/>
            </a:solidFill>
          </p:spPr>
        </p:sp>
      </p:grpSp>
      <p:sp>
        <p:nvSpPr>
          <p:cNvPr name="Freeform 6" id="6"/>
          <p:cNvSpPr/>
          <p:nvPr/>
        </p:nvSpPr>
        <p:spPr>
          <a:xfrm flipH="false" flipV="false" rot="0">
            <a:off x="10856098" y="3389044"/>
            <a:ext cx="6517502" cy="3899817"/>
          </a:xfrm>
          <a:custGeom>
            <a:avLst/>
            <a:gdLst/>
            <a:ahLst/>
            <a:cxnLst/>
            <a:rect r="r" b="b" t="t" l="l"/>
            <a:pathLst>
              <a:path h="3899817" w="6517502">
                <a:moveTo>
                  <a:pt x="0" y="0"/>
                </a:moveTo>
                <a:lnTo>
                  <a:pt x="6517502" y="0"/>
                </a:lnTo>
                <a:lnTo>
                  <a:pt x="6517502" y="3899817"/>
                </a:lnTo>
                <a:lnTo>
                  <a:pt x="0" y="38998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937085" y="3103294"/>
            <a:ext cx="11059480" cy="4393234"/>
          </a:xfrm>
          <a:prstGeom prst="rect">
            <a:avLst/>
          </a:prstGeom>
        </p:spPr>
        <p:txBody>
          <a:bodyPr anchor="t" rtlCol="false" tIns="0" lIns="0" bIns="0" rIns="0">
            <a:spAutoFit/>
          </a:bodyPr>
          <a:lstStyle/>
          <a:p>
            <a:pPr algn="just" marL="1066356" indent="-533178" lvl="1">
              <a:lnSpc>
                <a:spcPts val="7105"/>
              </a:lnSpc>
              <a:buFont typeface="Arial"/>
              <a:buChar char="•"/>
            </a:pPr>
            <a:r>
              <a:rPr lang="en-US" sz="3500">
                <a:solidFill>
                  <a:srgbClr val="3A3F50"/>
                </a:solidFill>
                <a:latin typeface="Be Vietnam"/>
                <a:ea typeface="Be Vietnam"/>
                <a:cs typeface="Be Vietnam"/>
                <a:sym typeface="Be Vietnam"/>
              </a:rPr>
              <a:t>Tốc độ tăng trưởng lượt xem</a:t>
            </a:r>
          </a:p>
          <a:p>
            <a:pPr algn="just" marL="1066356" indent="-533178" lvl="1">
              <a:lnSpc>
                <a:spcPts val="7105"/>
              </a:lnSpc>
              <a:buFont typeface="Arial"/>
              <a:buChar char="•"/>
            </a:pPr>
            <a:r>
              <a:rPr lang="en-US" sz="3500">
                <a:solidFill>
                  <a:srgbClr val="3A3F50"/>
                </a:solidFill>
                <a:latin typeface="Be Vietnam"/>
                <a:ea typeface="Be Vietnam"/>
                <a:cs typeface="Be Vietnam"/>
                <a:sym typeface="Be Vietnam"/>
              </a:rPr>
              <a:t>Nguồn truy cập</a:t>
            </a:r>
          </a:p>
          <a:p>
            <a:pPr algn="just" marL="1066356" indent="-533178" lvl="1">
              <a:lnSpc>
                <a:spcPts val="7105"/>
              </a:lnSpc>
              <a:buFont typeface="Arial"/>
              <a:buChar char="•"/>
            </a:pPr>
            <a:r>
              <a:rPr lang="en-US" sz="3500">
                <a:solidFill>
                  <a:srgbClr val="3A3F50"/>
                </a:solidFill>
                <a:latin typeface="Be Vietnam"/>
                <a:ea typeface="Be Vietnam"/>
                <a:cs typeface="Be Vietnam"/>
                <a:sym typeface="Be Vietnam"/>
              </a:rPr>
              <a:t>Mức độ mới mẻ</a:t>
            </a:r>
          </a:p>
          <a:p>
            <a:pPr algn="just" marL="1066356" indent="-533178" lvl="1">
              <a:lnSpc>
                <a:spcPts val="7105"/>
              </a:lnSpc>
              <a:buFont typeface="Arial"/>
              <a:buChar char="•"/>
            </a:pPr>
            <a:r>
              <a:rPr lang="en-US" sz="3500">
                <a:solidFill>
                  <a:srgbClr val="3A3F50"/>
                </a:solidFill>
                <a:latin typeface="Be Vietnam"/>
                <a:ea typeface="Be Vietnam"/>
                <a:cs typeface="Be Vietnam"/>
                <a:sym typeface="Be Vietnam"/>
              </a:rPr>
              <a:t>Mức độ hấp dẫn nội dung</a:t>
            </a:r>
          </a:p>
          <a:p>
            <a:pPr algn="just">
              <a:lnSpc>
                <a:spcPts val="7105"/>
              </a:lnSpc>
            </a:pPr>
          </a:p>
        </p:txBody>
      </p:sp>
      <p:sp>
        <p:nvSpPr>
          <p:cNvPr name="TextBox 8" id="8"/>
          <p:cNvSpPr txBox="true"/>
          <p:nvPr/>
        </p:nvSpPr>
        <p:spPr>
          <a:xfrm rot="0">
            <a:off x="571343" y="1341218"/>
            <a:ext cx="17360419" cy="657279"/>
          </a:xfrm>
          <a:prstGeom prst="rect">
            <a:avLst/>
          </a:prstGeom>
        </p:spPr>
        <p:txBody>
          <a:bodyPr anchor="t" rtlCol="false" tIns="0" lIns="0" bIns="0" rIns="0">
            <a:spAutoFit/>
          </a:bodyPr>
          <a:lstStyle/>
          <a:p>
            <a:pPr algn="l">
              <a:lnSpc>
                <a:spcPts val="4800"/>
              </a:lnSpc>
            </a:pPr>
            <a:r>
              <a:rPr lang="en-US" b="true" sz="5000">
                <a:solidFill>
                  <a:srgbClr val="007BB9"/>
                </a:solidFill>
                <a:latin typeface="Be Vietnam Medium"/>
                <a:ea typeface="Be Vietnam Medium"/>
                <a:cs typeface="Be Vietnam Medium"/>
                <a:sym typeface="Be Vietnam Medium"/>
              </a:rPr>
              <a:t>2.1 Tổng quan về video thịnh hành trên nền tảng Youtube</a:t>
            </a:r>
          </a:p>
        </p:txBody>
      </p:sp>
      <p:sp>
        <p:nvSpPr>
          <p:cNvPr name="TextBox 9" id="9"/>
          <p:cNvSpPr txBox="true"/>
          <p:nvPr/>
        </p:nvSpPr>
        <p:spPr>
          <a:xfrm rot="0">
            <a:off x="17259300" y="10384025"/>
            <a:ext cx="913800" cy="371475"/>
          </a:xfrm>
          <a:prstGeom prst="rect">
            <a:avLst/>
          </a:prstGeom>
        </p:spPr>
        <p:txBody>
          <a:bodyPr anchor="t" rtlCol="false" tIns="0" lIns="0" bIns="0" rIns="0">
            <a:spAutoFit/>
          </a:bodyPr>
          <a:lstStyle/>
          <a:p>
            <a:pPr algn="r">
              <a:lnSpc>
                <a:spcPts val="2879"/>
              </a:lnSpc>
            </a:pPr>
            <a:r>
              <a:rPr lang="en-US" sz="2400">
                <a:solidFill>
                  <a:srgbClr val="FFFFFF"/>
                </a:solidFill>
                <a:latin typeface="Barlow Light"/>
                <a:ea typeface="Barlow Light"/>
                <a:cs typeface="Barlow Light"/>
                <a:sym typeface="Barlow Light"/>
              </a:rPr>
              <a:t>10</a:t>
            </a:r>
          </a:p>
        </p:txBody>
      </p:sp>
      <p:sp>
        <p:nvSpPr>
          <p:cNvPr name="TextBox 10" id="10"/>
          <p:cNvSpPr txBox="true"/>
          <p:nvPr/>
        </p:nvSpPr>
        <p:spPr>
          <a:xfrm rot="0">
            <a:off x="1028700" y="2476603"/>
            <a:ext cx="14155074" cy="521916"/>
          </a:xfrm>
          <a:prstGeom prst="rect">
            <a:avLst/>
          </a:prstGeom>
        </p:spPr>
        <p:txBody>
          <a:bodyPr anchor="t" rtlCol="false" tIns="0" lIns="0" bIns="0" rIns="0">
            <a:spAutoFit/>
          </a:bodyPr>
          <a:lstStyle/>
          <a:p>
            <a:pPr algn="l">
              <a:lnSpc>
                <a:spcPts val="3839"/>
              </a:lnSpc>
            </a:pPr>
            <a:r>
              <a:rPr lang="en-US" sz="3999">
                <a:solidFill>
                  <a:srgbClr val="007BB9"/>
                </a:solidFill>
                <a:latin typeface="Be Vietnam"/>
                <a:ea typeface="Be Vietnam"/>
                <a:cs typeface="Be Vietnam"/>
                <a:sym typeface="Be Vietnam"/>
              </a:rPr>
              <a:t>Cách thức video trở nên trending trên Youtube</a:t>
            </a:r>
          </a:p>
        </p:txBody>
      </p:sp>
      <p:sp>
        <p:nvSpPr>
          <p:cNvPr name="TextBox 11" id="11"/>
          <p:cNvSpPr txBox="true"/>
          <p:nvPr/>
        </p:nvSpPr>
        <p:spPr>
          <a:xfrm rot="0">
            <a:off x="17849812" y="9808775"/>
            <a:ext cx="323288" cy="428559"/>
          </a:xfrm>
          <a:prstGeom prst="rect">
            <a:avLst/>
          </a:prstGeom>
        </p:spPr>
        <p:txBody>
          <a:bodyPr anchor="t" rtlCol="false" tIns="0" lIns="0" bIns="0" rIns="0">
            <a:spAutoFit/>
          </a:bodyPr>
          <a:lstStyle/>
          <a:p>
            <a:pPr algn="r">
              <a:lnSpc>
                <a:spcPts val="3359"/>
              </a:lnSpc>
            </a:pPr>
            <a:r>
              <a:rPr lang="en-US" sz="2799">
                <a:solidFill>
                  <a:srgbClr val="FFFFFF"/>
                </a:solidFill>
                <a:latin typeface="Barlow Light"/>
                <a:ea typeface="Barlow Light"/>
                <a:cs typeface="Barlow Light"/>
                <a:sym typeface="Barlow Light"/>
              </a:rPr>
              <a:t>10</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0">
            <a:off x="17373600" y="9349700"/>
            <a:ext cx="937200" cy="937200"/>
            <a:chOff x="0" y="0"/>
            <a:chExt cx="1249600" cy="1249600"/>
          </a:xfrm>
        </p:grpSpPr>
        <p:sp>
          <p:nvSpPr>
            <p:cNvPr name="Freeform 3" id="3"/>
            <p:cNvSpPr/>
            <p:nvPr/>
          </p:nvSpPr>
          <p:spPr>
            <a:xfrm flipH="false" flipV="false" rot="0">
              <a:off x="0" y="0"/>
              <a:ext cx="1249553" cy="1249553"/>
            </a:xfrm>
            <a:custGeom>
              <a:avLst/>
              <a:gdLst/>
              <a:ahLst/>
              <a:cxnLst/>
              <a:rect r="r" b="b" t="t" l="l"/>
              <a:pathLst>
                <a:path h="1249553" w="1249553">
                  <a:moveTo>
                    <a:pt x="1249553" y="1249553"/>
                  </a:moveTo>
                  <a:lnTo>
                    <a:pt x="1249553" y="0"/>
                  </a:lnTo>
                  <a:lnTo>
                    <a:pt x="0" y="1249553"/>
                  </a:lnTo>
                  <a:close/>
                </a:path>
              </a:pathLst>
            </a:custGeom>
            <a:solidFill>
              <a:srgbClr val="00B5DD"/>
            </a:solidFill>
          </p:spPr>
        </p:sp>
      </p:grpSp>
      <p:grpSp>
        <p:nvGrpSpPr>
          <p:cNvPr name="Group 4" id="4"/>
          <p:cNvGrpSpPr/>
          <p:nvPr/>
        </p:nvGrpSpPr>
        <p:grpSpPr>
          <a:xfrm rot="5400000">
            <a:off x="-200700" y="1448970"/>
            <a:ext cx="937200" cy="535800"/>
            <a:chOff x="0" y="0"/>
            <a:chExt cx="1249600" cy="714400"/>
          </a:xfrm>
        </p:grpSpPr>
        <p:sp>
          <p:nvSpPr>
            <p:cNvPr name="Freeform 5" id="5"/>
            <p:cNvSpPr/>
            <p:nvPr/>
          </p:nvSpPr>
          <p:spPr>
            <a:xfrm flipH="false" flipV="false" rot="0">
              <a:off x="0" y="0"/>
              <a:ext cx="1249680" cy="714375"/>
            </a:xfrm>
            <a:custGeom>
              <a:avLst/>
              <a:gdLst/>
              <a:ahLst/>
              <a:cxnLst/>
              <a:rect r="r" b="b" t="t" l="l"/>
              <a:pathLst>
                <a:path h="714375" w="1249680">
                  <a:moveTo>
                    <a:pt x="0" y="714375"/>
                  </a:moveTo>
                  <a:lnTo>
                    <a:pt x="624840" y="0"/>
                  </a:lnTo>
                  <a:lnTo>
                    <a:pt x="1249680" y="714375"/>
                  </a:lnTo>
                  <a:close/>
                </a:path>
              </a:pathLst>
            </a:custGeom>
            <a:solidFill>
              <a:srgbClr val="00B5DD"/>
            </a:solidFill>
          </p:spPr>
        </p:sp>
      </p:grpSp>
      <p:sp>
        <p:nvSpPr>
          <p:cNvPr name="TextBox 6" id="6"/>
          <p:cNvSpPr txBox="true"/>
          <p:nvPr/>
        </p:nvSpPr>
        <p:spPr>
          <a:xfrm rot="0">
            <a:off x="267900" y="3164075"/>
            <a:ext cx="11059480" cy="7410450"/>
          </a:xfrm>
          <a:prstGeom prst="rect">
            <a:avLst/>
          </a:prstGeom>
        </p:spPr>
        <p:txBody>
          <a:bodyPr anchor="t" rtlCol="false" tIns="0" lIns="0" bIns="0" rIns="0">
            <a:spAutoFit/>
          </a:bodyPr>
          <a:lstStyle/>
          <a:p>
            <a:pPr algn="just" marL="914019" indent="-457010" lvl="1">
              <a:lnSpc>
                <a:spcPts val="4500"/>
              </a:lnSpc>
              <a:buFont typeface="Arial"/>
              <a:buChar char="•"/>
            </a:pPr>
            <a:r>
              <a:rPr lang="en-US" sz="3000">
                <a:solidFill>
                  <a:srgbClr val="3A3F50"/>
                </a:solidFill>
                <a:latin typeface="Be Vietnam"/>
                <a:ea typeface="Be Vietnam"/>
                <a:cs typeface="Be Vietnam"/>
                <a:sym typeface="Be Vietnam"/>
              </a:rPr>
              <a:t>Python là một ngôn ngữ lập trình bậc cao, dễ học và dễ đọc, được sử dụng rộng rãi trong nhiều lĩnh vực như khoa học dữ liệu, trí tuệ nhân tạo, phát triển web và tự động hóa.</a:t>
            </a:r>
          </a:p>
          <a:p>
            <a:pPr algn="just" marL="914019" indent="-457010" lvl="1">
              <a:lnSpc>
                <a:spcPts val="4500"/>
              </a:lnSpc>
              <a:buFont typeface="Arial"/>
              <a:buChar char="•"/>
            </a:pPr>
            <a:r>
              <a:rPr lang="en-US" sz="3000">
                <a:solidFill>
                  <a:srgbClr val="3A3F50"/>
                </a:solidFill>
                <a:latin typeface="Be Vietnam"/>
                <a:ea typeface="Be Vietnam"/>
                <a:cs typeface="Be Vietnam"/>
                <a:sym typeface="Be Vietnam"/>
              </a:rPr>
              <a:t>C</a:t>
            </a:r>
            <a:r>
              <a:rPr lang="en-US" sz="3000">
                <a:solidFill>
                  <a:srgbClr val="3A3F50"/>
                </a:solidFill>
                <a:latin typeface="Be Vietnam"/>
                <a:ea typeface="Be Vietnam"/>
                <a:cs typeface="Be Vietnam"/>
                <a:sym typeface="Be Vietnam"/>
              </a:rPr>
              <a:t>ú pháp đơn giản, thư viện phong phú và cộng đồng lớn hỗ trợ mạnh mẽ.</a:t>
            </a:r>
          </a:p>
          <a:p>
            <a:pPr algn="just" marL="914019" indent="-457010" lvl="1">
              <a:lnSpc>
                <a:spcPts val="4500"/>
              </a:lnSpc>
              <a:buFont typeface="Arial"/>
              <a:buChar char="•"/>
            </a:pPr>
            <a:r>
              <a:rPr lang="en-US" sz="3000">
                <a:solidFill>
                  <a:srgbClr val="3A3F50"/>
                </a:solidFill>
                <a:latin typeface="Be Vietnam"/>
                <a:ea typeface="Be Vietnam"/>
                <a:cs typeface="Be Vietnam"/>
                <a:sym typeface="Be Vietnam"/>
              </a:rPr>
              <a:t>Một số thư viện Python phổ biến được dùng trong</a:t>
            </a:r>
            <a:r>
              <a:rPr lang="en-US" sz="3000">
                <a:solidFill>
                  <a:srgbClr val="3A3F50"/>
                </a:solidFill>
                <a:latin typeface="Be Vietnam"/>
                <a:ea typeface="Be Vietnam"/>
                <a:cs typeface="Be Vietnam"/>
                <a:sym typeface="Be Vietnam"/>
              </a:rPr>
              <a:t> phân tích dữ liệu và học máy gồm:</a:t>
            </a:r>
          </a:p>
          <a:p>
            <a:pPr algn="just">
              <a:lnSpc>
                <a:spcPts val="4500"/>
              </a:lnSpc>
            </a:pPr>
            <a:r>
              <a:rPr lang="en-US" sz="3000">
                <a:solidFill>
                  <a:srgbClr val="3A3F50"/>
                </a:solidFill>
                <a:latin typeface="Be Vietnam"/>
                <a:ea typeface="Be Vietnam"/>
                <a:cs typeface="Be Vietnam"/>
                <a:sym typeface="Be Vietnam"/>
              </a:rPr>
              <a:t>           - Pandas</a:t>
            </a:r>
          </a:p>
          <a:p>
            <a:pPr algn="just">
              <a:lnSpc>
                <a:spcPts val="4500"/>
              </a:lnSpc>
            </a:pPr>
            <a:r>
              <a:rPr lang="en-US" sz="3000">
                <a:solidFill>
                  <a:srgbClr val="3A3F50"/>
                </a:solidFill>
                <a:latin typeface="Be Vietnam"/>
                <a:ea typeface="Be Vietnam"/>
                <a:cs typeface="Be Vietnam"/>
                <a:sym typeface="Be Vietnam"/>
              </a:rPr>
              <a:t>           - </a:t>
            </a:r>
            <a:r>
              <a:rPr lang="en-US" sz="3000">
                <a:solidFill>
                  <a:srgbClr val="3A3F50"/>
                </a:solidFill>
                <a:latin typeface="Be Vietnam"/>
                <a:ea typeface="Be Vietnam"/>
                <a:cs typeface="Be Vietnam"/>
                <a:sym typeface="Be Vietnam"/>
              </a:rPr>
              <a:t>NumPy</a:t>
            </a:r>
          </a:p>
          <a:p>
            <a:pPr algn="just">
              <a:lnSpc>
                <a:spcPts val="4500"/>
              </a:lnSpc>
            </a:pPr>
            <a:r>
              <a:rPr lang="en-US" sz="3000">
                <a:solidFill>
                  <a:srgbClr val="3A3F50"/>
                </a:solidFill>
                <a:latin typeface="Be Vietnam"/>
                <a:ea typeface="Be Vietnam"/>
                <a:cs typeface="Be Vietnam"/>
                <a:sym typeface="Be Vietnam"/>
              </a:rPr>
              <a:t>           - </a:t>
            </a:r>
            <a:r>
              <a:rPr lang="en-US" sz="3000">
                <a:solidFill>
                  <a:srgbClr val="3A3F50"/>
                </a:solidFill>
                <a:latin typeface="Be Vietnam"/>
                <a:ea typeface="Be Vietnam"/>
                <a:cs typeface="Be Vietnam"/>
                <a:sym typeface="Be Vietnam"/>
              </a:rPr>
              <a:t>Matplotlib / Seaborn</a:t>
            </a:r>
          </a:p>
          <a:p>
            <a:pPr algn="just">
              <a:lnSpc>
                <a:spcPts val="4500"/>
              </a:lnSpc>
            </a:pPr>
          </a:p>
          <a:p>
            <a:pPr algn="just">
              <a:lnSpc>
                <a:spcPts val="4500"/>
              </a:lnSpc>
            </a:pPr>
          </a:p>
        </p:txBody>
      </p:sp>
      <p:sp>
        <p:nvSpPr>
          <p:cNvPr name="Freeform 7" id="7"/>
          <p:cNvSpPr/>
          <p:nvPr/>
        </p:nvSpPr>
        <p:spPr>
          <a:xfrm flipH="false" flipV="false" rot="0">
            <a:off x="11734243" y="2693822"/>
            <a:ext cx="5337370" cy="4917052"/>
          </a:xfrm>
          <a:custGeom>
            <a:avLst/>
            <a:gdLst/>
            <a:ahLst/>
            <a:cxnLst/>
            <a:rect r="r" b="b" t="t" l="l"/>
            <a:pathLst>
              <a:path h="4917052" w="5337370">
                <a:moveTo>
                  <a:pt x="0" y="0"/>
                </a:moveTo>
                <a:lnTo>
                  <a:pt x="5337369" y="0"/>
                </a:lnTo>
                <a:lnTo>
                  <a:pt x="5337369" y="4917052"/>
                </a:lnTo>
                <a:lnTo>
                  <a:pt x="0" y="4917052"/>
                </a:lnTo>
                <a:lnTo>
                  <a:pt x="0" y="0"/>
                </a:lnTo>
                <a:close/>
              </a:path>
            </a:pathLst>
          </a:custGeom>
          <a:blipFill>
            <a:blip r:embed="rId3"/>
            <a:stretch>
              <a:fillRect l="0" t="0" r="0" b="0"/>
            </a:stretch>
          </a:blipFill>
        </p:spPr>
      </p:sp>
      <p:sp>
        <p:nvSpPr>
          <p:cNvPr name="TextBox 8" id="8"/>
          <p:cNvSpPr txBox="true"/>
          <p:nvPr/>
        </p:nvSpPr>
        <p:spPr>
          <a:xfrm rot="0">
            <a:off x="812681" y="1276785"/>
            <a:ext cx="15830552" cy="908739"/>
          </a:xfrm>
          <a:prstGeom prst="rect">
            <a:avLst/>
          </a:prstGeom>
        </p:spPr>
        <p:txBody>
          <a:bodyPr anchor="t" rtlCol="false" tIns="0" lIns="0" bIns="0" rIns="0">
            <a:spAutoFit/>
          </a:bodyPr>
          <a:lstStyle/>
          <a:p>
            <a:pPr algn="l">
              <a:lnSpc>
                <a:spcPts val="6719"/>
              </a:lnSpc>
            </a:pPr>
            <a:r>
              <a:rPr lang="en-US" b="true" sz="6999">
                <a:solidFill>
                  <a:srgbClr val="007BB9"/>
                </a:solidFill>
                <a:latin typeface="Be Vietnam Medium"/>
                <a:ea typeface="Be Vietnam Medium"/>
                <a:cs typeface="Be Vietnam Medium"/>
                <a:sym typeface="Be Vietnam Medium"/>
              </a:rPr>
              <a:t>2.2 Ngôn ngữ lập trình, Framework</a:t>
            </a:r>
          </a:p>
        </p:txBody>
      </p:sp>
      <p:sp>
        <p:nvSpPr>
          <p:cNvPr name="TextBox 9" id="9"/>
          <p:cNvSpPr txBox="true"/>
          <p:nvPr/>
        </p:nvSpPr>
        <p:spPr>
          <a:xfrm rot="0">
            <a:off x="17259300" y="10384025"/>
            <a:ext cx="913800" cy="371475"/>
          </a:xfrm>
          <a:prstGeom prst="rect">
            <a:avLst/>
          </a:prstGeom>
        </p:spPr>
        <p:txBody>
          <a:bodyPr anchor="t" rtlCol="false" tIns="0" lIns="0" bIns="0" rIns="0">
            <a:spAutoFit/>
          </a:bodyPr>
          <a:lstStyle/>
          <a:p>
            <a:pPr algn="r">
              <a:lnSpc>
                <a:spcPts val="2879"/>
              </a:lnSpc>
            </a:pPr>
            <a:r>
              <a:rPr lang="en-US" sz="2400">
                <a:solidFill>
                  <a:srgbClr val="FFFFFF"/>
                </a:solidFill>
                <a:latin typeface="Barlow Light"/>
                <a:ea typeface="Barlow Light"/>
                <a:cs typeface="Barlow Light"/>
                <a:sym typeface="Barlow Light"/>
              </a:rPr>
              <a:t>10</a:t>
            </a:r>
          </a:p>
        </p:txBody>
      </p:sp>
      <p:sp>
        <p:nvSpPr>
          <p:cNvPr name="TextBox 10" id="10"/>
          <p:cNvSpPr txBox="true"/>
          <p:nvPr/>
        </p:nvSpPr>
        <p:spPr>
          <a:xfrm rot="0">
            <a:off x="812681" y="2417597"/>
            <a:ext cx="8115300" cy="657225"/>
          </a:xfrm>
          <a:prstGeom prst="rect">
            <a:avLst/>
          </a:prstGeom>
        </p:spPr>
        <p:txBody>
          <a:bodyPr anchor="t" rtlCol="false" tIns="0" lIns="0" bIns="0" rIns="0">
            <a:spAutoFit/>
          </a:bodyPr>
          <a:lstStyle/>
          <a:p>
            <a:pPr algn="l">
              <a:lnSpc>
                <a:spcPts val="4800"/>
              </a:lnSpc>
            </a:pPr>
            <a:r>
              <a:rPr lang="en-US" sz="5000">
                <a:solidFill>
                  <a:srgbClr val="007BB9"/>
                </a:solidFill>
                <a:latin typeface="Be Vietnam"/>
                <a:ea typeface="Be Vietnam"/>
                <a:cs typeface="Be Vietnam"/>
                <a:sym typeface="Be Vietnam"/>
              </a:rPr>
              <a:t>Python</a:t>
            </a:r>
          </a:p>
        </p:txBody>
      </p:sp>
      <p:sp>
        <p:nvSpPr>
          <p:cNvPr name="TextBox 11" id="11"/>
          <p:cNvSpPr txBox="true"/>
          <p:nvPr/>
        </p:nvSpPr>
        <p:spPr>
          <a:xfrm rot="0">
            <a:off x="17927037" y="9808775"/>
            <a:ext cx="246063" cy="428559"/>
          </a:xfrm>
          <a:prstGeom prst="rect">
            <a:avLst/>
          </a:prstGeom>
        </p:spPr>
        <p:txBody>
          <a:bodyPr anchor="t" rtlCol="false" tIns="0" lIns="0" bIns="0" rIns="0">
            <a:spAutoFit/>
          </a:bodyPr>
          <a:lstStyle/>
          <a:p>
            <a:pPr algn="r">
              <a:lnSpc>
                <a:spcPts val="3359"/>
              </a:lnSpc>
            </a:pPr>
            <a:r>
              <a:rPr lang="en-US" sz="2799">
                <a:solidFill>
                  <a:srgbClr val="FFFFFF"/>
                </a:solidFill>
                <a:latin typeface="Barlow Light"/>
                <a:ea typeface="Barlow Light"/>
                <a:cs typeface="Barlow Light"/>
                <a:sym typeface="Barlow Light"/>
              </a:rPr>
              <a:t>11</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0">
            <a:off x="17373600" y="9349700"/>
            <a:ext cx="937200" cy="937200"/>
            <a:chOff x="0" y="0"/>
            <a:chExt cx="1249600" cy="1249600"/>
          </a:xfrm>
        </p:grpSpPr>
        <p:sp>
          <p:nvSpPr>
            <p:cNvPr name="Freeform 3" id="3"/>
            <p:cNvSpPr/>
            <p:nvPr/>
          </p:nvSpPr>
          <p:spPr>
            <a:xfrm flipH="false" flipV="false" rot="0">
              <a:off x="0" y="0"/>
              <a:ext cx="1249553" cy="1249553"/>
            </a:xfrm>
            <a:custGeom>
              <a:avLst/>
              <a:gdLst/>
              <a:ahLst/>
              <a:cxnLst/>
              <a:rect r="r" b="b" t="t" l="l"/>
              <a:pathLst>
                <a:path h="1249553" w="1249553">
                  <a:moveTo>
                    <a:pt x="1249553" y="1249553"/>
                  </a:moveTo>
                  <a:lnTo>
                    <a:pt x="1249553" y="0"/>
                  </a:lnTo>
                  <a:lnTo>
                    <a:pt x="0" y="1249553"/>
                  </a:lnTo>
                  <a:close/>
                </a:path>
              </a:pathLst>
            </a:custGeom>
            <a:solidFill>
              <a:srgbClr val="00B5DD"/>
            </a:solidFill>
          </p:spPr>
        </p:sp>
      </p:grpSp>
      <p:grpSp>
        <p:nvGrpSpPr>
          <p:cNvPr name="Group 4" id="4"/>
          <p:cNvGrpSpPr/>
          <p:nvPr/>
        </p:nvGrpSpPr>
        <p:grpSpPr>
          <a:xfrm rot="5400000">
            <a:off x="-200700" y="1448970"/>
            <a:ext cx="937200" cy="535800"/>
            <a:chOff x="0" y="0"/>
            <a:chExt cx="1249600" cy="714400"/>
          </a:xfrm>
        </p:grpSpPr>
        <p:sp>
          <p:nvSpPr>
            <p:cNvPr name="Freeform 5" id="5"/>
            <p:cNvSpPr/>
            <p:nvPr/>
          </p:nvSpPr>
          <p:spPr>
            <a:xfrm flipH="false" flipV="false" rot="0">
              <a:off x="0" y="0"/>
              <a:ext cx="1249680" cy="714375"/>
            </a:xfrm>
            <a:custGeom>
              <a:avLst/>
              <a:gdLst/>
              <a:ahLst/>
              <a:cxnLst/>
              <a:rect r="r" b="b" t="t" l="l"/>
              <a:pathLst>
                <a:path h="714375" w="1249680">
                  <a:moveTo>
                    <a:pt x="0" y="714375"/>
                  </a:moveTo>
                  <a:lnTo>
                    <a:pt x="624840" y="0"/>
                  </a:lnTo>
                  <a:lnTo>
                    <a:pt x="1249680" y="714375"/>
                  </a:lnTo>
                  <a:close/>
                </a:path>
              </a:pathLst>
            </a:custGeom>
            <a:solidFill>
              <a:srgbClr val="00B5DD"/>
            </a:solidFill>
          </p:spPr>
        </p:sp>
      </p:grpSp>
      <p:sp>
        <p:nvSpPr>
          <p:cNvPr name="Freeform 6" id="6"/>
          <p:cNvSpPr/>
          <p:nvPr/>
        </p:nvSpPr>
        <p:spPr>
          <a:xfrm flipH="false" flipV="false" rot="0">
            <a:off x="6040458" y="7434279"/>
            <a:ext cx="7315200" cy="2593571"/>
          </a:xfrm>
          <a:custGeom>
            <a:avLst/>
            <a:gdLst/>
            <a:ahLst/>
            <a:cxnLst/>
            <a:rect r="r" b="b" t="t" l="l"/>
            <a:pathLst>
              <a:path h="2593571" w="7315200">
                <a:moveTo>
                  <a:pt x="0" y="0"/>
                </a:moveTo>
                <a:lnTo>
                  <a:pt x="7315200" y="0"/>
                </a:lnTo>
                <a:lnTo>
                  <a:pt x="7315200" y="2593571"/>
                </a:lnTo>
                <a:lnTo>
                  <a:pt x="0" y="259357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67900" y="2979627"/>
            <a:ext cx="16991400" cy="6866844"/>
          </a:xfrm>
          <a:prstGeom prst="rect">
            <a:avLst/>
          </a:prstGeom>
        </p:spPr>
        <p:txBody>
          <a:bodyPr anchor="t" rtlCol="false" tIns="0" lIns="0" bIns="0" rIns="0">
            <a:spAutoFit/>
          </a:bodyPr>
          <a:lstStyle/>
          <a:p>
            <a:pPr algn="just" marL="914019" indent="-457010" lvl="1">
              <a:lnSpc>
                <a:spcPts val="4500"/>
              </a:lnSpc>
              <a:buFont typeface="Arial"/>
              <a:buChar char="•"/>
            </a:pPr>
            <a:r>
              <a:rPr lang="en-US" sz="3000">
                <a:solidFill>
                  <a:srgbClr val="3A3F50"/>
                </a:solidFill>
                <a:latin typeface="Be Vietnam"/>
                <a:ea typeface="Be Vietnam"/>
                <a:cs typeface="Be Vietnam"/>
                <a:sym typeface="Be Vietnam"/>
              </a:rPr>
              <a:t>Django là một web framework nổi tiếng viết bằng Python, cung cấp đầy đủ module và thư viện hỗ trợ phát triển web. Nó cho phép tái sử dụng và tự động hóa các thành phần, giúp việc xây dựng ứng dụng web nhanh, gọn và hiệu quả.</a:t>
            </a:r>
          </a:p>
          <a:p>
            <a:pPr algn="just" marL="914019" indent="-457010" lvl="1">
              <a:lnSpc>
                <a:spcPts val="4500"/>
              </a:lnSpc>
              <a:buFont typeface="Arial"/>
              <a:buChar char="•"/>
            </a:pPr>
            <a:r>
              <a:rPr lang="en-US" sz="3000">
                <a:solidFill>
                  <a:srgbClr val="3A3F50"/>
                </a:solidFill>
                <a:latin typeface="Be Vietnam"/>
                <a:ea typeface="Be Vietnam"/>
                <a:cs typeface="Be Vietnam"/>
                <a:sym typeface="Be Vietnam"/>
              </a:rPr>
              <a:t>Xây dựng theo kiến trúc MVT (Model - View - Template).</a:t>
            </a:r>
          </a:p>
          <a:p>
            <a:pPr algn="just" marL="914019" indent="-457010" lvl="1">
              <a:lnSpc>
                <a:spcPts val="4500"/>
              </a:lnSpc>
              <a:buFont typeface="Arial"/>
              <a:buChar char="•"/>
            </a:pPr>
            <a:r>
              <a:rPr lang="en-US" sz="3000">
                <a:solidFill>
                  <a:srgbClr val="3A3F50"/>
                </a:solidFill>
                <a:latin typeface="Be Vietnam"/>
                <a:ea typeface="Be Vietnam"/>
                <a:cs typeface="Be Vietnam"/>
                <a:sym typeface="Be Vietnam"/>
              </a:rPr>
              <a:t>Ưu điểm:</a:t>
            </a:r>
          </a:p>
          <a:p>
            <a:pPr algn="just">
              <a:lnSpc>
                <a:spcPts val="4500"/>
              </a:lnSpc>
            </a:pPr>
            <a:r>
              <a:rPr lang="en-US" sz="3000">
                <a:solidFill>
                  <a:srgbClr val="00B5DD"/>
                </a:solidFill>
                <a:latin typeface="Be Vietnam"/>
                <a:ea typeface="Be Vietnam"/>
                <a:cs typeface="Be Vietnam"/>
                <a:sym typeface="Be Vietnam"/>
              </a:rPr>
              <a:t>         </a:t>
            </a:r>
            <a:r>
              <a:rPr lang="en-US" sz="3000">
                <a:solidFill>
                  <a:srgbClr val="3A3F50"/>
                </a:solidFill>
                <a:latin typeface="Be Vietnam"/>
                <a:ea typeface="Be Vietnam"/>
                <a:cs typeface="Be Vietnam"/>
                <a:sym typeface="Be Vietnam"/>
              </a:rPr>
              <a:t> - Nhanh</a:t>
            </a:r>
          </a:p>
          <a:p>
            <a:pPr algn="just">
              <a:lnSpc>
                <a:spcPts val="4500"/>
              </a:lnSpc>
            </a:pPr>
            <a:r>
              <a:rPr lang="en-US" sz="3000">
                <a:solidFill>
                  <a:srgbClr val="3A3F50"/>
                </a:solidFill>
                <a:latin typeface="Be Vietnam"/>
                <a:ea typeface="Be Vietnam"/>
                <a:cs typeface="Be Vietnam"/>
                <a:sym typeface="Be Vietnam"/>
              </a:rPr>
              <a:t>          - </a:t>
            </a:r>
            <a:r>
              <a:rPr lang="en-US" sz="3000">
                <a:solidFill>
                  <a:srgbClr val="3A3F50"/>
                </a:solidFill>
                <a:latin typeface="Be Vietnam"/>
                <a:ea typeface="Be Vietnam"/>
                <a:cs typeface="Be Vietnam"/>
                <a:sym typeface="Be Vietnam"/>
              </a:rPr>
              <a:t>Có đầy đủ các thư viện/module cần thiết</a:t>
            </a:r>
          </a:p>
          <a:p>
            <a:pPr algn="just">
              <a:lnSpc>
                <a:spcPts val="4500"/>
              </a:lnSpc>
            </a:pPr>
            <a:r>
              <a:rPr lang="en-US" sz="3000">
                <a:solidFill>
                  <a:srgbClr val="3A3F50"/>
                </a:solidFill>
                <a:latin typeface="Be Vietnam"/>
                <a:ea typeface="Be Vietnam"/>
                <a:cs typeface="Be Vietnam"/>
                <a:sym typeface="Be Vietnam"/>
              </a:rPr>
              <a:t>          - </a:t>
            </a:r>
            <a:r>
              <a:rPr lang="en-US" sz="3000">
                <a:solidFill>
                  <a:srgbClr val="3A3F50"/>
                </a:solidFill>
                <a:latin typeface="Be Vietnam"/>
                <a:ea typeface="Be Vietnam"/>
                <a:cs typeface="Be Vietnam"/>
                <a:sym typeface="Be Vietnam"/>
              </a:rPr>
              <a:t>Đảm bảo về tính bảo mật </a:t>
            </a:r>
          </a:p>
          <a:p>
            <a:pPr algn="just">
              <a:lnSpc>
                <a:spcPts val="2303"/>
              </a:lnSpc>
            </a:pPr>
          </a:p>
          <a:p>
            <a:pPr algn="just">
              <a:lnSpc>
                <a:spcPts val="2303"/>
              </a:lnSpc>
            </a:pPr>
          </a:p>
          <a:p>
            <a:pPr algn="just">
              <a:lnSpc>
                <a:spcPts val="2303"/>
              </a:lnSpc>
            </a:pPr>
          </a:p>
          <a:p>
            <a:pPr algn="just">
              <a:lnSpc>
                <a:spcPts val="2303"/>
              </a:lnSpc>
            </a:pPr>
          </a:p>
          <a:p>
            <a:pPr algn="just">
              <a:lnSpc>
                <a:spcPts val="2303"/>
              </a:lnSpc>
            </a:pPr>
          </a:p>
          <a:p>
            <a:pPr algn="just">
              <a:lnSpc>
                <a:spcPts val="2303"/>
              </a:lnSpc>
            </a:pPr>
          </a:p>
          <a:p>
            <a:pPr algn="just">
              <a:lnSpc>
                <a:spcPts val="2303"/>
              </a:lnSpc>
            </a:pPr>
          </a:p>
          <a:p>
            <a:pPr algn="just">
              <a:lnSpc>
                <a:spcPts val="2303"/>
              </a:lnSpc>
            </a:pPr>
          </a:p>
        </p:txBody>
      </p:sp>
      <p:sp>
        <p:nvSpPr>
          <p:cNvPr name="TextBox 8" id="8"/>
          <p:cNvSpPr txBox="true"/>
          <p:nvPr/>
        </p:nvSpPr>
        <p:spPr>
          <a:xfrm rot="0">
            <a:off x="812681" y="1276785"/>
            <a:ext cx="15830552" cy="908739"/>
          </a:xfrm>
          <a:prstGeom prst="rect">
            <a:avLst/>
          </a:prstGeom>
        </p:spPr>
        <p:txBody>
          <a:bodyPr anchor="t" rtlCol="false" tIns="0" lIns="0" bIns="0" rIns="0">
            <a:spAutoFit/>
          </a:bodyPr>
          <a:lstStyle/>
          <a:p>
            <a:pPr algn="l">
              <a:lnSpc>
                <a:spcPts val="6719"/>
              </a:lnSpc>
            </a:pPr>
            <a:r>
              <a:rPr lang="en-US" b="true" sz="6999">
                <a:solidFill>
                  <a:srgbClr val="007BB9"/>
                </a:solidFill>
                <a:latin typeface="Be Vietnam Medium"/>
                <a:ea typeface="Be Vietnam Medium"/>
                <a:cs typeface="Be Vietnam Medium"/>
                <a:sym typeface="Be Vietnam Medium"/>
              </a:rPr>
              <a:t>2.2 Ngôn ngữ lập trình, Framework</a:t>
            </a:r>
          </a:p>
        </p:txBody>
      </p:sp>
      <p:sp>
        <p:nvSpPr>
          <p:cNvPr name="TextBox 9" id="9"/>
          <p:cNvSpPr txBox="true"/>
          <p:nvPr/>
        </p:nvSpPr>
        <p:spPr>
          <a:xfrm rot="0">
            <a:off x="17259300" y="10384025"/>
            <a:ext cx="913800" cy="371475"/>
          </a:xfrm>
          <a:prstGeom prst="rect">
            <a:avLst/>
          </a:prstGeom>
        </p:spPr>
        <p:txBody>
          <a:bodyPr anchor="t" rtlCol="false" tIns="0" lIns="0" bIns="0" rIns="0">
            <a:spAutoFit/>
          </a:bodyPr>
          <a:lstStyle/>
          <a:p>
            <a:pPr algn="r">
              <a:lnSpc>
                <a:spcPts val="2879"/>
              </a:lnSpc>
            </a:pPr>
            <a:r>
              <a:rPr lang="en-US" sz="2400">
                <a:solidFill>
                  <a:srgbClr val="FFFFFF"/>
                </a:solidFill>
                <a:latin typeface="Barlow Light"/>
                <a:ea typeface="Barlow Light"/>
                <a:cs typeface="Barlow Light"/>
                <a:sym typeface="Barlow Light"/>
              </a:rPr>
              <a:t>10</a:t>
            </a:r>
          </a:p>
        </p:txBody>
      </p:sp>
      <p:sp>
        <p:nvSpPr>
          <p:cNvPr name="TextBox 10" id="10"/>
          <p:cNvSpPr txBox="true"/>
          <p:nvPr/>
        </p:nvSpPr>
        <p:spPr>
          <a:xfrm rot="0">
            <a:off x="812681" y="2417597"/>
            <a:ext cx="8115300" cy="657225"/>
          </a:xfrm>
          <a:prstGeom prst="rect">
            <a:avLst/>
          </a:prstGeom>
        </p:spPr>
        <p:txBody>
          <a:bodyPr anchor="t" rtlCol="false" tIns="0" lIns="0" bIns="0" rIns="0">
            <a:spAutoFit/>
          </a:bodyPr>
          <a:lstStyle/>
          <a:p>
            <a:pPr algn="l">
              <a:lnSpc>
                <a:spcPts val="4800"/>
              </a:lnSpc>
            </a:pPr>
            <a:r>
              <a:rPr lang="en-US" sz="5000">
                <a:solidFill>
                  <a:srgbClr val="007BB9"/>
                </a:solidFill>
                <a:latin typeface="Be Vietnam"/>
                <a:ea typeface="Be Vietnam"/>
                <a:cs typeface="Be Vietnam"/>
                <a:sym typeface="Be Vietnam"/>
              </a:rPr>
              <a:t>Django</a:t>
            </a:r>
          </a:p>
        </p:txBody>
      </p:sp>
      <p:sp>
        <p:nvSpPr>
          <p:cNvPr name="TextBox 11" id="11"/>
          <p:cNvSpPr txBox="true"/>
          <p:nvPr/>
        </p:nvSpPr>
        <p:spPr>
          <a:xfrm rot="0">
            <a:off x="17861553" y="9808775"/>
            <a:ext cx="311547" cy="428559"/>
          </a:xfrm>
          <a:prstGeom prst="rect">
            <a:avLst/>
          </a:prstGeom>
        </p:spPr>
        <p:txBody>
          <a:bodyPr anchor="t" rtlCol="false" tIns="0" lIns="0" bIns="0" rIns="0">
            <a:spAutoFit/>
          </a:bodyPr>
          <a:lstStyle/>
          <a:p>
            <a:pPr algn="r">
              <a:lnSpc>
                <a:spcPts val="3359"/>
              </a:lnSpc>
            </a:pPr>
            <a:r>
              <a:rPr lang="en-US" sz="2799">
                <a:solidFill>
                  <a:srgbClr val="FFFFFF"/>
                </a:solidFill>
                <a:latin typeface="Barlow Light"/>
                <a:ea typeface="Barlow Light"/>
                <a:cs typeface="Barlow Light"/>
                <a:sym typeface="Barlow Light"/>
              </a:rPr>
              <a:t>12</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0">
            <a:off x="17373600" y="9349700"/>
            <a:ext cx="937200" cy="937200"/>
            <a:chOff x="0" y="0"/>
            <a:chExt cx="1249600" cy="1249600"/>
          </a:xfrm>
        </p:grpSpPr>
        <p:sp>
          <p:nvSpPr>
            <p:cNvPr name="Freeform 3" id="3"/>
            <p:cNvSpPr/>
            <p:nvPr/>
          </p:nvSpPr>
          <p:spPr>
            <a:xfrm flipH="false" flipV="false" rot="0">
              <a:off x="0" y="0"/>
              <a:ext cx="1249553" cy="1249553"/>
            </a:xfrm>
            <a:custGeom>
              <a:avLst/>
              <a:gdLst/>
              <a:ahLst/>
              <a:cxnLst/>
              <a:rect r="r" b="b" t="t" l="l"/>
              <a:pathLst>
                <a:path h="1249553" w="1249553">
                  <a:moveTo>
                    <a:pt x="1249553" y="1249553"/>
                  </a:moveTo>
                  <a:lnTo>
                    <a:pt x="1249553" y="0"/>
                  </a:lnTo>
                  <a:lnTo>
                    <a:pt x="0" y="1249553"/>
                  </a:lnTo>
                  <a:close/>
                </a:path>
              </a:pathLst>
            </a:custGeom>
            <a:solidFill>
              <a:srgbClr val="00B5DD"/>
            </a:solidFill>
          </p:spPr>
        </p:sp>
      </p:grpSp>
      <p:grpSp>
        <p:nvGrpSpPr>
          <p:cNvPr name="Group 4" id="4"/>
          <p:cNvGrpSpPr/>
          <p:nvPr/>
        </p:nvGrpSpPr>
        <p:grpSpPr>
          <a:xfrm rot="5400000">
            <a:off x="-200700" y="1448970"/>
            <a:ext cx="937200" cy="535800"/>
            <a:chOff x="0" y="0"/>
            <a:chExt cx="1249600" cy="714400"/>
          </a:xfrm>
        </p:grpSpPr>
        <p:sp>
          <p:nvSpPr>
            <p:cNvPr name="Freeform 5" id="5"/>
            <p:cNvSpPr/>
            <p:nvPr/>
          </p:nvSpPr>
          <p:spPr>
            <a:xfrm flipH="false" flipV="false" rot="0">
              <a:off x="0" y="0"/>
              <a:ext cx="1249680" cy="714375"/>
            </a:xfrm>
            <a:custGeom>
              <a:avLst/>
              <a:gdLst/>
              <a:ahLst/>
              <a:cxnLst/>
              <a:rect r="r" b="b" t="t" l="l"/>
              <a:pathLst>
                <a:path h="714375" w="1249680">
                  <a:moveTo>
                    <a:pt x="0" y="714375"/>
                  </a:moveTo>
                  <a:lnTo>
                    <a:pt x="624840" y="0"/>
                  </a:lnTo>
                  <a:lnTo>
                    <a:pt x="1249680" y="714375"/>
                  </a:lnTo>
                  <a:close/>
                </a:path>
              </a:pathLst>
            </a:custGeom>
            <a:solidFill>
              <a:srgbClr val="00B5DD"/>
            </a:solidFill>
          </p:spPr>
        </p:sp>
      </p:grpSp>
      <p:sp>
        <p:nvSpPr>
          <p:cNvPr name="Freeform 6" id="6"/>
          <p:cNvSpPr/>
          <p:nvPr/>
        </p:nvSpPr>
        <p:spPr>
          <a:xfrm flipH="false" flipV="false" rot="0">
            <a:off x="535800" y="3464168"/>
            <a:ext cx="7092472" cy="4619340"/>
          </a:xfrm>
          <a:custGeom>
            <a:avLst/>
            <a:gdLst/>
            <a:ahLst/>
            <a:cxnLst/>
            <a:rect r="r" b="b" t="t" l="l"/>
            <a:pathLst>
              <a:path h="4619340" w="7092472">
                <a:moveTo>
                  <a:pt x="0" y="0"/>
                </a:moveTo>
                <a:lnTo>
                  <a:pt x="7092472" y="0"/>
                </a:lnTo>
                <a:lnTo>
                  <a:pt x="7092472" y="4619339"/>
                </a:lnTo>
                <a:lnTo>
                  <a:pt x="0" y="4619339"/>
                </a:lnTo>
                <a:lnTo>
                  <a:pt x="0" y="0"/>
                </a:lnTo>
                <a:close/>
              </a:path>
            </a:pathLst>
          </a:custGeom>
          <a:blipFill>
            <a:blip r:embed="rId3"/>
            <a:stretch>
              <a:fillRect l="-7893" t="0" r="-7893" b="0"/>
            </a:stretch>
          </a:blipFill>
        </p:spPr>
      </p:sp>
      <p:sp>
        <p:nvSpPr>
          <p:cNvPr name="TextBox 7" id="7"/>
          <p:cNvSpPr txBox="true"/>
          <p:nvPr/>
        </p:nvSpPr>
        <p:spPr>
          <a:xfrm rot="0">
            <a:off x="7628272" y="2979627"/>
            <a:ext cx="10087928" cy="11410950"/>
          </a:xfrm>
          <a:prstGeom prst="rect">
            <a:avLst/>
          </a:prstGeom>
        </p:spPr>
        <p:txBody>
          <a:bodyPr anchor="t" rtlCol="false" tIns="0" lIns="0" bIns="0" rIns="0">
            <a:spAutoFit/>
          </a:bodyPr>
          <a:lstStyle/>
          <a:p>
            <a:pPr algn="just" marL="914019" indent="-457010" lvl="1">
              <a:lnSpc>
                <a:spcPts val="4500"/>
              </a:lnSpc>
              <a:buFont typeface="Arial"/>
              <a:buChar char="•"/>
            </a:pPr>
            <a:r>
              <a:rPr lang="en-US" sz="3000">
                <a:solidFill>
                  <a:srgbClr val="3A3F50"/>
                </a:solidFill>
                <a:latin typeface="Be Vietnam"/>
                <a:ea typeface="Be Vietnam"/>
                <a:cs typeface="Be Vietnam"/>
                <a:sym typeface="Be Vietnam"/>
              </a:rPr>
              <a:t>Tailwind CSS là một framework CSS mã nguồn mở theo phong cách utility-first, được thiết kế để giúp việc xây dựng giao diện người dùng trở nên nhanh chóng, cung cấp một tập hợp class tiện ích (utility classes) rất phong phú, cho phép tùy chỉnh từng phần của giao diện ngay trong HTML.</a:t>
            </a:r>
          </a:p>
          <a:p>
            <a:pPr algn="just" marL="914019" indent="-457010" lvl="1">
              <a:lnSpc>
                <a:spcPts val="4500"/>
              </a:lnSpc>
              <a:buFont typeface="Arial"/>
              <a:buChar char="•"/>
            </a:pPr>
            <a:r>
              <a:rPr lang="en-US" sz="3000">
                <a:solidFill>
                  <a:srgbClr val="3A3F50"/>
                </a:solidFill>
                <a:latin typeface="Be Vietnam"/>
                <a:ea typeface="Be Vietnam"/>
                <a:cs typeface="Be Vietnam"/>
                <a:sym typeface="Be Vietnam"/>
              </a:rPr>
              <a:t>Ưu điểm:</a:t>
            </a:r>
          </a:p>
          <a:p>
            <a:pPr algn="just">
              <a:lnSpc>
                <a:spcPts val="4500"/>
              </a:lnSpc>
            </a:pPr>
            <a:r>
              <a:rPr lang="en-US" sz="3000">
                <a:solidFill>
                  <a:srgbClr val="3A3F50"/>
                </a:solidFill>
                <a:latin typeface="Be Vietnam"/>
                <a:ea typeface="Be Vietnam"/>
                <a:cs typeface="Be Vietnam"/>
                <a:sym typeface="Be Vietnam"/>
              </a:rPr>
              <a:t>           - </a:t>
            </a:r>
            <a:r>
              <a:rPr lang="en-US" sz="3000">
                <a:solidFill>
                  <a:srgbClr val="3A3F50"/>
                </a:solidFill>
                <a:latin typeface="Be Vietnam"/>
                <a:ea typeface="Be Vietnam"/>
                <a:cs typeface="Be Vietnam"/>
                <a:sym typeface="Be Vietnam"/>
              </a:rPr>
              <a:t>Utility-first</a:t>
            </a:r>
          </a:p>
          <a:p>
            <a:pPr algn="just">
              <a:lnSpc>
                <a:spcPts val="4500"/>
              </a:lnSpc>
            </a:pPr>
            <a:r>
              <a:rPr lang="en-US" sz="3000">
                <a:solidFill>
                  <a:srgbClr val="3A3F50"/>
                </a:solidFill>
                <a:latin typeface="Be Vietnam"/>
                <a:ea typeface="Be Vietnam"/>
                <a:cs typeface="Be Vietnam"/>
                <a:sym typeface="Be Vietnam"/>
              </a:rPr>
              <a:t>           - </a:t>
            </a:r>
            <a:r>
              <a:rPr lang="en-US" sz="3000">
                <a:solidFill>
                  <a:srgbClr val="3A3F50"/>
                </a:solidFill>
                <a:latin typeface="Be Vietnam"/>
                <a:ea typeface="Be Vietnam"/>
                <a:cs typeface="Be Vietnam"/>
                <a:sym typeface="Be Vietnam"/>
              </a:rPr>
              <a:t>Tính tùy biến cao</a:t>
            </a:r>
          </a:p>
          <a:p>
            <a:pPr algn="just">
              <a:lnSpc>
                <a:spcPts val="4500"/>
              </a:lnSpc>
            </a:pPr>
            <a:r>
              <a:rPr lang="en-US" sz="3000">
                <a:solidFill>
                  <a:srgbClr val="00B5DD"/>
                </a:solidFill>
                <a:latin typeface="Be Vietnam"/>
                <a:ea typeface="Be Vietnam"/>
                <a:cs typeface="Be Vietnam"/>
                <a:sym typeface="Be Vietnam"/>
              </a:rPr>
              <a:t>           </a:t>
            </a:r>
            <a:r>
              <a:rPr lang="en-US" sz="3000">
                <a:solidFill>
                  <a:srgbClr val="3A3F50"/>
                </a:solidFill>
                <a:latin typeface="Be Vietnam"/>
                <a:ea typeface="Be Vietnam"/>
                <a:cs typeface="Be Vietnam"/>
                <a:sym typeface="Be Vietnam"/>
              </a:rPr>
              <a:t>-</a:t>
            </a:r>
            <a:r>
              <a:rPr lang="en-US" sz="3000">
                <a:solidFill>
                  <a:srgbClr val="00B5DD"/>
                </a:solidFill>
                <a:latin typeface="Be Vietnam"/>
                <a:ea typeface="Be Vietnam"/>
                <a:cs typeface="Be Vietnam"/>
                <a:sym typeface="Be Vietnam"/>
              </a:rPr>
              <a:t> </a:t>
            </a:r>
            <a:r>
              <a:rPr lang="en-US" sz="3000">
                <a:solidFill>
                  <a:srgbClr val="3A3F50"/>
                </a:solidFill>
                <a:latin typeface="Be Vietnam"/>
                <a:ea typeface="Be Vietnam"/>
                <a:cs typeface="Be Vietnam"/>
                <a:sym typeface="Be Vietnam"/>
              </a:rPr>
              <a:t>Responsive Design</a:t>
            </a:r>
          </a:p>
          <a:p>
            <a:pPr algn="just">
              <a:lnSpc>
                <a:spcPts val="4500"/>
              </a:lnSpc>
            </a:pPr>
          </a:p>
          <a:p>
            <a:pPr algn="just">
              <a:lnSpc>
                <a:spcPts val="4500"/>
              </a:lnSpc>
            </a:pPr>
          </a:p>
          <a:p>
            <a:pPr algn="just">
              <a:lnSpc>
                <a:spcPts val="4500"/>
              </a:lnSpc>
            </a:pPr>
          </a:p>
          <a:p>
            <a:pPr algn="just">
              <a:lnSpc>
                <a:spcPts val="4500"/>
              </a:lnSpc>
            </a:pPr>
          </a:p>
          <a:p>
            <a:pPr algn="just">
              <a:lnSpc>
                <a:spcPts val="4500"/>
              </a:lnSpc>
            </a:pPr>
          </a:p>
          <a:p>
            <a:pPr algn="just">
              <a:lnSpc>
                <a:spcPts val="4500"/>
              </a:lnSpc>
            </a:pPr>
          </a:p>
          <a:p>
            <a:pPr algn="just">
              <a:lnSpc>
                <a:spcPts val="4500"/>
              </a:lnSpc>
            </a:pPr>
          </a:p>
          <a:p>
            <a:pPr algn="just">
              <a:lnSpc>
                <a:spcPts val="4500"/>
              </a:lnSpc>
            </a:pPr>
          </a:p>
          <a:p>
            <a:pPr algn="just">
              <a:lnSpc>
                <a:spcPts val="4500"/>
              </a:lnSpc>
            </a:pPr>
          </a:p>
          <a:p>
            <a:pPr algn="just">
              <a:lnSpc>
                <a:spcPts val="4500"/>
              </a:lnSpc>
            </a:pPr>
          </a:p>
        </p:txBody>
      </p:sp>
      <p:sp>
        <p:nvSpPr>
          <p:cNvPr name="TextBox 8" id="8"/>
          <p:cNvSpPr txBox="true"/>
          <p:nvPr/>
        </p:nvSpPr>
        <p:spPr>
          <a:xfrm rot="0">
            <a:off x="812681" y="1276785"/>
            <a:ext cx="15830552" cy="908739"/>
          </a:xfrm>
          <a:prstGeom prst="rect">
            <a:avLst/>
          </a:prstGeom>
        </p:spPr>
        <p:txBody>
          <a:bodyPr anchor="t" rtlCol="false" tIns="0" lIns="0" bIns="0" rIns="0">
            <a:spAutoFit/>
          </a:bodyPr>
          <a:lstStyle/>
          <a:p>
            <a:pPr algn="l">
              <a:lnSpc>
                <a:spcPts val="6719"/>
              </a:lnSpc>
            </a:pPr>
            <a:r>
              <a:rPr lang="en-US" b="true" sz="6999">
                <a:solidFill>
                  <a:srgbClr val="007BB9"/>
                </a:solidFill>
                <a:latin typeface="Be Vietnam Medium"/>
                <a:ea typeface="Be Vietnam Medium"/>
                <a:cs typeface="Be Vietnam Medium"/>
                <a:sym typeface="Be Vietnam Medium"/>
              </a:rPr>
              <a:t>2.2 Ngôn ngữ lập trình, Framework</a:t>
            </a:r>
          </a:p>
        </p:txBody>
      </p:sp>
      <p:sp>
        <p:nvSpPr>
          <p:cNvPr name="TextBox 9" id="9"/>
          <p:cNvSpPr txBox="true"/>
          <p:nvPr/>
        </p:nvSpPr>
        <p:spPr>
          <a:xfrm rot="0">
            <a:off x="17259300" y="10384025"/>
            <a:ext cx="913800" cy="371475"/>
          </a:xfrm>
          <a:prstGeom prst="rect">
            <a:avLst/>
          </a:prstGeom>
        </p:spPr>
        <p:txBody>
          <a:bodyPr anchor="t" rtlCol="false" tIns="0" lIns="0" bIns="0" rIns="0">
            <a:spAutoFit/>
          </a:bodyPr>
          <a:lstStyle/>
          <a:p>
            <a:pPr algn="r">
              <a:lnSpc>
                <a:spcPts val="2879"/>
              </a:lnSpc>
            </a:pPr>
            <a:r>
              <a:rPr lang="en-US" sz="2400">
                <a:solidFill>
                  <a:srgbClr val="FFFFFF"/>
                </a:solidFill>
                <a:latin typeface="Barlow Light"/>
                <a:ea typeface="Barlow Light"/>
                <a:cs typeface="Barlow Light"/>
                <a:sym typeface="Barlow Light"/>
              </a:rPr>
              <a:t>10</a:t>
            </a:r>
          </a:p>
        </p:txBody>
      </p:sp>
      <p:sp>
        <p:nvSpPr>
          <p:cNvPr name="TextBox 10" id="10"/>
          <p:cNvSpPr txBox="true"/>
          <p:nvPr/>
        </p:nvSpPr>
        <p:spPr>
          <a:xfrm rot="0">
            <a:off x="812681" y="2417597"/>
            <a:ext cx="8115300" cy="657279"/>
          </a:xfrm>
          <a:prstGeom prst="rect">
            <a:avLst/>
          </a:prstGeom>
        </p:spPr>
        <p:txBody>
          <a:bodyPr anchor="t" rtlCol="false" tIns="0" lIns="0" bIns="0" rIns="0">
            <a:spAutoFit/>
          </a:bodyPr>
          <a:lstStyle/>
          <a:p>
            <a:pPr algn="l">
              <a:lnSpc>
                <a:spcPts val="4800"/>
              </a:lnSpc>
            </a:pPr>
            <a:r>
              <a:rPr lang="en-US" sz="5000">
                <a:solidFill>
                  <a:srgbClr val="007BB9"/>
                </a:solidFill>
                <a:latin typeface="Be Vietnam"/>
                <a:ea typeface="Be Vietnam"/>
                <a:cs typeface="Be Vietnam"/>
                <a:sym typeface="Be Vietnam"/>
              </a:rPr>
              <a:t>TAILWIND CSS</a:t>
            </a:r>
          </a:p>
        </p:txBody>
      </p:sp>
      <p:sp>
        <p:nvSpPr>
          <p:cNvPr name="TextBox 11" id="11"/>
          <p:cNvSpPr txBox="true"/>
          <p:nvPr/>
        </p:nvSpPr>
        <p:spPr>
          <a:xfrm rot="0">
            <a:off x="17842200" y="9808775"/>
            <a:ext cx="304105" cy="428559"/>
          </a:xfrm>
          <a:prstGeom prst="rect">
            <a:avLst/>
          </a:prstGeom>
        </p:spPr>
        <p:txBody>
          <a:bodyPr anchor="t" rtlCol="false" tIns="0" lIns="0" bIns="0" rIns="0">
            <a:spAutoFit/>
          </a:bodyPr>
          <a:lstStyle/>
          <a:p>
            <a:pPr algn="r">
              <a:lnSpc>
                <a:spcPts val="3359"/>
              </a:lnSpc>
            </a:pPr>
            <a:r>
              <a:rPr lang="en-US" sz="2799">
                <a:solidFill>
                  <a:srgbClr val="FFFFFF"/>
                </a:solidFill>
                <a:latin typeface="Barlow Light"/>
                <a:ea typeface="Barlow Light"/>
                <a:cs typeface="Barlow Light"/>
                <a:sym typeface="Barlow Light"/>
              </a:rPr>
              <a:t>13</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0">
            <a:off x="17373600" y="9349700"/>
            <a:ext cx="937200" cy="937200"/>
            <a:chOff x="0" y="0"/>
            <a:chExt cx="1249600" cy="1249600"/>
          </a:xfrm>
        </p:grpSpPr>
        <p:sp>
          <p:nvSpPr>
            <p:cNvPr name="Freeform 3" id="3"/>
            <p:cNvSpPr/>
            <p:nvPr/>
          </p:nvSpPr>
          <p:spPr>
            <a:xfrm flipH="false" flipV="false" rot="0">
              <a:off x="0" y="0"/>
              <a:ext cx="1249553" cy="1249553"/>
            </a:xfrm>
            <a:custGeom>
              <a:avLst/>
              <a:gdLst/>
              <a:ahLst/>
              <a:cxnLst/>
              <a:rect r="r" b="b" t="t" l="l"/>
              <a:pathLst>
                <a:path h="1249553" w="1249553">
                  <a:moveTo>
                    <a:pt x="1249553" y="1249553"/>
                  </a:moveTo>
                  <a:lnTo>
                    <a:pt x="1249553" y="0"/>
                  </a:lnTo>
                  <a:lnTo>
                    <a:pt x="0" y="1249553"/>
                  </a:lnTo>
                  <a:close/>
                </a:path>
              </a:pathLst>
            </a:custGeom>
            <a:solidFill>
              <a:srgbClr val="00B5DD"/>
            </a:solidFill>
          </p:spPr>
        </p:sp>
      </p:grpSp>
      <p:grpSp>
        <p:nvGrpSpPr>
          <p:cNvPr name="Group 4" id="4"/>
          <p:cNvGrpSpPr/>
          <p:nvPr/>
        </p:nvGrpSpPr>
        <p:grpSpPr>
          <a:xfrm rot="5400000">
            <a:off x="-200700" y="1448970"/>
            <a:ext cx="937200" cy="535800"/>
            <a:chOff x="0" y="0"/>
            <a:chExt cx="1249600" cy="714400"/>
          </a:xfrm>
        </p:grpSpPr>
        <p:sp>
          <p:nvSpPr>
            <p:cNvPr name="Freeform 5" id="5"/>
            <p:cNvSpPr/>
            <p:nvPr/>
          </p:nvSpPr>
          <p:spPr>
            <a:xfrm flipH="false" flipV="false" rot="0">
              <a:off x="0" y="0"/>
              <a:ext cx="1249680" cy="714375"/>
            </a:xfrm>
            <a:custGeom>
              <a:avLst/>
              <a:gdLst/>
              <a:ahLst/>
              <a:cxnLst/>
              <a:rect r="r" b="b" t="t" l="l"/>
              <a:pathLst>
                <a:path h="714375" w="1249680">
                  <a:moveTo>
                    <a:pt x="0" y="714375"/>
                  </a:moveTo>
                  <a:lnTo>
                    <a:pt x="624840" y="0"/>
                  </a:lnTo>
                  <a:lnTo>
                    <a:pt x="1249680" y="714375"/>
                  </a:lnTo>
                  <a:close/>
                </a:path>
              </a:pathLst>
            </a:custGeom>
            <a:solidFill>
              <a:srgbClr val="00B5DD"/>
            </a:solidFill>
          </p:spPr>
        </p:sp>
      </p:grpSp>
      <p:sp>
        <p:nvSpPr>
          <p:cNvPr name="Freeform 6" id="6"/>
          <p:cNvSpPr/>
          <p:nvPr/>
        </p:nvSpPr>
        <p:spPr>
          <a:xfrm flipH="false" flipV="false" rot="0">
            <a:off x="11741814" y="4629038"/>
            <a:ext cx="5631786" cy="5174204"/>
          </a:xfrm>
          <a:custGeom>
            <a:avLst/>
            <a:gdLst/>
            <a:ahLst/>
            <a:cxnLst/>
            <a:rect r="r" b="b" t="t" l="l"/>
            <a:pathLst>
              <a:path h="5174204" w="5631786">
                <a:moveTo>
                  <a:pt x="0" y="0"/>
                </a:moveTo>
                <a:lnTo>
                  <a:pt x="5631786" y="0"/>
                </a:lnTo>
                <a:lnTo>
                  <a:pt x="5631786" y="5174204"/>
                </a:lnTo>
                <a:lnTo>
                  <a:pt x="0" y="51742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812681" y="1276785"/>
            <a:ext cx="15830552" cy="908685"/>
          </a:xfrm>
          <a:prstGeom prst="rect">
            <a:avLst/>
          </a:prstGeom>
        </p:spPr>
        <p:txBody>
          <a:bodyPr anchor="t" rtlCol="false" tIns="0" lIns="0" bIns="0" rIns="0">
            <a:spAutoFit/>
          </a:bodyPr>
          <a:lstStyle/>
          <a:p>
            <a:pPr algn="l">
              <a:lnSpc>
                <a:spcPts val="6719"/>
              </a:lnSpc>
            </a:pPr>
            <a:r>
              <a:rPr lang="en-US" b="true" sz="6999">
                <a:solidFill>
                  <a:srgbClr val="007BB9"/>
                </a:solidFill>
                <a:latin typeface="Be Vietnam Medium"/>
                <a:ea typeface="Be Vietnam Medium"/>
                <a:cs typeface="Be Vietnam Medium"/>
                <a:sym typeface="Be Vietnam Medium"/>
              </a:rPr>
              <a:t>2.3 Tổng quan về phân tích dữ liệu</a:t>
            </a:r>
          </a:p>
        </p:txBody>
      </p:sp>
      <p:sp>
        <p:nvSpPr>
          <p:cNvPr name="TextBox 8" id="8"/>
          <p:cNvSpPr txBox="true"/>
          <p:nvPr/>
        </p:nvSpPr>
        <p:spPr>
          <a:xfrm rot="0">
            <a:off x="17259300" y="10384025"/>
            <a:ext cx="913800" cy="371475"/>
          </a:xfrm>
          <a:prstGeom prst="rect">
            <a:avLst/>
          </a:prstGeom>
        </p:spPr>
        <p:txBody>
          <a:bodyPr anchor="t" rtlCol="false" tIns="0" lIns="0" bIns="0" rIns="0">
            <a:spAutoFit/>
          </a:bodyPr>
          <a:lstStyle/>
          <a:p>
            <a:pPr algn="r">
              <a:lnSpc>
                <a:spcPts val="2879"/>
              </a:lnSpc>
            </a:pPr>
            <a:r>
              <a:rPr lang="en-US" sz="2400">
                <a:solidFill>
                  <a:srgbClr val="FFFFFF"/>
                </a:solidFill>
                <a:latin typeface="Barlow Light"/>
                <a:ea typeface="Barlow Light"/>
                <a:cs typeface="Barlow Light"/>
                <a:sym typeface="Barlow Light"/>
              </a:rPr>
              <a:t>10</a:t>
            </a:r>
          </a:p>
        </p:txBody>
      </p:sp>
      <p:sp>
        <p:nvSpPr>
          <p:cNvPr name="TextBox 9" id="9"/>
          <p:cNvSpPr txBox="true"/>
          <p:nvPr/>
        </p:nvSpPr>
        <p:spPr>
          <a:xfrm rot="0">
            <a:off x="812681" y="3103397"/>
            <a:ext cx="16523723" cy="3630930"/>
          </a:xfrm>
          <a:prstGeom prst="rect">
            <a:avLst/>
          </a:prstGeom>
        </p:spPr>
        <p:txBody>
          <a:bodyPr anchor="t" rtlCol="false" tIns="0" lIns="0" bIns="0" rIns="0">
            <a:spAutoFit/>
          </a:bodyPr>
          <a:lstStyle/>
          <a:p>
            <a:pPr algn="just">
              <a:lnSpc>
                <a:spcPts val="4800"/>
              </a:lnSpc>
            </a:pPr>
            <a:r>
              <a:rPr lang="en-US" sz="3200">
                <a:solidFill>
                  <a:srgbClr val="3A3F50"/>
                </a:solidFill>
                <a:latin typeface="Be Vietnam"/>
                <a:ea typeface="Be Vietnam"/>
                <a:cs typeface="Be Vietnam"/>
                <a:sym typeface="Be Vietnam"/>
              </a:rPr>
              <a:t>     Phân tích dữ liệu là quá trình thu thập, xử lý, làm sạch và kiểm tra dữ liệu thô để khám phá thông tin hữu ích, các mẫu hình và xu hướng, từ đó đưa ra kết luận và hỗ trợ việc ra quyết định. </a:t>
            </a:r>
          </a:p>
          <a:p>
            <a:pPr algn="just">
              <a:lnSpc>
                <a:spcPts val="4800"/>
              </a:lnSpc>
            </a:pPr>
          </a:p>
          <a:p>
            <a:pPr algn="just">
              <a:lnSpc>
                <a:spcPts val="4800"/>
              </a:lnSpc>
            </a:pPr>
          </a:p>
          <a:p>
            <a:pPr algn="just">
              <a:lnSpc>
                <a:spcPts val="4800"/>
              </a:lnSpc>
            </a:pPr>
          </a:p>
        </p:txBody>
      </p:sp>
      <p:sp>
        <p:nvSpPr>
          <p:cNvPr name="TextBox 10" id="10"/>
          <p:cNvSpPr txBox="true"/>
          <p:nvPr/>
        </p:nvSpPr>
        <p:spPr>
          <a:xfrm rot="0">
            <a:off x="812681" y="2417597"/>
            <a:ext cx="8115300" cy="657225"/>
          </a:xfrm>
          <a:prstGeom prst="rect">
            <a:avLst/>
          </a:prstGeom>
        </p:spPr>
        <p:txBody>
          <a:bodyPr anchor="t" rtlCol="false" tIns="0" lIns="0" bIns="0" rIns="0">
            <a:spAutoFit/>
          </a:bodyPr>
          <a:lstStyle/>
          <a:p>
            <a:pPr algn="l">
              <a:lnSpc>
                <a:spcPts val="4800"/>
              </a:lnSpc>
            </a:pPr>
            <a:r>
              <a:rPr lang="en-US" b="true" sz="5000">
                <a:solidFill>
                  <a:srgbClr val="007BB9"/>
                </a:solidFill>
                <a:latin typeface="Be Vietnam Medium"/>
                <a:ea typeface="Be Vietnam Medium"/>
                <a:cs typeface="Be Vietnam Medium"/>
                <a:sym typeface="Be Vietnam Medium"/>
              </a:rPr>
              <a:t>Khái niệm:</a:t>
            </a:r>
          </a:p>
        </p:txBody>
      </p:sp>
      <p:sp>
        <p:nvSpPr>
          <p:cNvPr name="TextBox 11" id="11"/>
          <p:cNvSpPr txBox="true"/>
          <p:nvPr/>
        </p:nvSpPr>
        <p:spPr>
          <a:xfrm rot="0">
            <a:off x="17859073" y="9808775"/>
            <a:ext cx="314027" cy="428559"/>
          </a:xfrm>
          <a:prstGeom prst="rect">
            <a:avLst/>
          </a:prstGeom>
        </p:spPr>
        <p:txBody>
          <a:bodyPr anchor="t" rtlCol="false" tIns="0" lIns="0" bIns="0" rIns="0">
            <a:spAutoFit/>
          </a:bodyPr>
          <a:lstStyle/>
          <a:p>
            <a:pPr algn="r">
              <a:lnSpc>
                <a:spcPts val="3359"/>
              </a:lnSpc>
            </a:pPr>
            <a:r>
              <a:rPr lang="en-US" sz="2799">
                <a:solidFill>
                  <a:srgbClr val="FFFFFF"/>
                </a:solidFill>
                <a:latin typeface="Barlow Light"/>
                <a:ea typeface="Barlow Light"/>
                <a:cs typeface="Barlow Light"/>
                <a:sym typeface="Barlow Light"/>
              </a:rPr>
              <a:t>14</a:t>
            </a:r>
          </a:p>
        </p:txBody>
      </p:sp>
      <p:sp>
        <p:nvSpPr>
          <p:cNvPr name="TextBox 12" id="12"/>
          <p:cNvSpPr txBox="true"/>
          <p:nvPr/>
        </p:nvSpPr>
        <p:spPr>
          <a:xfrm rot="0">
            <a:off x="784039" y="5048250"/>
            <a:ext cx="10709536" cy="4240530"/>
          </a:xfrm>
          <a:prstGeom prst="rect">
            <a:avLst/>
          </a:prstGeom>
        </p:spPr>
        <p:txBody>
          <a:bodyPr anchor="t" rtlCol="false" tIns="0" lIns="0" bIns="0" rIns="0">
            <a:spAutoFit/>
          </a:bodyPr>
          <a:lstStyle/>
          <a:p>
            <a:pPr algn="just">
              <a:lnSpc>
                <a:spcPts val="4800"/>
              </a:lnSpc>
            </a:pPr>
            <a:r>
              <a:rPr lang="en-US" sz="3200">
                <a:solidFill>
                  <a:srgbClr val="3A3F50"/>
                </a:solidFill>
                <a:latin typeface="Be Vietnam"/>
                <a:ea typeface="Be Vietnam"/>
                <a:cs typeface="Be Vietnam"/>
                <a:sym typeface="Be Vietnam"/>
              </a:rPr>
              <a:t>     Sử dụng các phương pháp thống kê và công cụ phân tích để biến dữ liệu thành kiến thức chuyên sâu, giúp tối ưu hóa quy trình, cải thiện hiệu quả kinh doanh và dự đoán xu hướng. </a:t>
            </a:r>
          </a:p>
          <a:p>
            <a:pPr algn="just">
              <a:lnSpc>
                <a:spcPts val="4800"/>
              </a:lnSpc>
            </a:pPr>
          </a:p>
          <a:p>
            <a:pPr algn="just">
              <a:lnSpc>
                <a:spcPts val="4800"/>
              </a:lnSpc>
            </a:pPr>
          </a:p>
          <a:p>
            <a:pPr algn="just">
              <a:lnSpc>
                <a:spcPts val="4800"/>
              </a:lnSpc>
            </a:pP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0">
            <a:off x="17373600" y="9349700"/>
            <a:ext cx="937200" cy="937200"/>
            <a:chOff x="0" y="0"/>
            <a:chExt cx="1249600" cy="1249600"/>
          </a:xfrm>
        </p:grpSpPr>
        <p:sp>
          <p:nvSpPr>
            <p:cNvPr name="Freeform 3" id="3"/>
            <p:cNvSpPr/>
            <p:nvPr/>
          </p:nvSpPr>
          <p:spPr>
            <a:xfrm flipH="false" flipV="false" rot="0">
              <a:off x="0" y="0"/>
              <a:ext cx="1249553" cy="1249553"/>
            </a:xfrm>
            <a:custGeom>
              <a:avLst/>
              <a:gdLst/>
              <a:ahLst/>
              <a:cxnLst/>
              <a:rect r="r" b="b" t="t" l="l"/>
              <a:pathLst>
                <a:path h="1249553" w="1249553">
                  <a:moveTo>
                    <a:pt x="1249553" y="1249553"/>
                  </a:moveTo>
                  <a:lnTo>
                    <a:pt x="1249553" y="0"/>
                  </a:lnTo>
                  <a:lnTo>
                    <a:pt x="0" y="1249553"/>
                  </a:lnTo>
                  <a:close/>
                </a:path>
              </a:pathLst>
            </a:custGeom>
            <a:solidFill>
              <a:srgbClr val="00B5DD"/>
            </a:solidFill>
          </p:spPr>
        </p:sp>
      </p:grpSp>
      <p:grpSp>
        <p:nvGrpSpPr>
          <p:cNvPr name="Group 4" id="4"/>
          <p:cNvGrpSpPr/>
          <p:nvPr/>
        </p:nvGrpSpPr>
        <p:grpSpPr>
          <a:xfrm rot="5400000">
            <a:off x="-200700" y="1448970"/>
            <a:ext cx="937200" cy="535800"/>
            <a:chOff x="0" y="0"/>
            <a:chExt cx="1249600" cy="714400"/>
          </a:xfrm>
        </p:grpSpPr>
        <p:sp>
          <p:nvSpPr>
            <p:cNvPr name="Freeform 5" id="5"/>
            <p:cNvSpPr/>
            <p:nvPr/>
          </p:nvSpPr>
          <p:spPr>
            <a:xfrm flipH="false" flipV="false" rot="0">
              <a:off x="0" y="0"/>
              <a:ext cx="1249680" cy="714375"/>
            </a:xfrm>
            <a:custGeom>
              <a:avLst/>
              <a:gdLst/>
              <a:ahLst/>
              <a:cxnLst/>
              <a:rect r="r" b="b" t="t" l="l"/>
              <a:pathLst>
                <a:path h="714375" w="1249680">
                  <a:moveTo>
                    <a:pt x="0" y="714375"/>
                  </a:moveTo>
                  <a:lnTo>
                    <a:pt x="624840" y="0"/>
                  </a:lnTo>
                  <a:lnTo>
                    <a:pt x="1249680" y="714375"/>
                  </a:lnTo>
                  <a:close/>
                </a:path>
              </a:pathLst>
            </a:custGeom>
            <a:solidFill>
              <a:srgbClr val="00B5DD"/>
            </a:solidFill>
          </p:spPr>
        </p:sp>
      </p:grpSp>
      <p:sp>
        <p:nvSpPr>
          <p:cNvPr name="TextBox 6" id="6"/>
          <p:cNvSpPr txBox="true"/>
          <p:nvPr/>
        </p:nvSpPr>
        <p:spPr>
          <a:xfrm rot="0">
            <a:off x="8283193" y="2874936"/>
            <a:ext cx="11871075" cy="7007225"/>
          </a:xfrm>
          <a:prstGeom prst="rect">
            <a:avLst/>
          </a:prstGeom>
        </p:spPr>
        <p:txBody>
          <a:bodyPr anchor="t" rtlCol="false" tIns="0" lIns="0" bIns="0" rIns="0">
            <a:spAutoFit/>
          </a:bodyPr>
          <a:lstStyle/>
          <a:p>
            <a:pPr algn="just">
              <a:lnSpc>
                <a:spcPts val="7000"/>
              </a:lnSpc>
            </a:pPr>
          </a:p>
          <a:p>
            <a:pPr algn="just" marL="755651" indent="-377825" lvl="1">
              <a:lnSpc>
                <a:spcPts val="7000"/>
              </a:lnSpc>
              <a:buFont typeface="Arial"/>
              <a:buChar char="•"/>
            </a:pPr>
            <a:r>
              <a:rPr lang="en-US" sz="3500">
                <a:solidFill>
                  <a:srgbClr val="3A3F50"/>
                </a:solidFill>
                <a:latin typeface="Be Vietnam"/>
                <a:ea typeface="Be Vietnam"/>
                <a:cs typeface="Be Vietnam"/>
                <a:sym typeface="Be Vietnam"/>
              </a:rPr>
              <a:t>Bước 1:</a:t>
            </a:r>
            <a:r>
              <a:rPr lang="en-US" sz="3500">
                <a:solidFill>
                  <a:srgbClr val="00B5DD"/>
                </a:solidFill>
                <a:latin typeface="Be Vietnam"/>
                <a:ea typeface="Be Vietnam"/>
                <a:cs typeface="Be Vietnam"/>
                <a:sym typeface="Be Vietnam"/>
              </a:rPr>
              <a:t> </a:t>
            </a:r>
            <a:r>
              <a:rPr lang="en-US" sz="3500">
                <a:solidFill>
                  <a:srgbClr val="3A3F50"/>
                </a:solidFill>
                <a:latin typeface="Be Vietnam"/>
                <a:ea typeface="Be Vietnam"/>
                <a:cs typeface="Be Vietnam"/>
                <a:sym typeface="Be Vietnam"/>
              </a:rPr>
              <a:t>Thu thập dữ liệu</a:t>
            </a:r>
          </a:p>
          <a:p>
            <a:pPr algn="just" marL="755651" indent="-377825" lvl="1">
              <a:lnSpc>
                <a:spcPts val="7000"/>
              </a:lnSpc>
              <a:buFont typeface="Arial"/>
              <a:buChar char="•"/>
            </a:pPr>
            <a:r>
              <a:rPr lang="en-US" sz="3500">
                <a:solidFill>
                  <a:srgbClr val="3A3F50"/>
                </a:solidFill>
                <a:latin typeface="Be Vietnam"/>
                <a:ea typeface="Be Vietnam"/>
                <a:cs typeface="Be Vietnam"/>
                <a:sym typeface="Be Vietnam"/>
              </a:rPr>
              <a:t>Bước 2:</a:t>
            </a:r>
            <a:r>
              <a:rPr lang="en-US" sz="3500">
                <a:solidFill>
                  <a:srgbClr val="00B5DD"/>
                </a:solidFill>
                <a:latin typeface="Be Vietnam"/>
                <a:ea typeface="Be Vietnam"/>
                <a:cs typeface="Be Vietnam"/>
                <a:sym typeface="Be Vietnam"/>
              </a:rPr>
              <a:t> </a:t>
            </a:r>
            <a:r>
              <a:rPr lang="en-US" sz="3500">
                <a:solidFill>
                  <a:srgbClr val="3A3F50"/>
                </a:solidFill>
                <a:latin typeface="Be Vietnam"/>
                <a:ea typeface="Be Vietnam"/>
                <a:cs typeface="Be Vietnam"/>
                <a:sym typeface="Be Vietnam"/>
              </a:rPr>
              <a:t>Xử lý và làm sạch dữ liệu </a:t>
            </a:r>
          </a:p>
          <a:p>
            <a:pPr algn="just" marL="755651" indent="-377825" lvl="1">
              <a:lnSpc>
                <a:spcPts val="7000"/>
              </a:lnSpc>
              <a:buFont typeface="Arial"/>
              <a:buChar char="•"/>
            </a:pPr>
            <a:r>
              <a:rPr lang="en-US" sz="3500">
                <a:solidFill>
                  <a:srgbClr val="3A3F50"/>
                </a:solidFill>
                <a:latin typeface="Be Vietnam"/>
                <a:ea typeface="Be Vietnam"/>
                <a:cs typeface="Be Vietnam"/>
                <a:sym typeface="Be Vietnam"/>
              </a:rPr>
              <a:t>Bước 3:</a:t>
            </a:r>
            <a:r>
              <a:rPr lang="en-US" sz="3500">
                <a:solidFill>
                  <a:srgbClr val="00B5DD"/>
                </a:solidFill>
                <a:latin typeface="Be Vietnam"/>
                <a:ea typeface="Be Vietnam"/>
                <a:cs typeface="Be Vietnam"/>
                <a:sym typeface="Be Vietnam"/>
              </a:rPr>
              <a:t> </a:t>
            </a:r>
            <a:r>
              <a:rPr lang="en-US" sz="3500">
                <a:solidFill>
                  <a:srgbClr val="3A3F50"/>
                </a:solidFill>
                <a:latin typeface="Be Vietnam"/>
                <a:ea typeface="Be Vietnam"/>
                <a:cs typeface="Be Vietnam"/>
                <a:sym typeface="Be Vietnam"/>
              </a:rPr>
              <a:t>Mô hình hóa dữ liệu </a:t>
            </a:r>
          </a:p>
          <a:p>
            <a:pPr algn="just" marL="755651" indent="-377825" lvl="1">
              <a:lnSpc>
                <a:spcPts val="7000"/>
              </a:lnSpc>
              <a:buFont typeface="Arial"/>
              <a:buChar char="•"/>
            </a:pPr>
            <a:r>
              <a:rPr lang="en-US" sz="3500">
                <a:solidFill>
                  <a:srgbClr val="3A3F50"/>
                </a:solidFill>
                <a:latin typeface="Be Vietnam"/>
                <a:ea typeface="Be Vietnam"/>
                <a:cs typeface="Be Vietnam"/>
                <a:sym typeface="Be Vietnam"/>
              </a:rPr>
              <a:t>Bước 4:</a:t>
            </a:r>
            <a:r>
              <a:rPr lang="en-US" sz="3500">
                <a:solidFill>
                  <a:srgbClr val="00B5DD"/>
                </a:solidFill>
                <a:latin typeface="Be Vietnam"/>
                <a:ea typeface="Be Vietnam"/>
                <a:cs typeface="Be Vietnam"/>
                <a:sym typeface="Be Vietnam"/>
              </a:rPr>
              <a:t> </a:t>
            </a:r>
            <a:r>
              <a:rPr lang="en-US" sz="3500">
                <a:solidFill>
                  <a:srgbClr val="3A3F50"/>
                </a:solidFill>
                <a:latin typeface="Be Vietnam"/>
                <a:ea typeface="Be Vietnam"/>
                <a:cs typeface="Be Vietnam"/>
                <a:sym typeface="Be Vietnam"/>
              </a:rPr>
              <a:t>Phân tích dữ liệu </a:t>
            </a:r>
          </a:p>
          <a:p>
            <a:pPr algn="just" marL="755651" indent="-377825" lvl="1">
              <a:lnSpc>
                <a:spcPts val="7000"/>
              </a:lnSpc>
              <a:buFont typeface="Arial"/>
              <a:buChar char="•"/>
            </a:pPr>
            <a:r>
              <a:rPr lang="en-US" sz="3500">
                <a:solidFill>
                  <a:srgbClr val="3A3F50"/>
                </a:solidFill>
                <a:latin typeface="Be Vietnam"/>
                <a:ea typeface="Be Vietnam"/>
                <a:cs typeface="Be Vietnam"/>
                <a:sym typeface="Be Vietnam"/>
              </a:rPr>
              <a:t>Bước 5:</a:t>
            </a:r>
            <a:r>
              <a:rPr lang="en-US" sz="3500">
                <a:solidFill>
                  <a:srgbClr val="00B5DD"/>
                </a:solidFill>
                <a:latin typeface="Be Vietnam"/>
                <a:ea typeface="Be Vietnam"/>
                <a:cs typeface="Be Vietnam"/>
                <a:sym typeface="Be Vietnam"/>
              </a:rPr>
              <a:t> </a:t>
            </a:r>
            <a:r>
              <a:rPr lang="en-US" sz="3500">
                <a:solidFill>
                  <a:srgbClr val="3A3F50"/>
                </a:solidFill>
                <a:latin typeface="Be Vietnam"/>
                <a:ea typeface="Be Vietnam"/>
                <a:cs typeface="Be Vietnam"/>
                <a:sym typeface="Be Vietnam"/>
              </a:rPr>
              <a:t>Trực quan hóa và báo cáo</a:t>
            </a:r>
          </a:p>
          <a:p>
            <a:pPr algn="just">
              <a:lnSpc>
                <a:spcPts val="7000"/>
              </a:lnSpc>
            </a:pPr>
          </a:p>
          <a:p>
            <a:pPr algn="just">
              <a:lnSpc>
                <a:spcPts val="7000"/>
              </a:lnSpc>
            </a:pPr>
          </a:p>
        </p:txBody>
      </p:sp>
      <p:sp>
        <p:nvSpPr>
          <p:cNvPr name="Freeform 7" id="7"/>
          <p:cNvSpPr/>
          <p:nvPr/>
        </p:nvSpPr>
        <p:spPr>
          <a:xfrm flipH="false" flipV="false" rot="0">
            <a:off x="812681" y="3775023"/>
            <a:ext cx="6759048" cy="5483277"/>
          </a:xfrm>
          <a:custGeom>
            <a:avLst/>
            <a:gdLst/>
            <a:ahLst/>
            <a:cxnLst/>
            <a:rect r="r" b="b" t="t" l="l"/>
            <a:pathLst>
              <a:path h="5483277" w="6759048">
                <a:moveTo>
                  <a:pt x="0" y="0"/>
                </a:moveTo>
                <a:lnTo>
                  <a:pt x="6759048" y="0"/>
                </a:lnTo>
                <a:lnTo>
                  <a:pt x="6759048" y="5483277"/>
                </a:lnTo>
                <a:lnTo>
                  <a:pt x="0" y="548327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812681" y="1276785"/>
            <a:ext cx="15830552" cy="908685"/>
          </a:xfrm>
          <a:prstGeom prst="rect">
            <a:avLst/>
          </a:prstGeom>
        </p:spPr>
        <p:txBody>
          <a:bodyPr anchor="t" rtlCol="false" tIns="0" lIns="0" bIns="0" rIns="0">
            <a:spAutoFit/>
          </a:bodyPr>
          <a:lstStyle/>
          <a:p>
            <a:pPr algn="l">
              <a:lnSpc>
                <a:spcPts val="6719"/>
              </a:lnSpc>
            </a:pPr>
            <a:r>
              <a:rPr lang="en-US" b="true" sz="6999">
                <a:solidFill>
                  <a:srgbClr val="007BB9"/>
                </a:solidFill>
                <a:latin typeface="Be Vietnam Medium"/>
                <a:ea typeface="Be Vietnam Medium"/>
                <a:cs typeface="Be Vietnam Medium"/>
                <a:sym typeface="Be Vietnam Medium"/>
              </a:rPr>
              <a:t>2.3 Tổng quan về phân tích dữ liệu</a:t>
            </a:r>
          </a:p>
        </p:txBody>
      </p:sp>
      <p:sp>
        <p:nvSpPr>
          <p:cNvPr name="TextBox 9" id="9"/>
          <p:cNvSpPr txBox="true"/>
          <p:nvPr/>
        </p:nvSpPr>
        <p:spPr>
          <a:xfrm rot="0">
            <a:off x="17259300" y="10384025"/>
            <a:ext cx="913800" cy="371475"/>
          </a:xfrm>
          <a:prstGeom prst="rect">
            <a:avLst/>
          </a:prstGeom>
        </p:spPr>
        <p:txBody>
          <a:bodyPr anchor="t" rtlCol="false" tIns="0" lIns="0" bIns="0" rIns="0">
            <a:spAutoFit/>
          </a:bodyPr>
          <a:lstStyle/>
          <a:p>
            <a:pPr algn="r">
              <a:lnSpc>
                <a:spcPts val="2879"/>
              </a:lnSpc>
            </a:pPr>
            <a:r>
              <a:rPr lang="en-US" sz="2400">
                <a:solidFill>
                  <a:srgbClr val="FFFFFF"/>
                </a:solidFill>
                <a:latin typeface="Barlow Light"/>
                <a:ea typeface="Barlow Light"/>
                <a:cs typeface="Barlow Light"/>
                <a:sym typeface="Barlow Light"/>
              </a:rPr>
              <a:t>10</a:t>
            </a:r>
          </a:p>
        </p:txBody>
      </p:sp>
      <p:sp>
        <p:nvSpPr>
          <p:cNvPr name="TextBox 10" id="10"/>
          <p:cNvSpPr txBox="true"/>
          <p:nvPr/>
        </p:nvSpPr>
        <p:spPr>
          <a:xfrm rot="0">
            <a:off x="812681" y="2560182"/>
            <a:ext cx="9660894" cy="657225"/>
          </a:xfrm>
          <a:prstGeom prst="rect">
            <a:avLst/>
          </a:prstGeom>
        </p:spPr>
        <p:txBody>
          <a:bodyPr anchor="t" rtlCol="false" tIns="0" lIns="0" bIns="0" rIns="0">
            <a:spAutoFit/>
          </a:bodyPr>
          <a:lstStyle/>
          <a:p>
            <a:pPr algn="l">
              <a:lnSpc>
                <a:spcPts val="4800"/>
              </a:lnSpc>
            </a:pPr>
            <a:r>
              <a:rPr lang="en-US" b="true" sz="5000">
                <a:solidFill>
                  <a:srgbClr val="007BB9"/>
                </a:solidFill>
                <a:latin typeface="Be Vietnam Medium"/>
                <a:ea typeface="Be Vietnam Medium"/>
                <a:cs typeface="Be Vietnam Medium"/>
                <a:sym typeface="Be Vietnam Medium"/>
              </a:rPr>
              <a:t>Quá trình phân tích dữ liệu:</a:t>
            </a:r>
          </a:p>
        </p:txBody>
      </p:sp>
      <p:sp>
        <p:nvSpPr>
          <p:cNvPr name="TextBox 11" id="11"/>
          <p:cNvSpPr txBox="true"/>
          <p:nvPr/>
        </p:nvSpPr>
        <p:spPr>
          <a:xfrm rot="0">
            <a:off x="17869491" y="9808775"/>
            <a:ext cx="303609" cy="428559"/>
          </a:xfrm>
          <a:prstGeom prst="rect">
            <a:avLst/>
          </a:prstGeom>
        </p:spPr>
        <p:txBody>
          <a:bodyPr anchor="t" rtlCol="false" tIns="0" lIns="0" bIns="0" rIns="0">
            <a:spAutoFit/>
          </a:bodyPr>
          <a:lstStyle/>
          <a:p>
            <a:pPr algn="r">
              <a:lnSpc>
                <a:spcPts val="3359"/>
              </a:lnSpc>
            </a:pPr>
            <a:r>
              <a:rPr lang="en-US" sz="2799">
                <a:solidFill>
                  <a:srgbClr val="FFFFFF"/>
                </a:solidFill>
                <a:latin typeface="Barlow Light"/>
                <a:ea typeface="Barlow Light"/>
                <a:cs typeface="Barlow Light"/>
                <a:sym typeface="Barlow Light"/>
              </a:rPr>
              <a:t>15</a:t>
            </a:r>
          </a:p>
        </p:txBody>
      </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0">
            <a:off x="17373600" y="9349700"/>
            <a:ext cx="937200" cy="937200"/>
            <a:chOff x="0" y="0"/>
            <a:chExt cx="1249600" cy="1249600"/>
          </a:xfrm>
        </p:grpSpPr>
        <p:sp>
          <p:nvSpPr>
            <p:cNvPr name="Freeform 3" id="3"/>
            <p:cNvSpPr/>
            <p:nvPr/>
          </p:nvSpPr>
          <p:spPr>
            <a:xfrm flipH="false" flipV="false" rot="0">
              <a:off x="0" y="0"/>
              <a:ext cx="1249553" cy="1249553"/>
            </a:xfrm>
            <a:custGeom>
              <a:avLst/>
              <a:gdLst/>
              <a:ahLst/>
              <a:cxnLst/>
              <a:rect r="r" b="b" t="t" l="l"/>
              <a:pathLst>
                <a:path h="1249553" w="1249553">
                  <a:moveTo>
                    <a:pt x="1249553" y="1249553"/>
                  </a:moveTo>
                  <a:lnTo>
                    <a:pt x="1249553" y="0"/>
                  </a:lnTo>
                  <a:lnTo>
                    <a:pt x="0" y="1249553"/>
                  </a:lnTo>
                  <a:close/>
                </a:path>
              </a:pathLst>
            </a:custGeom>
            <a:solidFill>
              <a:srgbClr val="00B5DD"/>
            </a:solidFill>
          </p:spPr>
        </p:sp>
      </p:grpSp>
      <p:grpSp>
        <p:nvGrpSpPr>
          <p:cNvPr name="Group 4" id="4"/>
          <p:cNvGrpSpPr/>
          <p:nvPr/>
        </p:nvGrpSpPr>
        <p:grpSpPr>
          <a:xfrm rot="5400000">
            <a:off x="-200700" y="1448970"/>
            <a:ext cx="937200" cy="535800"/>
            <a:chOff x="0" y="0"/>
            <a:chExt cx="1249600" cy="714400"/>
          </a:xfrm>
        </p:grpSpPr>
        <p:sp>
          <p:nvSpPr>
            <p:cNvPr name="Freeform 5" id="5"/>
            <p:cNvSpPr/>
            <p:nvPr/>
          </p:nvSpPr>
          <p:spPr>
            <a:xfrm flipH="false" flipV="false" rot="0">
              <a:off x="0" y="0"/>
              <a:ext cx="1249680" cy="714375"/>
            </a:xfrm>
            <a:custGeom>
              <a:avLst/>
              <a:gdLst/>
              <a:ahLst/>
              <a:cxnLst/>
              <a:rect r="r" b="b" t="t" l="l"/>
              <a:pathLst>
                <a:path h="714375" w="1249680">
                  <a:moveTo>
                    <a:pt x="0" y="714375"/>
                  </a:moveTo>
                  <a:lnTo>
                    <a:pt x="624840" y="0"/>
                  </a:lnTo>
                  <a:lnTo>
                    <a:pt x="1249680" y="714375"/>
                  </a:lnTo>
                  <a:close/>
                </a:path>
              </a:pathLst>
            </a:custGeom>
            <a:solidFill>
              <a:srgbClr val="00B5DD"/>
            </a:solidFill>
          </p:spPr>
        </p:sp>
      </p:grpSp>
      <p:sp>
        <p:nvSpPr>
          <p:cNvPr name="Freeform 6" id="6"/>
          <p:cNvSpPr/>
          <p:nvPr/>
        </p:nvSpPr>
        <p:spPr>
          <a:xfrm flipH="false" flipV="false" rot="0">
            <a:off x="9880956" y="4609417"/>
            <a:ext cx="8142219" cy="2784937"/>
          </a:xfrm>
          <a:custGeom>
            <a:avLst/>
            <a:gdLst/>
            <a:ahLst/>
            <a:cxnLst/>
            <a:rect r="r" b="b" t="t" l="l"/>
            <a:pathLst>
              <a:path h="2784937" w="8142219">
                <a:moveTo>
                  <a:pt x="0" y="0"/>
                </a:moveTo>
                <a:lnTo>
                  <a:pt x="8142219" y="0"/>
                </a:lnTo>
                <a:lnTo>
                  <a:pt x="8142219" y="2784936"/>
                </a:lnTo>
                <a:lnTo>
                  <a:pt x="0" y="2784936"/>
                </a:lnTo>
                <a:lnTo>
                  <a:pt x="0" y="0"/>
                </a:lnTo>
                <a:close/>
              </a:path>
            </a:pathLst>
          </a:custGeom>
          <a:blipFill>
            <a:blip r:embed="rId3"/>
            <a:stretch>
              <a:fillRect l="0" t="0" r="0" b="0"/>
            </a:stretch>
          </a:blipFill>
        </p:spPr>
      </p:sp>
      <p:sp>
        <p:nvSpPr>
          <p:cNvPr name="TextBox 7" id="7"/>
          <p:cNvSpPr txBox="true"/>
          <p:nvPr/>
        </p:nvSpPr>
        <p:spPr>
          <a:xfrm rot="0">
            <a:off x="812681" y="1276785"/>
            <a:ext cx="15830552" cy="908685"/>
          </a:xfrm>
          <a:prstGeom prst="rect">
            <a:avLst/>
          </a:prstGeom>
        </p:spPr>
        <p:txBody>
          <a:bodyPr anchor="t" rtlCol="false" tIns="0" lIns="0" bIns="0" rIns="0">
            <a:spAutoFit/>
          </a:bodyPr>
          <a:lstStyle/>
          <a:p>
            <a:pPr algn="l">
              <a:lnSpc>
                <a:spcPts val="6719"/>
              </a:lnSpc>
            </a:pPr>
            <a:r>
              <a:rPr lang="en-US" b="true" sz="6999">
                <a:solidFill>
                  <a:srgbClr val="007BB9"/>
                </a:solidFill>
                <a:latin typeface="Be Vietnam Medium"/>
                <a:ea typeface="Be Vietnam Medium"/>
                <a:cs typeface="Be Vietnam Medium"/>
                <a:sym typeface="Be Vietnam Medium"/>
              </a:rPr>
              <a:t>2.4 Giới thiệu thuật toán XGBoost</a:t>
            </a:r>
          </a:p>
        </p:txBody>
      </p:sp>
      <p:sp>
        <p:nvSpPr>
          <p:cNvPr name="TextBox 8" id="8"/>
          <p:cNvSpPr txBox="true"/>
          <p:nvPr/>
        </p:nvSpPr>
        <p:spPr>
          <a:xfrm rot="0">
            <a:off x="17259300" y="10384025"/>
            <a:ext cx="913800" cy="371475"/>
          </a:xfrm>
          <a:prstGeom prst="rect">
            <a:avLst/>
          </a:prstGeom>
        </p:spPr>
        <p:txBody>
          <a:bodyPr anchor="t" rtlCol="false" tIns="0" lIns="0" bIns="0" rIns="0">
            <a:spAutoFit/>
          </a:bodyPr>
          <a:lstStyle/>
          <a:p>
            <a:pPr algn="r">
              <a:lnSpc>
                <a:spcPts val="2879"/>
              </a:lnSpc>
            </a:pPr>
            <a:r>
              <a:rPr lang="en-US" sz="2400">
                <a:solidFill>
                  <a:srgbClr val="FFFFFF"/>
                </a:solidFill>
                <a:latin typeface="Barlow Light"/>
                <a:ea typeface="Barlow Light"/>
                <a:cs typeface="Barlow Light"/>
                <a:sym typeface="Barlow Light"/>
              </a:rPr>
              <a:t>10</a:t>
            </a:r>
          </a:p>
        </p:txBody>
      </p:sp>
      <p:sp>
        <p:nvSpPr>
          <p:cNvPr name="TextBox 9" id="9"/>
          <p:cNvSpPr txBox="true"/>
          <p:nvPr/>
        </p:nvSpPr>
        <p:spPr>
          <a:xfrm rot="0">
            <a:off x="812681" y="2355747"/>
            <a:ext cx="3085985" cy="657225"/>
          </a:xfrm>
          <a:prstGeom prst="rect">
            <a:avLst/>
          </a:prstGeom>
        </p:spPr>
        <p:txBody>
          <a:bodyPr anchor="t" rtlCol="false" tIns="0" lIns="0" bIns="0" rIns="0">
            <a:spAutoFit/>
          </a:bodyPr>
          <a:lstStyle/>
          <a:p>
            <a:pPr algn="l">
              <a:lnSpc>
                <a:spcPts val="4800"/>
              </a:lnSpc>
            </a:pPr>
            <a:r>
              <a:rPr lang="en-US" b="true" sz="5000">
                <a:solidFill>
                  <a:srgbClr val="007BB9"/>
                </a:solidFill>
                <a:latin typeface="Be Vietnam Medium"/>
                <a:ea typeface="Be Vietnam Medium"/>
                <a:cs typeface="Be Vietnam Medium"/>
                <a:sym typeface="Be Vietnam Medium"/>
              </a:rPr>
              <a:t>Khái niệm</a:t>
            </a:r>
          </a:p>
        </p:txBody>
      </p:sp>
      <p:sp>
        <p:nvSpPr>
          <p:cNvPr name="TextBox 10" id="10"/>
          <p:cNvSpPr txBox="true"/>
          <p:nvPr/>
        </p:nvSpPr>
        <p:spPr>
          <a:xfrm rot="0">
            <a:off x="17842200" y="9808775"/>
            <a:ext cx="304105" cy="428559"/>
          </a:xfrm>
          <a:prstGeom prst="rect">
            <a:avLst/>
          </a:prstGeom>
        </p:spPr>
        <p:txBody>
          <a:bodyPr anchor="t" rtlCol="false" tIns="0" lIns="0" bIns="0" rIns="0">
            <a:spAutoFit/>
          </a:bodyPr>
          <a:lstStyle/>
          <a:p>
            <a:pPr algn="r">
              <a:lnSpc>
                <a:spcPts val="3359"/>
              </a:lnSpc>
            </a:pPr>
            <a:r>
              <a:rPr lang="en-US" sz="2799">
                <a:solidFill>
                  <a:srgbClr val="FFFFFF"/>
                </a:solidFill>
                <a:latin typeface="Barlow Light"/>
                <a:ea typeface="Barlow Light"/>
                <a:cs typeface="Barlow Light"/>
                <a:sym typeface="Barlow Light"/>
              </a:rPr>
              <a:t>16</a:t>
            </a:r>
          </a:p>
        </p:txBody>
      </p:sp>
      <p:sp>
        <p:nvSpPr>
          <p:cNvPr name="TextBox 11" id="11"/>
          <p:cNvSpPr txBox="true"/>
          <p:nvPr/>
        </p:nvSpPr>
        <p:spPr>
          <a:xfrm rot="0">
            <a:off x="161627" y="2393847"/>
            <a:ext cx="17699920" cy="2981325"/>
          </a:xfrm>
          <a:prstGeom prst="rect">
            <a:avLst/>
          </a:prstGeom>
        </p:spPr>
        <p:txBody>
          <a:bodyPr anchor="t" rtlCol="false" tIns="0" lIns="0" bIns="0" rIns="0">
            <a:spAutoFit/>
          </a:bodyPr>
          <a:lstStyle/>
          <a:p>
            <a:pPr algn="just">
              <a:lnSpc>
                <a:spcPts val="6000"/>
              </a:lnSpc>
            </a:pPr>
          </a:p>
          <a:p>
            <a:pPr algn="just" marL="647700" indent="-323850" lvl="1">
              <a:lnSpc>
                <a:spcPts val="6000"/>
              </a:lnSpc>
              <a:buFont typeface="Arial"/>
              <a:buChar char="•"/>
            </a:pPr>
            <a:r>
              <a:rPr lang="en-US" sz="3000">
                <a:solidFill>
                  <a:srgbClr val="3A3F50"/>
                </a:solidFill>
                <a:latin typeface="Be Vietnam"/>
                <a:ea typeface="Be Vietnam"/>
                <a:cs typeface="Be Vietnam"/>
                <a:sym typeface="Be Vietnam"/>
              </a:rPr>
              <a:t>XGBoost (Extreme Gradient Boosting) là một t</a:t>
            </a:r>
            <a:r>
              <a:rPr lang="en-US" sz="3000">
                <a:solidFill>
                  <a:srgbClr val="3A3F50"/>
                </a:solidFill>
                <a:latin typeface="Be Vietnam"/>
                <a:ea typeface="Be Vietnam"/>
                <a:cs typeface="Be Vietnam"/>
                <a:sym typeface="Be Vietnam"/>
              </a:rPr>
              <a:t>huật toán học máy thuộc nhóm ensemble learning (học kết hợp), dùng để dự đoán hoặc phân loại dữ liệu.</a:t>
            </a:r>
          </a:p>
          <a:p>
            <a:pPr algn="just">
              <a:lnSpc>
                <a:spcPts val="6000"/>
              </a:lnSpc>
            </a:pPr>
          </a:p>
        </p:txBody>
      </p:sp>
      <p:sp>
        <p:nvSpPr>
          <p:cNvPr name="TextBox 12" id="12"/>
          <p:cNvSpPr txBox="true"/>
          <p:nvPr/>
        </p:nvSpPr>
        <p:spPr>
          <a:xfrm rot="0">
            <a:off x="161627" y="3963947"/>
            <a:ext cx="9719329" cy="4505325"/>
          </a:xfrm>
          <a:prstGeom prst="rect">
            <a:avLst/>
          </a:prstGeom>
        </p:spPr>
        <p:txBody>
          <a:bodyPr anchor="t" rtlCol="false" tIns="0" lIns="0" bIns="0" rIns="0">
            <a:spAutoFit/>
          </a:bodyPr>
          <a:lstStyle/>
          <a:p>
            <a:pPr algn="just">
              <a:lnSpc>
                <a:spcPts val="6000"/>
              </a:lnSpc>
            </a:pPr>
          </a:p>
          <a:p>
            <a:pPr algn="just" marL="647700" indent="-323850" lvl="1">
              <a:lnSpc>
                <a:spcPts val="6000"/>
              </a:lnSpc>
              <a:buFont typeface="Arial"/>
              <a:buChar char="•"/>
            </a:pPr>
            <a:r>
              <a:rPr lang="en-US" sz="3000">
                <a:solidFill>
                  <a:srgbClr val="3A3F50"/>
                </a:solidFill>
                <a:latin typeface="Be Vietnam"/>
                <a:ea typeface="Be Vietnam"/>
                <a:cs typeface="Be Vietnam"/>
                <a:sym typeface="Be Vietnam"/>
              </a:rPr>
              <a:t>Nó hoạt động bằng cách kết hợp nhiều cây quyết định nhỏ (decision trees)</a:t>
            </a:r>
            <a:r>
              <a:rPr lang="en-US" sz="3000">
                <a:solidFill>
                  <a:srgbClr val="3A3F50"/>
                </a:solidFill>
                <a:latin typeface="Be Vietnam"/>
                <a:ea typeface="Be Vietnam"/>
                <a:cs typeface="Be Vietnam"/>
                <a:sym typeface="Be Vietnam"/>
              </a:rPr>
              <a:t> lại với nhau — mỗi cây mới được xây dựng để sửa lỗi của cây tr</a:t>
            </a:r>
            <a:r>
              <a:rPr lang="en-US" sz="3000">
                <a:solidFill>
                  <a:srgbClr val="3A3F50"/>
                </a:solidFill>
                <a:latin typeface="Be Vietnam"/>
                <a:ea typeface="Be Vietnam"/>
                <a:cs typeface="Be Vietnam"/>
                <a:sym typeface="Be Vietnam"/>
              </a:rPr>
              <a:t>ước đó.</a:t>
            </a:r>
          </a:p>
          <a:p>
            <a:pPr algn="just">
              <a:lnSpc>
                <a:spcPts val="6000"/>
              </a:lnSpc>
            </a:pPr>
          </a:p>
          <a:p>
            <a:pPr algn="just">
              <a:lnSpc>
                <a:spcPts val="6000"/>
              </a:lnSpc>
            </a:pPr>
          </a:p>
        </p:txBody>
      </p:sp>
      <p:sp>
        <p:nvSpPr>
          <p:cNvPr name="TextBox 13" id="13"/>
          <p:cNvSpPr txBox="true"/>
          <p:nvPr/>
        </p:nvSpPr>
        <p:spPr>
          <a:xfrm rot="0">
            <a:off x="145348" y="6390472"/>
            <a:ext cx="17554573" cy="2981325"/>
          </a:xfrm>
          <a:prstGeom prst="rect">
            <a:avLst/>
          </a:prstGeom>
        </p:spPr>
        <p:txBody>
          <a:bodyPr anchor="t" rtlCol="false" tIns="0" lIns="0" bIns="0" rIns="0">
            <a:spAutoFit/>
          </a:bodyPr>
          <a:lstStyle/>
          <a:p>
            <a:pPr algn="just">
              <a:lnSpc>
                <a:spcPts val="6000"/>
              </a:lnSpc>
            </a:pPr>
          </a:p>
          <a:p>
            <a:pPr algn="just" marL="647700" indent="-323850" lvl="1">
              <a:lnSpc>
                <a:spcPts val="6000"/>
              </a:lnSpc>
              <a:buFont typeface="Arial"/>
              <a:buChar char="•"/>
            </a:pPr>
            <a:r>
              <a:rPr lang="en-US" sz="3000">
                <a:solidFill>
                  <a:srgbClr val="3A3F50"/>
                </a:solidFill>
                <a:latin typeface="Be Vietnam"/>
                <a:ea typeface="Be Vietnam"/>
                <a:cs typeface="Be Vietnam"/>
                <a:sym typeface="Be Vietnam"/>
              </a:rPr>
              <a:t>Nhờ cơ chế boosting và kỹ thuật tối ưu hóa hiệu suất, XGBoost cho kết quả chính xác cao, tốc độ nhanh, và được dùng rộng rãi trong các bài toán dự đoán, xếp hạng, và phân loại dữ liệu.</a:t>
            </a:r>
          </a:p>
          <a:p>
            <a:pPr algn="just">
              <a:lnSpc>
                <a:spcPts val="6000"/>
              </a:lnSpc>
            </a:pPr>
          </a:p>
        </p:txBody>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0">
            <a:off x="17373600" y="9349700"/>
            <a:ext cx="937200" cy="937200"/>
            <a:chOff x="0" y="0"/>
            <a:chExt cx="1249600" cy="1249600"/>
          </a:xfrm>
        </p:grpSpPr>
        <p:sp>
          <p:nvSpPr>
            <p:cNvPr name="Freeform 3" id="3"/>
            <p:cNvSpPr/>
            <p:nvPr/>
          </p:nvSpPr>
          <p:spPr>
            <a:xfrm flipH="false" flipV="false" rot="0">
              <a:off x="0" y="0"/>
              <a:ext cx="1249553" cy="1249553"/>
            </a:xfrm>
            <a:custGeom>
              <a:avLst/>
              <a:gdLst/>
              <a:ahLst/>
              <a:cxnLst/>
              <a:rect r="r" b="b" t="t" l="l"/>
              <a:pathLst>
                <a:path h="1249553" w="1249553">
                  <a:moveTo>
                    <a:pt x="1249553" y="1249553"/>
                  </a:moveTo>
                  <a:lnTo>
                    <a:pt x="1249553" y="0"/>
                  </a:lnTo>
                  <a:lnTo>
                    <a:pt x="0" y="1249553"/>
                  </a:lnTo>
                  <a:close/>
                </a:path>
              </a:pathLst>
            </a:custGeom>
            <a:solidFill>
              <a:srgbClr val="00B5DD"/>
            </a:solidFill>
          </p:spPr>
        </p:sp>
      </p:grpSp>
      <p:grpSp>
        <p:nvGrpSpPr>
          <p:cNvPr name="Group 4" id="4"/>
          <p:cNvGrpSpPr/>
          <p:nvPr/>
        </p:nvGrpSpPr>
        <p:grpSpPr>
          <a:xfrm rot="5400000">
            <a:off x="-200700" y="1448970"/>
            <a:ext cx="937200" cy="535800"/>
            <a:chOff x="0" y="0"/>
            <a:chExt cx="1249600" cy="714400"/>
          </a:xfrm>
        </p:grpSpPr>
        <p:sp>
          <p:nvSpPr>
            <p:cNvPr name="Freeform 5" id="5"/>
            <p:cNvSpPr/>
            <p:nvPr/>
          </p:nvSpPr>
          <p:spPr>
            <a:xfrm flipH="false" flipV="false" rot="0">
              <a:off x="0" y="0"/>
              <a:ext cx="1249680" cy="714375"/>
            </a:xfrm>
            <a:custGeom>
              <a:avLst/>
              <a:gdLst/>
              <a:ahLst/>
              <a:cxnLst/>
              <a:rect r="r" b="b" t="t" l="l"/>
              <a:pathLst>
                <a:path h="714375" w="1249680">
                  <a:moveTo>
                    <a:pt x="0" y="714375"/>
                  </a:moveTo>
                  <a:lnTo>
                    <a:pt x="624840" y="0"/>
                  </a:lnTo>
                  <a:lnTo>
                    <a:pt x="1249680" y="714375"/>
                  </a:lnTo>
                  <a:close/>
                </a:path>
              </a:pathLst>
            </a:custGeom>
            <a:solidFill>
              <a:srgbClr val="00B5DD"/>
            </a:solidFill>
          </p:spPr>
        </p:sp>
      </p:grpSp>
      <p:sp>
        <p:nvSpPr>
          <p:cNvPr name="Freeform 6" id="6"/>
          <p:cNvSpPr/>
          <p:nvPr/>
        </p:nvSpPr>
        <p:spPr>
          <a:xfrm flipH="false" flipV="false" rot="0">
            <a:off x="4238250" y="3384017"/>
            <a:ext cx="8979416" cy="6214567"/>
          </a:xfrm>
          <a:custGeom>
            <a:avLst/>
            <a:gdLst/>
            <a:ahLst/>
            <a:cxnLst/>
            <a:rect r="r" b="b" t="t" l="l"/>
            <a:pathLst>
              <a:path h="6214567" w="8979416">
                <a:moveTo>
                  <a:pt x="0" y="0"/>
                </a:moveTo>
                <a:lnTo>
                  <a:pt x="8979415" y="0"/>
                </a:lnTo>
                <a:lnTo>
                  <a:pt x="8979415" y="6214567"/>
                </a:lnTo>
                <a:lnTo>
                  <a:pt x="0" y="6214567"/>
                </a:lnTo>
                <a:lnTo>
                  <a:pt x="0" y="0"/>
                </a:lnTo>
                <a:close/>
              </a:path>
            </a:pathLst>
          </a:custGeom>
          <a:blipFill>
            <a:blip r:embed="rId3"/>
            <a:stretch>
              <a:fillRect l="0" t="0" r="0" b="0"/>
            </a:stretch>
          </a:blipFill>
        </p:spPr>
      </p:sp>
      <p:sp>
        <p:nvSpPr>
          <p:cNvPr name="TextBox 7" id="7"/>
          <p:cNvSpPr txBox="true"/>
          <p:nvPr/>
        </p:nvSpPr>
        <p:spPr>
          <a:xfrm rot="0">
            <a:off x="812681" y="1276785"/>
            <a:ext cx="15830552" cy="908685"/>
          </a:xfrm>
          <a:prstGeom prst="rect">
            <a:avLst/>
          </a:prstGeom>
        </p:spPr>
        <p:txBody>
          <a:bodyPr anchor="t" rtlCol="false" tIns="0" lIns="0" bIns="0" rIns="0">
            <a:spAutoFit/>
          </a:bodyPr>
          <a:lstStyle/>
          <a:p>
            <a:pPr algn="l">
              <a:lnSpc>
                <a:spcPts val="6719"/>
              </a:lnSpc>
            </a:pPr>
            <a:r>
              <a:rPr lang="en-US" b="true" sz="6999">
                <a:solidFill>
                  <a:srgbClr val="007BB9"/>
                </a:solidFill>
                <a:latin typeface="Be Vietnam Medium"/>
                <a:ea typeface="Be Vietnam Medium"/>
                <a:cs typeface="Be Vietnam Medium"/>
                <a:sym typeface="Be Vietnam Medium"/>
              </a:rPr>
              <a:t>2.4 Giới thiệu thuật toán XGBoost</a:t>
            </a:r>
          </a:p>
        </p:txBody>
      </p:sp>
      <p:sp>
        <p:nvSpPr>
          <p:cNvPr name="TextBox 8" id="8"/>
          <p:cNvSpPr txBox="true"/>
          <p:nvPr/>
        </p:nvSpPr>
        <p:spPr>
          <a:xfrm rot="0">
            <a:off x="17259300" y="10384025"/>
            <a:ext cx="913800" cy="371475"/>
          </a:xfrm>
          <a:prstGeom prst="rect">
            <a:avLst/>
          </a:prstGeom>
        </p:spPr>
        <p:txBody>
          <a:bodyPr anchor="t" rtlCol="false" tIns="0" lIns="0" bIns="0" rIns="0">
            <a:spAutoFit/>
          </a:bodyPr>
          <a:lstStyle/>
          <a:p>
            <a:pPr algn="r">
              <a:lnSpc>
                <a:spcPts val="2879"/>
              </a:lnSpc>
            </a:pPr>
            <a:r>
              <a:rPr lang="en-US" sz="2400">
                <a:solidFill>
                  <a:srgbClr val="FFFFFF"/>
                </a:solidFill>
                <a:latin typeface="Barlow Light"/>
                <a:ea typeface="Barlow Light"/>
                <a:cs typeface="Barlow Light"/>
                <a:sym typeface="Barlow Light"/>
              </a:rPr>
              <a:t>10</a:t>
            </a:r>
          </a:p>
        </p:txBody>
      </p:sp>
      <p:sp>
        <p:nvSpPr>
          <p:cNvPr name="TextBox 9" id="9"/>
          <p:cNvSpPr txBox="true"/>
          <p:nvPr/>
        </p:nvSpPr>
        <p:spPr>
          <a:xfrm rot="0">
            <a:off x="812681" y="2582675"/>
            <a:ext cx="8179558" cy="657225"/>
          </a:xfrm>
          <a:prstGeom prst="rect">
            <a:avLst/>
          </a:prstGeom>
        </p:spPr>
        <p:txBody>
          <a:bodyPr anchor="t" rtlCol="false" tIns="0" lIns="0" bIns="0" rIns="0">
            <a:spAutoFit/>
          </a:bodyPr>
          <a:lstStyle/>
          <a:p>
            <a:pPr algn="l">
              <a:lnSpc>
                <a:spcPts val="4800"/>
              </a:lnSpc>
            </a:pPr>
            <a:r>
              <a:rPr lang="en-US" b="true" sz="5000">
                <a:solidFill>
                  <a:srgbClr val="007BB9"/>
                </a:solidFill>
                <a:latin typeface="Be Vietnam Medium"/>
                <a:ea typeface="Be Vietnam Medium"/>
                <a:cs typeface="Be Vietnam Medium"/>
                <a:sym typeface="Be Vietnam Medium"/>
              </a:rPr>
              <a:t>Nguyên tắc hoạt động</a:t>
            </a:r>
          </a:p>
        </p:txBody>
      </p:sp>
      <p:sp>
        <p:nvSpPr>
          <p:cNvPr name="TextBox 10" id="10"/>
          <p:cNvSpPr txBox="true"/>
          <p:nvPr/>
        </p:nvSpPr>
        <p:spPr>
          <a:xfrm rot="0">
            <a:off x="17842200" y="9808775"/>
            <a:ext cx="289057" cy="428559"/>
          </a:xfrm>
          <a:prstGeom prst="rect">
            <a:avLst/>
          </a:prstGeom>
        </p:spPr>
        <p:txBody>
          <a:bodyPr anchor="t" rtlCol="false" tIns="0" lIns="0" bIns="0" rIns="0">
            <a:spAutoFit/>
          </a:bodyPr>
          <a:lstStyle/>
          <a:p>
            <a:pPr algn="r">
              <a:lnSpc>
                <a:spcPts val="3359"/>
              </a:lnSpc>
            </a:pPr>
            <a:r>
              <a:rPr lang="en-US" sz="2799">
                <a:solidFill>
                  <a:srgbClr val="FFFFFF"/>
                </a:solidFill>
                <a:latin typeface="Barlow Light"/>
                <a:ea typeface="Barlow Light"/>
                <a:cs typeface="Barlow Light"/>
                <a:sym typeface="Barlow Light"/>
              </a:rPr>
              <a:t>17</a:t>
            </a:r>
          </a:p>
        </p:txBody>
      </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5400000">
            <a:off x="-606750" y="4333810"/>
            <a:ext cx="2832600" cy="1619400"/>
            <a:chOff x="0" y="0"/>
            <a:chExt cx="3776800" cy="2159200"/>
          </a:xfrm>
        </p:grpSpPr>
        <p:sp>
          <p:nvSpPr>
            <p:cNvPr name="Freeform 3" id="3"/>
            <p:cNvSpPr/>
            <p:nvPr/>
          </p:nvSpPr>
          <p:spPr>
            <a:xfrm flipH="false" flipV="false" rot="0">
              <a:off x="0" y="0"/>
              <a:ext cx="3776853" cy="2159254"/>
            </a:xfrm>
            <a:custGeom>
              <a:avLst/>
              <a:gdLst/>
              <a:ahLst/>
              <a:cxnLst/>
              <a:rect r="r" b="b" t="t" l="l"/>
              <a:pathLst>
                <a:path h="2159254" w="3776853">
                  <a:moveTo>
                    <a:pt x="0" y="2159254"/>
                  </a:moveTo>
                  <a:lnTo>
                    <a:pt x="1888363" y="0"/>
                  </a:lnTo>
                  <a:lnTo>
                    <a:pt x="3776853" y="2159254"/>
                  </a:lnTo>
                  <a:close/>
                </a:path>
              </a:pathLst>
            </a:custGeom>
            <a:solidFill>
              <a:srgbClr val="00B5DD"/>
            </a:solidFill>
          </p:spPr>
        </p:sp>
      </p:grpSp>
      <p:sp>
        <p:nvSpPr>
          <p:cNvPr name="Freeform 4" id="4"/>
          <p:cNvSpPr/>
          <p:nvPr/>
        </p:nvSpPr>
        <p:spPr>
          <a:xfrm flipH="false" flipV="false" rot="0">
            <a:off x="8778691" y="1028700"/>
            <a:ext cx="7819298" cy="7958573"/>
          </a:xfrm>
          <a:custGeom>
            <a:avLst/>
            <a:gdLst/>
            <a:ahLst/>
            <a:cxnLst/>
            <a:rect r="r" b="b" t="t" l="l"/>
            <a:pathLst>
              <a:path h="7958573" w="7819298">
                <a:moveTo>
                  <a:pt x="0" y="0"/>
                </a:moveTo>
                <a:lnTo>
                  <a:pt x="7819299" y="0"/>
                </a:lnTo>
                <a:lnTo>
                  <a:pt x="7819299" y="7958573"/>
                </a:lnTo>
                <a:lnTo>
                  <a:pt x="0" y="79585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788197" y="3803650"/>
            <a:ext cx="7626830" cy="2603500"/>
          </a:xfrm>
          <a:prstGeom prst="rect">
            <a:avLst/>
          </a:prstGeom>
        </p:spPr>
        <p:txBody>
          <a:bodyPr anchor="t" rtlCol="false" tIns="0" lIns="0" bIns="0" rIns="0">
            <a:spAutoFit/>
          </a:bodyPr>
          <a:lstStyle/>
          <a:p>
            <a:pPr algn="l">
              <a:lnSpc>
                <a:spcPts val="10400"/>
              </a:lnSpc>
            </a:pPr>
            <a:r>
              <a:rPr lang="en-US" b="true" sz="8000">
                <a:solidFill>
                  <a:srgbClr val="007BB9"/>
                </a:solidFill>
                <a:latin typeface="Be Vietnam Ultra-Bold"/>
                <a:ea typeface="Be Vietnam Ultra-Bold"/>
                <a:cs typeface="Be Vietnam Ultra-Bold"/>
                <a:sym typeface="Be Vietnam Ultra-Bold"/>
              </a:rPr>
              <a:t>ỨNG DỤNG</a:t>
            </a:r>
          </a:p>
          <a:p>
            <a:pPr algn="l">
              <a:lnSpc>
                <a:spcPts val="10400"/>
              </a:lnSpc>
            </a:pPr>
            <a:r>
              <a:rPr lang="en-US" b="true" sz="8000">
                <a:solidFill>
                  <a:srgbClr val="007BB9"/>
                </a:solidFill>
                <a:latin typeface="Be Vietnam Ultra-Bold"/>
                <a:ea typeface="Be Vietnam Ultra-Bold"/>
                <a:cs typeface="Be Vietnam Ultra-Bold"/>
                <a:sym typeface="Be Vietnam Ultra-Bold"/>
              </a:rPr>
              <a:t>DỰ ĐOÁN</a:t>
            </a:r>
          </a:p>
        </p:txBody>
      </p:sp>
      <p:sp>
        <p:nvSpPr>
          <p:cNvPr name="TextBox 6" id="6"/>
          <p:cNvSpPr txBox="true"/>
          <p:nvPr/>
        </p:nvSpPr>
        <p:spPr>
          <a:xfrm rot="0">
            <a:off x="-7650" y="4595822"/>
            <a:ext cx="1036350" cy="1095375"/>
          </a:xfrm>
          <a:prstGeom prst="rect">
            <a:avLst/>
          </a:prstGeom>
        </p:spPr>
        <p:txBody>
          <a:bodyPr anchor="t" rtlCol="false" tIns="0" lIns="0" bIns="0" rIns="0">
            <a:spAutoFit/>
          </a:bodyPr>
          <a:lstStyle/>
          <a:p>
            <a:pPr algn="ctr">
              <a:lnSpc>
                <a:spcPts val="8640"/>
              </a:lnSpc>
            </a:pPr>
            <a:r>
              <a:rPr lang="en-US" b="true" sz="7200">
                <a:solidFill>
                  <a:srgbClr val="FFFFFF"/>
                </a:solidFill>
                <a:latin typeface="Barlow Bold"/>
                <a:ea typeface="Barlow Bold"/>
                <a:cs typeface="Barlow Bold"/>
                <a:sym typeface="Barlow Bold"/>
              </a:rPr>
              <a:t>3</a:t>
            </a:r>
          </a:p>
        </p:txBody>
      </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0">
            <a:off x="17373600" y="9349700"/>
            <a:ext cx="937200" cy="937200"/>
            <a:chOff x="0" y="0"/>
            <a:chExt cx="1249600" cy="1249600"/>
          </a:xfrm>
        </p:grpSpPr>
        <p:sp>
          <p:nvSpPr>
            <p:cNvPr name="Freeform 3" id="3"/>
            <p:cNvSpPr/>
            <p:nvPr/>
          </p:nvSpPr>
          <p:spPr>
            <a:xfrm flipH="false" flipV="false" rot="0">
              <a:off x="0" y="0"/>
              <a:ext cx="1249553" cy="1249553"/>
            </a:xfrm>
            <a:custGeom>
              <a:avLst/>
              <a:gdLst/>
              <a:ahLst/>
              <a:cxnLst/>
              <a:rect r="r" b="b" t="t" l="l"/>
              <a:pathLst>
                <a:path h="1249553" w="1249553">
                  <a:moveTo>
                    <a:pt x="1249553" y="1249553"/>
                  </a:moveTo>
                  <a:lnTo>
                    <a:pt x="1249553" y="0"/>
                  </a:lnTo>
                  <a:lnTo>
                    <a:pt x="0" y="1249553"/>
                  </a:lnTo>
                  <a:close/>
                </a:path>
              </a:pathLst>
            </a:custGeom>
            <a:solidFill>
              <a:srgbClr val="00B5DD"/>
            </a:solidFill>
          </p:spPr>
        </p:sp>
      </p:grpSp>
      <p:grpSp>
        <p:nvGrpSpPr>
          <p:cNvPr name="Group 4" id="4"/>
          <p:cNvGrpSpPr/>
          <p:nvPr/>
        </p:nvGrpSpPr>
        <p:grpSpPr>
          <a:xfrm rot="5400000">
            <a:off x="-200700" y="1448970"/>
            <a:ext cx="937200" cy="535800"/>
            <a:chOff x="0" y="0"/>
            <a:chExt cx="1249600" cy="714400"/>
          </a:xfrm>
        </p:grpSpPr>
        <p:sp>
          <p:nvSpPr>
            <p:cNvPr name="Freeform 5" id="5"/>
            <p:cNvSpPr/>
            <p:nvPr/>
          </p:nvSpPr>
          <p:spPr>
            <a:xfrm flipH="false" flipV="false" rot="0">
              <a:off x="0" y="0"/>
              <a:ext cx="1249680" cy="714375"/>
            </a:xfrm>
            <a:custGeom>
              <a:avLst/>
              <a:gdLst/>
              <a:ahLst/>
              <a:cxnLst/>
              <a:rect r="r" b="b" t="t" l="l"/>
              <a:pathLst>
                <a:path h="714375" w="1249680">
                  <a:moveTo>
                    <a:pt x="0" y="714375"/>
                  </a:moveTo>
                  <a:lnTo>
                    <a:pt x="624840" y="0"/>
                  </a:lnTo>
                  <a:lnTo>
                    <a:pt x="1249680" y="714375"/>
                  </a:lnTo>
                  <a:close/>
                </a:path>
              </a:pathLst>
            </a:custGeom>
            <a:solidFill>
              <a:srgbClr val="00B5DD"/>
            </a:solidFill>
          </p:spPr>
        </p:sp>
      </p:grpSp>
      <p:grpSp>
        <p:nvGrpSpPr>
          <p:cNvPr name="Group 6" id="6"/>
          <p:cNvGrpSpPr/>
          <p:nvPr/>
        </p:nvGrpSpPr>
        <p:grpSpPr>
          <a:xfrm rot="0">
            <a:off x="11670809" y="2595731"/>
            <a:ext cx="6200323" cy="5095538"/>
            <a:chOff x="0" y="0"/>
            <a:chExt cx="8267098" cy="6794051"/>
          </a:xfrm>
        </p:grpSpPr>
        <p:sp>
          <p:nvSpPr>
            <p:cNvPr name="Freeform 7" id="7"/>
            <p:cNvSpPr/>
            <p:nvPr/>
          </p:nvSpPr>
          <p:spPr>
            <a:xfrm flipH="false" flipV="false" rot="0">
              <a:off x="5404016" y="1800242"/>
              <a:ext cx="1341594" cy="946434"/>
            </a:xfrm>
            <a:custGeom>
              <a:avLst/>
              <a:gdLst/>
              <a:ahLst/>
              <a:cxnLst/>
              <a:rect r="r" b="b" t="t" l="l"/>
              <a:pathLst>
                <a:path h="946434" w="1341594">
                  <a:moveTo>
                    <a:pt x="0" y="0"/>
                  </a:moveTo>
                  <a:lnTo>
                    <a:pt x="1341594" y="0"/>
                  </a:lnTo>
                  <a:lnTo>
                    <a:pt x="1341594" y="946433"/>
                  </a:lnTo>
                  <a:lnTo>
                    <a:pt x="0" y="946433"/>
                  </a:lnTo>
                  <a:lnTo>
                    <a:pt x="0" y="0"/>
                  </a:lnTo>
                  <a:close/>
                </a:path>
              </a:pathLst>
            </a:custGeom>
            <a:blipFill>
              <a:blip r:embed="rId3"/>
              <a:stretch>
                <a:fillRect l="0" t="0" r="0" b="0"/>
              </a:stretch>
            </a:blipFill>
          </p:spPr>
        </p:sp>
        <p:sp>
          <p:nvSpPr>
            <p:cNvPr name="Freeform 8" id="8"/>
            <p:cNvSpPr/>
            <p:nvPr/>
          </p:nvSpPr>
          <p:spPr>
            <a:xfrm flipH="false" flipV="false" rot="0">
              <a:off x="0" y="0"/>
              <a:ext cx="8267098" cy="6794051"/>
            </a:xfrm>
            <a:custGeom>
              <a:avLst/>
              <a:gdLst/>
              <a:ahLst/>
              <a:cxnLst/>
              <a:rect r="r" b="b" t="t" l="l"/>
              <a:pathLst>
                <a:path h="6794051" w="8267098">
                  <a:moveTo>
                    <a:pt x="0" y="0"/>
                  </a:moveTo>
                  <a:lnTo>
                    <a:pt x="8267098" y="0"/>
                  </a:lnTo>
                  <a:lnTo>
                    <a:pt x="8267098" y="6794051"/>
                  </a:lnTo>
                  <a:lnTo>
                    <a:pt x="0" y="67940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9" id="9"/>
          <p:cNvSpPr txBox="true"/>
          <p:nvPr/>
        </p:nvSpPr>
        <p:spPr>
          <a:xfrm rot="0">
            <a:off x="812681" y="1276785"/>
            <a:ext cx="15830552" cy="908685"/>
          </a:xfrm>
          <a:prstGeom prst="rect">
            <a:avLst/>
          </a:prstGeom>
        </p:spPr>
        <p:txBody>
          <a:bodyPr anchor="t" rtlCol="false" tIns="0" lIns="0" bIns="0" rIns="0">
            <a:spAutoFit/>
          </a:bodyPr>
          <a:lstStyle/>
          <a:p>
            <a:pPr algn="l">
              <a:lnSpc>
                <a:spcPts val="6719"/>
              </a:lnSpc>
            </a:pPr>
            <a:r>
              <a:rPr lang="en-US" b="true" sz="6999">
                <a:solidFill>
                  <a:srgbClr val="007BB9"/>
                </a:solidFill>
                <a:latin typeface="Be Vietnam Medium"/>
                <a:ea typeface="Be Vietnam Medium"/>
                <a:cs typeface="Be Vietnam Medium"/>
                <a:sym typeface="Be Vietnam Medium"/>
              </a:rPr>
              <a:t>3.1 Mô tả tập dữ liệu</a:t>
            </a:r>
          </a:p>
        </p:txBody>
      </p:sp>
      <p:sp>
        <p:nvSpPr>
          <p:cNvPr name="TextBox 10" id="10"/>
          <p:cNvSpPr txBox="true"/>
          <p:nvPr/>
        </p:nvSpPr>
        <p:spPr>
          <a:xfrm rot="0">
            <a:off x="17842200" y="9808775"/>
            <a:ext cx="307578" cy="428559"/>
          </a:xfrm>
          <a:prstGeom prst="rect">
            <a:avLst/>
          </a:prstGeom>
        </p:spPr>
        <p:txBody>
          <a:bodyPr anchor="t" rtlCol="false" tIns="0" lIns="0" bIns="0" rIns="0">
            <a:spAutoFit/>
          </a:bodyPr>
          <a:lstStyle/>
          <a:p>
            <a:pPr algn="r">
              <a:lnSpc>
                <a:spcPts val="3359"/>
              </a:lnSpc>
            </a:pPr>
            <a:r>
              <a:rPr lang="en-US" sz="2799">
                <a:solidFill>
                  <a:srgbClr val="FFFFFF"/>
                </a:solidFill>
                <a:latin typeface="Barlow Light"/>
                <a:ea typeface="Barlow Light"/>
                <a:cs typeface="Barlow Light"/>
                <a:sym typeface="Barlow Light"/>
              </a:rPr>
              <a:t>19</a:t>
            </a:r>
          </a:p>
        </p:txBody>
      </p:sp>
      <p:sp>
        <p:nvSpPr>
          <p:cNvPr name="TextBox 11" id="11"/>
          <p:cNvSpPr txBox="true"/>
          <p:nvPr/>
        </p:nvSpPr>
        <p:spPr>
          <a:xfrm rot="0">
            <a:off x="812681" y="2757656"/>
            <a:ext cx="10087928" cy="5699760"/>
          </a:xfrm>
          <a:prstGeom prst="rect">
            <a:avLst/>
          </a:prstGeom>
        </p:spPr>
        <p:txBody>
          <a:bodyPr anchor="t" rtlCol="false" tIns="0" lIns="0" bIns="0" rIns="0">
            <a:spAutoFit/>
          </a:bodyPr>
          <a:lstStyle/>
          <a:p>
            <a:pPr algn="just">
              <a:lnSpc>
                <a:spcPts val="5099"/>
              </a:lnSpc>
            </a:pPr>
            <a:r>
              <a:rPr lang="en-US" sz="3399">
                <a:solidFill>
                  <a:srgbClr val="3A3F50"/>
                </a:solidFill>
                <a:latin typeface="Be Vietnam"/>
                <a:ea typeface="Be Vietnam"/>
                <a:cs typeface="Be Vietnam"/>
                <a:sym typeface="Be Vietnam"/>
              </a:rPr>
              <a:t>Tập dữ liệu được thu thập thông qua YouTube Data API v3, bao gồm thông tin về các video thịnh hành (Trending) và không thịnh hành (Non-Trending) trên nền tảng YouTube trong giai đoạn từ ngày 03/06 đến ngày 03/09. Tổng quy mô của tập dữ liệu 109 120 dòng, trong </a:t>
            </a:r>
            <a:r>
              <a:rPr lang="en-US" sz="3399">
                <a:solidFill>
                  <a:srgbClr val="3A3F50"/>
                </a:solidFill>
                <a:latin typeface="Be Vietnam"/>
                <a:ea typeface="Be Vietnam"/>
                <a:cs typeface="Be Vietnam"/>
                <a:sym typeface="Be Vietnam"/>
              </a:rPr>
              <a:t>đó mỗ</a:t>
            </a:r>
            <a:r>
              <a:rPr lang="en-US" sz="3399">
                <a:solidFill>
                  <a:srgbClr val="3A3F50"/>
                </a:solidFill>
                <a:latin typeface="Be Vietnam"/>
                <a:ea typeface="Be Vietnam"/>
                <a:cs typeface="Be Vietnam"/>
                <a:sym typeface="Be Vietnam"/>
              </a:rPr>
              <a:t>i</a:t>
            </a:r>
            <a:r>
              <a:rPr lang="en-US" sz="3399">
                <a:solidFill>
                  <a:srgbClr val="3A3F50"/>
                </a:solidFill>
                <a:latin typeface="Be Vietnam"/>
                <a:ea typeface="Be Vietnam"/>
                <a:cs typeface="Be Vietnam"/>
                <a:sym typeface="Be Vietnam"/>
              </a:rPr>
              <a:t> dòng đại diện cho một video hoặc một lần ghi </a:t>
            </a:r>
            <a:r>
              <a:rPr lang="en-US" sz="3399">
                <a:solidFill>
                  <a:srgbClr val="3A3F50"/>
                </a:solidFill>
                <a:latin typeface="Be Vietnam"/>
                <a:ea typeface="Be Vietnam"/>
                <a:cs typeface="Be Vietnam"/>
                <a:sym typeface="Be Vietnam"/>
              </a:rPr>
              <a:t>nhận trạng thái của</a:t>
            </a:r>
            <a:r>
              <a:rPr lang="en-US" sz="3399">
                <a:solidFill>
                  <a:srgbClr val="3A3F50"/>
                </a:solidFill>
                <a:latin typeface="Be Vietnam"/>
                <a:ea typeface="Be Vietnam"/>
                <a:cs typeface="Be Vietnam"/>
                <a:sym typeface="Be Vietnam"/>
              </a:rPr>
              <a:t> video tại một thời điểm </a:t>
            </a:r>
            <a:r>
              <a:rPr lang="en-US" sz="3399">
                <a:solidFill>
                  <a:srgbClr val="3A3F50"/>
                </a:solidFill>
                <a:latin typeface="Be Vietnam"/>
                <a:ea typeface="Be Vietnam"/>
                <a:cs typeface="Be Vietnam"/>
                <a:sym typeface="Be Vietnam"/>
              </a:rPr>
              <a:t>nhất định.</a:t>
            </a:r>
          </a:p>
        </p:txBody>
      </p:sp>
    </p:spTree>
  </p:cSld>
  <p:clrMapOvr>
    <a:masterClrMapping/>
  </p:clrMapOvr>
  <p:transition spd="fast">
    <p:fade/>
  </p:transition>
</p:sld>
</file>

<file path=ppt/slides/slide20.xml><?xml version="1.0" encoding="utf-8"?>
<p:sld xmlns:p="http://schemas.openxmlformats.org/presentationml/2006/main" xmlns:a="http://schemas.openxmlformats.org/drawingml/2006/main">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0">
            <a:off x="17373600" y="9349700"/>
            <a:ext cx="937200" cy="937200"/>
            <a:chOff x="0" y="0"/>
            <a:chExt cx="1249600" cy="1249600"/>
          </a:xfrm>
        </p:grpSpPr>
        <p:sp>
          <p:nvSpPr>
            <p:cNvPr name="Freeform 3" id="3"/>
            <p:cNvSpPr/>
            <p:nvPr/>
          </p:nvSpPr>
          <p:spPr>
            <a:xfrm flipH="false" flipV="false" rot="0">
              <a:off x="0" y="0"/>
              <a:ext cx="1249553" cy="1249553"/>
            </a:xfrm>
            <a:custGeom>
              <a:avLst/>
              <a:gdLst/>
              <a:ahLst/>
              <a:cxnLst/>
              <a:rect r="r" b="b" t="t" l="l"/>
              <a:pathLst>
                <a:path h="1249553" w="1249553">
                  <a:moveTo>
                    <a:pt x="1249553" y="1249553"/>
                  </a:moveTo>
                  <a:lnTo>
                    <a:pt x="1249553" y="0"/>
                  </a:lnTo>
                  <a:lnTo>
                    <a:pt x="0" y="1249553"/>
                  </a:lnTo>
                  <a:close/>
                </a:path>
              </a:pathLst>
            </a:custGeom>
            <a:solidFill>
              <a:srgbClr val="00B5DD"/>
            </a:solidFill>
          </p:spPr>
        </p:sp>
      </p:grpSp>
      <p:grpSp>
        <p:nvGrpSpPr>
          <p:cNvPr name="Group 4" id="4"/>
          <p:cNvGrpSpPr/>
          <p:nvPr/>
        </p:nvGrpSpPr>
        <p:grpSpPr>
          <a:xfrm rot="5400000">
            <a:off x="-200700" y="1448970"/>
            <a:ext cx="937200" cy="535800"/>
            <a:chOff x="0" y="0"/>
            <a:chExt cx="1249600" cy="714400"/>
          </a:xfrm>
        </p:grpSpPr>
        <p:sp>
          <p:nvSpPr>
            <p:cNvPr name="Freeform 5" id="5"/>
            <p:cNvSpPr/>
            <p:nvPr/>
          </p:nvSpPr>
          <p:spPr>
            <a:xfrm flipH="false" flipV="false" rot="0">
              <a:off x="0" y="0"/>
              <a:ext cx="1249680" cy="714375"/>
            </a:xfrm>
            <a:custGeom>
              <a:avLst/>
              <a:gdLst/>
              <a:ahLst/>
              <a:cxnLst/>
              <a:rect r="r" b="b" t="t" l="l"/>
              <a:pathLst>
                <a:path h="714375" w="1249680">
                  <a:moveTo>
                    <a:pt x="0" y="714375"/>
                  </a:moveTo>
                  <a:lnTo>
                    <a:pt x="624840" y="0"/>
                  </a:lnTo>
                  <a:lnTo>
                    <a:pt x="1249680" y="714375"/>
                  </a:lnTo>
                  <a:close/>
                </a:path>
              </a:pathLst>
            </a:custGeom>
            <a:solidFill>
              <a:srgbClr val="00B5DD"/>
            </a:solidFill>
          </p:spPr>
        </p:sp>
      </p:grpSp>
      <p:sp>
        <p:nvSpPr>
          <p:cNvPr name="TextBox 6" id="6"/>
          <p:cNvSpPr txBox="true"/>
          <p:nvPr/>
        </p:nvSpPr>
        <p:spPr>
          <a:xfrm rot="0">
            <a:off x="0" y="2685980"/>
            <a:ext cx="8279311" cy="7843520"/>
          </a:xfrm>
          <a:prstGeom prst="rect">
            <a:avLst/>
          </a:prstGeom>
        </p:spPr>
        <p:txBody>
          <a:bodyPr anchor="t" rtlCol="false" tIns="0" lIns="0" bIns="0" rIns="0">
            <a:spAutoFit/>
          </a:bodyPr>
          <a:lstStyle/>
          <a:p>
            <a:pPr algn="just" marL="974952" indent="-487476" lvl="1">
              <a:lnSpc>
                <a:spcPts val="4479"/>
              </a:lnSpc>
              <a:buFont typeface="Arial"/>
              <a:buChar char="•"/>
            </a:pPr>
            <a:r>
              <a:rPr lang="en-US" sz="3199">
                <a:solidFill>
                  <a:srgbClr val="3A3F50"/>
                </a:solidFill>
                <a:latin typeface="Be Vietnam"/>
                <a:ea typeface="Be Vietnam"/>
                <a:cs typeface="Be Vietnam"/>
                <a:sym typeface="Be Vietnam"/>
              </a:rPr>
              <a:t>videoId: Mã định danh duy nhất của video</a:t>
            </a:r>
          </a:p>
          <a:p>
            <a:pPr algn="just" marL="974952" indent="-487476" lvl="1">
              <a:lnSpc>
                <a:spcPts val="4479"/>
              </a:lnSpc>
              <a:buFont typeface="Arial"/>
              <a:buChar char="•"/>
            </a:pPr>
            <a:r>
              <a:rPr lang="en-US" sz="3199">
                <a:solidFill>
                  <a:srgbClr val="3A3F50"/>
                </a:solidFill>
                <a:latin typeface="Be Vietnam"/>
                <a:ea typeface="Be Vietnam"/>
                <a:cs typeface="Be Vietnam"/>
                <a:sym typeface="Be Vietnam"/>
              </a:rPr>
              <a:t>title: Tiêu đề của video.</a:t>
            </a:r>
          </a:p>
          <a:p>
            <a:pPr algn="just" marL="974952" indent="-487476" lvl="1">
              <a:lnSpc>
                <a:spcPts val="4479"/>
              </a:lnSpc>
              <a:buFont typeface="Arial"/>
              <a:buChar char="•"/>
            </a:pPr>
            <a:r>
              <a:rPr lang="en-US" sz="3199">
                <a:solidFill>
                  <a:srgbClr val="3A3F50"/>
                </a:solidFill>
                <a:latin typeface="Be Vietnam"/>
                <a:ea typeface="Be Vietnam"/>
                <a:cs typeface="Be Vietnam"/>
                <a:sym typeface="Be Vietnam"/>
              </a:rPr>
              <a:t>channelTitle: Tên hiển thị của kênh đăng video.</a:t>
            </a:r>
          </a:p>
          <a:p>
            <a:pPr algn="just" marL="974952" indent="-487476" lvl="1">
              <a:lnSpc>
                <a:spcPts val="4479"/>
              </a:lnSpc>
              <a:buFont typeface="Arial"/>
              <a:buChar char="•"/>
            </a:pPr>
            <a:r>
              <a:rPr lang="en-US" sz="3199">
                <a:solidFill>
                  <a:srgbClr val="3A3F50"/>
                </a:solidFill>
                <a:latin typeface="Be Vietnam"/>
                <a:ea typeface="Be Vietnam"/>
                <a:cs typeface="Be Vietnam"/>
                <a:sym typeface="Be Vietnam"/>
              </a:rPr>
              <a:t>publishedAt: Thời gian video công khai</a:t>
            </a:r>
          </a:p>
          <a:p>
            <a:pPr algn="just" marL="974952" indent="-487476" lvl="1">
              <a:lnSpc>
                <a:spcPts val="4479"/>
              </a:lnSpc>
              <a:buFont typeface="Arial"/>
              <a:buChar char="•"/>
            </a:pPr>
            <a:r>
              <a:rPr lang="en-US" sz="3199">
                <a:solidFill>
                  <a:srgbClr val="3A3F50"/>
                </a:solidFill>
                <a:latin typeface="Be Vietnam"/>
                <a:ea typeface="Be Vietnam"/>
                <a:cs typeface="Be Vietnam"/>
                <a:sym typeface="Be Vietnam"/>
              </a:rPr>
              <a:t>description:  mô tả phía dưới video.</a:t>
            </a:r>
          </a:p>
          <a:p>
            <a:pPr algn="just" marL="974952" indent="-487476" lvl="1">
              <a:lnSpc>
                <a:spcPts val="4479"/>
              </a:lnSpc>
              <a:buFont typeface="Arial"/>
              <a:buChar char="•"/>
            </a:pPr>
            <a:r>
              <a:rPr lang="en-US" sz="3199">
                <a:solidFill>
                  <a:srgbClr val="3A3F50"/>
                </a:solidFill>
                <a:latin typeface="Be Vietnam"/>
                <a:ea typeface="Be Vietnam"/>
                <a:cs typeface="Be Vietnam"/>
                <a:sym typeface="Be Vietnam"/>
              </a:rPr>
              <a:t>tags: Các từ khóa của video. </a:t>
            </a:r>
          </a:p>
          <a:p>
            <a:pPr algn="just" marL="974952" indent="-487476" lvl="1">
              <a:lnSpc>
                <a:spcPts val="4479"/>
              </a:lnSpc>
              <a:buFont typeface="Arial"/>
              <a:buChar char="•"/>
            </a:pPr>
            <a:r>
              <a:rPr lang="en-US" sz="3199">
                <a:solidFill>
                  <a:srgbClr val="3A3F50"/>
                </a:solidFill>
                <a:latin typeface="Be Vietnam"/>
                <a:ea typeface="Be Vietnam"/>
                <a:cs typeface="Be Vietnam"/>
                <a:sym typeface="Be Vietnam"/>
              </a:rPr>
              <a:t>categoryId: Một mã số đại diện cho danh mục video </a:t>
            </a:r>
          </a:p>
          <a:p>
            <a:pPr algn="just">
              <a:lnSpc>
                <a:spcPts val="4479"/>
              </a:lnSpc>
            </a:pPr>
          </a:p>
          <a:p>
            <a:pPr algn="just">
              <a:lnSpc>
                <a:spcPts val="4479"/>
              </a:lnSpc>
            </a:pPr>
          </a:p>
          <a:p>
            <a:pPr algn="just">
              <a:lnSpc>
                <a:spcPts val="4479"/>
              </a:lnSpc>
            </a:pPr>
          </a:p>
        </p:txBody>
      </p:sp>
      <p:sp>
        <p:nvSpPr>
          <p:cNvPr name="TextBox 7" id="7"/>
          <p:cNvSpPr txBox="true"/>
          <p:nvPr/>
        </p:nvSpPr>
        <p:spPr>
          <a:xfrm rot="0">
            <a:off x="812681" y="1276785"/>
            <a:ext cx="15830552" cy="908685"/>
          </a:xfrm>
          <a:prstGeom prst="rect">
            <a:avLst/>
          </a:prstGeom>
        </p:spPr>
        <p:txBody>
          <a:bodyPr anchor="t" rtlCol="false" tIns="0" lIns="0" bIns="0" rIns="0">
            <a:spAutoFit/>
          </a:bodyPr>
          <a:lstStyle/>
          <a:p>
            <a:pPr algn="l">
              <a:lnSpc>
                <a:spcPts val="6719"/>
              </a:lnSpc>
            </a:pPr>
            <a:r>
              <a:rPr lang="en-US" b="true" sz="6999">
                <a:solidFill>
                  <a:srgbClr val="007BB9"/>
                </a:solidFill>
                <a:latin typeface="Be Vietnam Medium"/>
                <a:ea typeface="Be Vietnam Medium"/>
                <a:cs typeface="Be Vietnam Medium"/>
                <a:sym typeface="Be Vietnam Medium"/>
              </a:rPr>
              <a:t>3.1 Mô tả tập dữ liệu</a:t>
            </a:r>
          </a:p>
        </p:txBody>
      </p:sp>
      <p:sp>
        <p:nvSpPr>
          <p:cNvPr name="TextBox 8" id="8"/>
          <p:cNvSpPr txBox="true"/>
          <p:nvPr/>
        </p:nvSpPr>
        <p:spPr>
          <a:xfrm rot="0">
            <a:off x="17842200" y="9808775"/>
            <a:ext cx="388607" cy="428559"/>
          </a:xfrm>
          <a:prstGeom prst="rect">
            <a:avLst/>
          </a:prstGeom>
        </p:spPr>
        <p:txBody>
          <a:bodyPr anchor="t" rtlCol="false" tIns="0" lIns="0" bIns="0" rIns="0">
            <a:spAutoFit/>
          </a:bodyPr>
          <a:lstStyle/>
          <a:p>
            <a:pPr algn="r">
              <a:lnSpc>
                <a:spcPts val="3359"/>
              </a:lnSpc>
            </a:pPr>
            <a:r>
              <a:rPr lang="en-US" sz="2799">
                <a:solidFill>
                  <a:srgbClr val="FFFFFF"/>
                </a:solidFill>
                <a:latin typeface="Barlow Light"/>
                <a:ea typeface="Barlow Light"/>
                <a:cs typeface="Barlow Light"/>
                <a:sym typeface="Barlow Light"/>
              </a:rPr>
              <a:t>20</a:t>
            </a:r>
          </a:p>
        </p:txBody>
      </p:sp>
      <p:sp>
        <p:nvSpPr>
          <p:cNvPr name="TextBox 9" id="9"/>
          <p:cNvSpPr txBox="true"/>
          <p:nvPr/>
        </p:nvSpPr>
        <p:spPr>
          <a:xfrm rot="0">
            <a:off x="8395208" y="2685980"/>
            <a:ext cx="9475964" cy="6719571"/>
          </a:xfrm>
          <a:prstGeom prst="rect">
            <a:avLst/>
          </a:prstGeom>
        </p:spPr>
        <p:txBody>
          <a:bodyPr anchor="t" rtlCol="false" tIns="0" lIns="0" bIns="0" rIns="0">
            <a:spAutoFit/>
          </a:bodyPr>
          <a:lstStyle/>
          <a:p>
            <a:pPr algn="just" marL="974948" indent="-487474" lvl="1">
              <a:lnSpc>
                <a:spcPts val="4479"/>
              </a:lnSpc>
              <a:buFont typeface="Arial"/>
              <a:buChar char="•"/>
            </a:pPr>
            <a:r>
              <a:rPr lang="en-US" sz="3199">
                <a:solidFill>
                  <a:srgbClr val="3A3F50"/>
                </a:solidFill>
                <a:latin typeface="Be Vietnam"/>
                <a:ea typeface="Be Vietnam"/>
                <a:cs typeface="Be Vietnam"/>
                <a:sym typeface="Be Vietnam"/>
              </a:rPr>
              <a:t>viewCount: Tổng số lượt xem.</a:t>
            </a:r>
          </a:p>
          <a:p>
            <a:pPr algn="just" marL="974948" indent="-487474" lvl="1">
              <a:lnSpc>
                <a:spcPts val="4479"/>
              </a:lnSpc>
              <a:buFont typeface="Arial"/>
              <a:buChar char="•"/>
            </a:pPr>
            <a:r>
              <a:rPr lang="en-US" sz="3199">
                <a:solidFill>
                  <a:srgbClr val="3A3F50"/>
                </a:solidFill>
                <a:latin typeface="Be Vietnam"/>
                <a:ea typeface="Be Vietnam"/>
                <a:cs typeface="Be Vietnam"/>
                <a:sym typeface="Be Vietnam"/>
              </a:rPr>
              <a:t>likeCount: Tổng số lượt thích.</a:t>
            </a:r>
          </a:p>
          <a:p>
            <a:pPr algn="just" marL="974948" indent="-487474" lvl="1">
              <a:lnSpc>
                <a:spcPts val="4479"/>
              </a:lnSpc>
              <a:buFont typeface="Arial"/>
              <a:buChar char="•"/>
            </a:pPr>
            <a:r>
              <a:rPr lang="en-US" sz="3199">
                <a:solidFill>
                  <a:srgbClr val="3A3F50"/>
                </a:solidFill>
                <a:latin typeface="Be Vietnam"/>
                <a:ea typeface="Be Vietnam"/>
                <a:cs typeface="Be Vietnam"/>
                <a:sym typeface="Be Vietnam"/>
              </a:rPr>
              <a:t>commentCount: Tổng số bình luận.</a:t>
            </a:r>
          </a:p>
          <a:p>
            <a:pPr algn="just" marL="974948" indent="-487474" lvl="1">
              <a:lnSpc>
                <a:spcPts val="4479"/>
              </a:lnSpc>
              <a:buFont typeface="Arial"/>
              <a:buChar char="•"/>
            </a:pPr>
            <a:r>
              <a:rPr lang="en-US" sz="3199">
                <a:solidFill>
                  <a:srgbClr val="3A3F50"/>
                </a:solidFill>
                <a:latin typeface="Be Vietnam"/>
                <a:ea typeface="Be Vietnam"/>
                <a:cs typeface="Be Vietnam"/>
                <a:sym typeface="Be Vietnam"/>
              </a:rPr>
              <a:t>duration: Thời lượng video. </a:t>
            </a:r>
          </a:p>
          <a:p>
            <a:pPr algn="just" marL="974948" indent="-487474" lvl="1">
              <a:lnSpc>
                <a:spcPts val="4479"/>
              </a:lnSpc>
              <a:buFont typeface="Arial"/>
              <a:buChar char="•"/>
            </a:pPr>
            <a:r>
              <a:rPr lang="en-US" sz="3199">
                <a:solidFill>
                  <a:srgbClr val="3A3F50"/>
                </a:solidFill>
                <a:latin typeface="Be Vietnam"/>
                <a:ea typeface="Be Vietnam"/>
                <a:cs typeface="Be Vietnam"/>
                <a:sym typeface="Be Vietnam"/>
              </a:rPr>
              <a:t>dimension: Video là 2d hay 3d.</a:t>
            </a:r>
          </a:p>
          <a:p>
            <a:pPr algn="just" marL="974948" indent="-487474" lvl="1">
              <a:lnSpc>
                <a:spcPts val="4479"/>
              </a:lnSpc>
              <a:buFont typeface="Arial"/>
              <a:buChar char="•"/>
            </a:pPr>
            <a:r>
              <a:rPr lang="en-US" sz="3199">
                <a:solidFill>
                  <a:srgbClr val="3A3F50"/>
                </a:solidFill>
                <a:latin typeface="Be Vietnam"/>
                <a:ea typeface="Be Vietnam"/>
                <a:cs typeface="Be Vietnam"/>
                <a:sym typeface="Be Vietnam"/>
              </a:rPr>
              <a:t>definition: Chất lượng video, thường là hd (High Definition) hoặc sd (Standard Definition).</a:t>
            </a:r>
          </a:p>
          <a:p>
            <a:pPr algn="just" marL="974948" indent="-487474" lvl="1">
              <a:lnSpc>
                <a:spcPts val="4479"/>
              </a:lnSpc>
              <a:buFont typeface="Arial"/>
              <a:buChar char="•"/>
            </a:pPr>
            <a:r>
              <a:rPr lang="en-US" sz="3199">
                <a:solidFill>
                  <a:srgbClr val="3A3F50"/>
                </a:solidFill>
                <a:latin typeface="Be Vietnam"/>
                <a:ea typeface="Be Vietnam"/>
                <a:cs typeface="Be Vietnam"/>
                <a:sym typeface="Be Vietnam"/>
              </a:rPr>
              <a:t>caption: Cho biết video có phụ đề (caption) hay không </a:t>
            </a:r>
          </a:p>
          <a:p>
            <a:pPr algn="just" marL="974948" indent="-487474" lvl="1">
              <a:lnSpc>
                <a:spcPts val="4479"/>
              </a:lnSpc>
              <a:buFont typeface="Arial"/>
              <a:buChar char="•"/>
            </a:pPr>
            <a:r>
              <a:rPr lang="en-US" sz="3199">
                <a:solidFill>
                  <a:srgbClr val="3A3F50"/>
                </a:solidFill>
                <a:latin typeface="Be Vietnam"/>
                <a:ea typeface="Be Vietnam"/>
                <a:cs typeface="Be Vietnam"/>
                <a:sym typeface="Be Vietnam"/>
              </a:rPr>
              <a:t>...</a:t>
            </a:r>
          </a:p>
          <a:p>
            <a:pPr algn="just">
              <a:lnSpc>
                <a:spcPts val="4479"/>
              </a:lnSpc>
            </a:pPr>
          </a:p>
        </p:txBody>
      </p:sp>
    </p:spTree>
  </p:cSld>
  <p:clrMapOvr>
    <a:masterClrMapping/>
  </p:clrMapOvr>
  <p:transition spd="fast">
    <p:fade/>
  </p:transition>
</p:sld>
</file>

<file path=ppt/slides/slide2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0">
            <a:off x="17373600" y="9349700"/>
            <a:ext cx="937200" cy="937200"/>
            <a:chOff x="0" y="0"/>
            <a:chExt cx="1249600" cy="1249600"/>
          </a:xfrm>
        </p:grpSpPr>
        <p:sp>
          <p:nvSpPr>
            <p:cNvPr name="Freeform 3" id="3"/>
            <p:cNvSpPr/>
            <p:nvPr/>
          </p:nvSpPr>
          <p:spPr>
            <a:xfrm flipH="false" flipV="false" rot="0">
              <a:off x="0" y="0"/>
              <a:ext cx="1249553" cy="1249553"/>
            </a:xfrm>
            <a:custGeom>
              <a:avLst/>
              <a:gdLst/>
              <a:ahLst/>
              <a:cxnLst/>
              <a:rect r="r" b="b" t="t" l="l"/>
              <a:pathLst>
                <a:path h="1249553" w="1249553">
                  <a:moveTo>
                    <a:pt x="1249553" y="1249553"/>
                  </a:moveTo>
                  <a:lnTo>
                    <a:pt x="1249553" y="0"/>
                  </a:lnTo>
                  <a:lnTo>
                    <a:pt x="0" y="1249553"/>
                  </a:lnTo>
                  <a:close/>
                </a:path>
              </a:pathLst>
            </a:custGeom>
            <a:solidFill>
              <a:srgbClr val="00B5DD"/>
            </a:solidFill>
          </p:spPr>
        </p:sp>
      </p:grpSp>
      <p:grpSp>
        <p:nvGrpSpPr>
          <p:cNvPr name="Group 4" id="4"/>
          <p:cNvGrpSpPr/>
          <p:nvPr/>
        </p:nvGrpSpPr>
        <p:grpSpPr>
          <a:xfrm rot="5400000">
            <a:off x="-200700" y="1448970"/>
            <a:ext cx="937200" cy="535800"/>
            <a:chOff x="0" y="0"/>
            <a:chExt cx="1249600" cy="714400"/>
          </a:xfrm>
        </p:grpSpPr>
        <p:sp>
          <p:nvSpPr>
            <p:cNvPr name="Freeform 5" id="5"/>
            <p:cNvSpPr/>
            <p:nvPr/>
          </p:nvSpPr>
          <p:spPr>
            <a:xfrm flipH="false" flipV="false" rot="0">
              <a:off x="0" y="0"/>
              <a:ext cx="1249680" cy="714375"/>
            </a:xfrm>
            <a:custGeom>
              <a:avLst/>
              <a:gdLst/>
              <a:ahLst/>
              <a:cxnLst/>
              <a:rect r="r" b="b" t="t" l="l"/>
              <a:pathLst>
                <a:path h="714375" w="1249680">
                  <a:moveTo>
                    <a:pt x="0" y="714375"/>
                  </a:moveTo>
                  <a:lnTo>
                    <a:pt x="624840" y="0"/>
                  </a:lnTo>
                  <a:lnTo>
                    <a:pt x="1249680" y="714375"/>
                  </a:lnTo>
                  <a:close/>
                </a:path>
              </a:pathLst>
            </a:custGeom>
            <a:solidFill>
              <a:srgbClr val="00B5DD"/>
            </a:solidFill>
          </p:spPr>
        </p:sp>
      </p:grpSp>
      <p:sp>
        <p:nvSpPr>
          <p:cNvPr name="Freeform 6" id="6"/>
          <p:cNvSpPr/>
          <p:nvPr/>
        </p:nvSpPr>
        <p:spPr>
          <a:xfrm flipH="false" flipV="false" rot="0">
            <a:off x="267900" y="5729273"/>
            <a:ext cx="3209743" cy="3878844"/>
          </a:xfrm>
          <a:custGeom>
            <a:avLst/>
            <a:gdLst/>
            <a:ahLst/>
            <a:cxnLst/>
            <a:rect r="r" b="b" t="t" l="l"/>
            <a:pathLst>
              <a:path h="3878844" w="3209743">
                <a:moveTo>
                  <a:pt x="0" y="0"/>
                </a:moveTo>
                <a:lnTo>
                  <a:pt x="3209743" y="0"/>
                </a:lnTo>
                <a:lnTo>
                  <a:pt x="3209743" y="3878844"/>
                </a:lnTo>
                <a:lnTo>
                  <a:pt x="0" y="3878844"/>
                </a:lnTo>
                <a:lnTo>
                  <a:pt x="0" y="0"/>
                </a:lnTo>
                <a:close/>
              </a:path>
            </a:pathLst>
          </a:custGeom>
          <a:blipFill>
            <a:blip r:embed="rId3"/>
            <a:stretch>
              <a:fillRect l="0" t="0" r="0" b="0"/>
            </a:stretch>
          </a:blipFill>
        </p:spPr>
      </p:sp>
      <p:sp>
        <p:nvSpPr>
          <p:cNvPr name="Freeform 7" id="7"/>
          <p:cNvSpPr/>
          <p:nvPr/>
        </p:nvSpPr>
        <p:spPr>
          <a:xfrm flipH="false" flipV="false" rot="0">
            <a:off x="12187090" y="2875314"/>
            <a:ext cx="4824011" cy="5342786"/>
          </a:xfrm>
          <a:custGeom>
            <a:avLst/>
            <a:gdLst/>
            <a:ahLst/>
            <a:cxnLst/>
            <a:rect r="r" b="b" t="t" l="l"/>
            <a:pathLst>
              <a:path h="5342786" w="4824011">
                <a:moveTo>
                  <a:pt x="0" y="0"/>
                </a:moveTo>
                <a:lnTo>
                  <a:pt x="4824011" y="0"/>
                </a:lnTo>
                <a:lnTo>
                  <a:pt x="4824011" y="5342786"/>
                </a:lnTo>
                <a:lnTo>
                  <a:pt x="0" y="53427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0" y="2109270"/>
            <a:ext cx="11898811" cy="5559425"/>
          </a:xfrm>
          <a:prstGeom prst="rect">
            <a:avLst/>
          </a:prstGeom>
        </p:spPr>
        <p:txBody>
          <a:bodyPr anchor="t" rtlCol="false" tIns="0" lIns="0" bIns="0" rIns="0">
            <a:spAutoFit/>
          </a:bodyPr>
          <a:lstStyle/>
          <a:p>
            <a:pPr algn="just">
              <a:lnSpc>
                <a:spcPts val="4900"/>
              </a:lnSpc>
            </a:pPr>
          </a:p>
          <a:p>
            <a:pPr algn="just" marL="1066356" indent="-533178" lvl="1">
              <a:lnSpc>
                <a:spcPts val="4900"/>
              </a:lnSpc>
              <a:buFont typeface="Arial"/>
              <a:buChar char="•"/>
            </a:pPr>
            <a:r>
              <a:rPr lang="en-US" sz="3500">
                <a:solidFill>
                  <a:srgbClr val="3A3F50"/>
                </a:solidFill>
                <a:latin typeface="Be Vietnam"/>
                <a:ea typeface="Be Vietnam"/>
                <a:cs typeface="Be Vietnam"/>
                <a:sym typeface="Be Vietnam"/>
              </a:rPr>
              <a:t>Chuyển đổi categoryId sang categoryName </a:t>
            </a:r>
          </a:p>
          <a:p>
            <a:pPr algn="just" marL="1066356" indent="-533178" lvl="1">
              <a:lnSpc>
                <a:spcPts val="4900"/>
              </a:lnSpc>
              <a:buFont typeface="Arial"/>
              <a:buChar char="•"/>
            </a:pPr>
            <a:r>
              <a:rPr lang="en-US" sz="3500">
                <a:solidFill>
                  <a:srgbClr val="3A3F50"/>
                </a:solidFill>
                <a:latin typeface="Be Vietnam"/>
                <a:ea typeface="Be Vietnam"/>
                <a:cs typeface="Be Vietnam"/>
                <a:sym typeface="Be Vietnam"/>
              </a:rPr>
              <a:t>Chuyển đổi duration sang giây</a:t>
            </a:r>
          </a:p>
          <a:p>
            <a:pPr algn="just" marL="1066356" indent="-533178" lvl="1">
              <a:lnSpc>
                <a:spcPts val="4900"/>
              </a:lnSpc>
              <a:buFont typeface="Arial"/>
              <a:buChar char="•"/>
            </a:pPr>
            <a:r>
              <a:rPr lang="en-US" sz="3500">
                <a:solidFill>
                  <a:srgbClr val="3A3F50"/>
                </a:solidFill>
                <a:latin typeface="Be Vietnam"/>
                <a:ea typeface="Be Vietnam"/>
                <a:cs typeface="Be Vietnam"/>
                <a:sym typeface="Be Vietnam"/>
              </a:rPr>
              <a:t>Đã chuyển đổi publishedAt về định dạng datetime</a:t>
            </a:r>
          </a:p>
          <a:p>
            <a:pPr algn="just" marL="1066356" indent="-533178" lvl="1">
              <a:lnSpc>
                <a:spcPts val="4900"/>
              </a:lnSpc>
              <a:buFont typeface="Arial"/>
              <a:buChar char="•"/>
            </a:pPr>
            <a:r>
              <a:rPr lang="en-US" sz="3500">
                <a:solidFill>
                  <a:srgbClr val="3A3F50"/>
                </a:solidFill>
                <a:latin typeface="Be Vietnam"/>
                <a:ea typeface="Be Vietnam"/>
                <a:cs typeface="Be Vietnam"/>
                <a:sym typeface="Be Vietnam"/>
              </a:rPr>
              <a:t>Đã chuyển đổi các cột số về dạng numeric </a:t>
            </a:r>
          </a:p>
          <a:p>
            <a:pPr algn="just" marL="1066356" indent="-533178" lvl="1">
              <a:lnSpc>
                <a:spcPts val="4900"/>
              </a:lnSpc>
              <a:buFont typeface="Arial"/>
              <a:buChar char="•"/>
            </a:pPr>
            <a:r>
              <a:rPr lang="en-US" sz="3500">
                <a:solidFill>
                  <a:srgbClr val="3A3F50"/>
                </a:solidFill>
                <a:latin typeface="Be Vietnam"/>
                <a:ea typeface="Be Vietnam"/>
                <a:cs typeface="Be Vietnam"/>
                <a:sym typeface="Be Vietnam"/>
              </a:rPr>
              <a:t>Loại bỏ dữ liệu không hợp lệ: null hoặc các giá trị 0 </a:t>
            </a:r>
          </a:p>
          <a:p>
            <a:pPr algn="just">
              <a:lnSpc>
                <a:spcPts val="4900"/>
              </a:lnSpc>
            </a:pPr>
          </a:p>
          <a:p>
            <a:pPr algn="just">
              <a:lnSpc>
                <a:spcPts val="4900"/>
              </a:lnSpc>
            </a:pPr>
          </a:p>
          <a:p>
            <a:pPr algn="just">
              <a:lnSpc>
                <a:spcPts val="4900"/>
              </a:lnSpc>
            </a:pPr>
          </a:p>
        </p:txBody>
      </p:sp>
      <p:sp>
        <p:nvSpPr>
          <p:cNvPr name="TextBox 9" id="9"/>
          <p:cNvSpPr txBox="true"/>
          <p:nvPr/>
        </p:nvSpPr>
        <p:spPr>
          <a:xfrm rot="0">
            <a:off x="812681" y="1276785"/>
            <a:ext cx="15830552" cy="908685"/>
          </a:xfrm>
          <a:prstGeom prst="rect">
            <a:avLst/>
          </a:prstGeom>
        </p:spPr>
        <p:txBody>
          <a:bodyPr anchor="t" rtlCol="false" tIns="0" lIns="0" bIns="0" rIns="0">
            <a:spAutoFit/>
          </a:bodyPr>
          <a:lstStyle/>
          <a:p>
            <a:pPr algn="l">
              <a:lnSpc>
                <a:spcPts val="6719"/>
              </a:lnSpc>
            </a:pPr>
            <a:r>
              <a:rPr lang="en-US" b="true" sz="6999">
                <a:solidFill>
                  <a:srgbClr val="007BB9"/>
                </a:solidFill>
                <a:latin typeface="Be Vietnam Medium"/>
                <a:ea typeface="Be Vietnam Medium"/>
                <a:cs typeface="Be Vietnam Medium"/>
                <a:sym typeface="Be Vietnam Medium"/>
              </a:rPr>
              <a:t>3.2 Tiền xử lí dữ liệu</a:t>
            </a:r>
          </a:p>
        </p:txBody>
      </p:sp>
      <p:sp>
        <p:nvSpPr>
          <p:cNvPr name="TextBox 10" id="10"/>
          <p:cNvSpPr txBox="true"/>
          <p:nvPr/>
        </p:nvSpPr>
        <p:spPr>
          <a:xfrm rot="0">
            <a:off x="17919296" y="9808709"/>
            <a:ext cx="311511" cy="428625"/>
          </a:xfrm>
          <a:prstGeom prst="rect">
            <a:avLst/>
          </a:prstGeom>
        </p:spPr>
        <p:txBody>
          <a:bodyPr anchor="t" rtlCol="false" tIns="0" lIns="0" bIns="0" rIns="0">
            <a:spAutoFit/>
          </a:bodyPr>
          <a:lstStyle/>
          <a:p>
            <a:pPr algn="r">
              <a:lnSpc>
                <a:spcPts val="3359"/>
              </a:lnSpc>
            </a:pPr>
            <a:r>
              <a:rPr lang="en-US" sz="2799">
                <a:solidFill>
                  <a:srgbClr val="FFFFFF"/>
                </a:solidFill>
                <a:latin typeface="Barlow Light"/>
                <a:ea typeface="Barlow Light"/>
                <a:cs typeface="Barlow Light"/>
                <a:sym typeface="Barlow Light"/>
              </a:rPr>
              <a:t>21</a:t>
            </a:r>
          </a:p>
        </p:txBody>
      </p:sp>
      <p:sp>
        <p:nvSpPr>
          <p:cNvPr name="TextBox 11" id="11"/>
          <p:cNvSpPr txBox="true"/>
          <p:nvPr/>
        </p:nvSpPr>
        <p:spPr>
          <a:xfrm rot="0">
            <a:off x="4272881" y="6513125"/>
            <a:ext cx="9742239" cy="3305175"/>
          </a:xfrm>
          <a:prstGeom prst="rect">
            <a:avLst/>
          </a:prstGeom>
        </p:spPr>
        <p:txBody>
          <a:bodyPr anchor="t" rtlCol="false" tIns="0" lIns="0" bIns="0" rIns="0">
            <a:spAutoFit/>
          </a:bodyPr>
          <a:lstStyle/>
          <a:p>
            <a:pPr algn="l" marL="755651" indent="-377825" lvl="1">
              <a:lnSpc>
                <a:spcPts val="5250"/>
              </a:lnSpc>
              <a:buFont typeface="Arial"/>
              <a:buChar char="•"/>
            </a:pPr>
            <a:r>
              <a:rPr lang="en-US" sz="3500">
                <a:solidFill>
                  <a:srgbClr val="3A3F50"/>
                </a:solidFill>
                <a:latin typeface="Be Vietnam"/>
                <a:ea typeface="Be Vietnam"/>
                <a:cs typeface="Be Vietnam"/>
                <a:sym typeface="Be Vietnam"/>
              </a:rPr>
              <a:t>Dataset gốc: 109120 dòng</a:t>
            </a:r>
          </a:p>
          <a:p>
            <a:pPr algn="l" marL="755651" indent="-377825" lvl="1">
              <a:lnSpc>
                <a:spcPts val="5250"/>
              </a:lnSpc>
              <a:buFont typeface="Arial"/>
              <a:buChar char="•"/>
            </a:pPr>
            <a:r>
              <a:rPr lang="en-US" sz="3500">
                <a:solidFill>
                  <a:srgbClr val="3A3F50"/>
                </a:solidFill>
                <a:latin typeface="Be Vietnam"/>
                <a:ea typeface="Be Vietnam"/>
                <a:cs typeface="Be Vietnam"/>
                <a:sym typeface="Be Vietnam"/>
              </a:rPr>
              <a:t>Dataset sau xử lý: 87759 dòng</a:t>
            </a:r>
          </a:p>
          <a:p>
            <a:pPr algn="l" marL="755651" indent="-377825" lvl="1">
              <a:lnSpc>
                <a:spcPts val="5250"/>
              </a:lnSpc>
              <a:buFont typeface="Arial"/>
              <a:buChar char="•"/>
            </a:pPr>
            <a:r>
              <a:rPr lang="en-US" sz="3500">
                <a:solidFill>
                  <a:srgbClr val="3A3F50"/>
                </a:solidFill>
                <a:latin typeface="Be Vietnam"/>
                <a:ea typeface="Be Vietnam"/>
                <a:cs typeface="Be Vietnam"/>
                <a:sym typeface="Be Vietnam"/>
              </a:rPr>
              <a:t>Tỷ lệ giữ lại: 80.4%</a:t>
            </a:r>
          </a:p>
          <a:p>
            <a:pPr algn="l" marL="755651" indent="-377825" lvl="1">
              <a:lnSpc>
                <a:spcPts val="5250"/>
              </a:lnSpc>
              <a:buFont typeface="Arial"/>
              <a:buChar char="•"/>
            </a:pPr>
            <a:r>
              <a:rPr lang="en-US" sz="3500">
                <a:solidFill>
                  <a:srgbClr val="3A3F50"/>
                </a:solidFill>
                <a:latin typeface="Be Vietnam"/>
                <a:ea typeface="Be Vietnam"/>
                <a:cs typeface="Be Vietnam"/>
                <a:sym typeface="Be Vietnam"/>
              </a:rPr>
              <a:t> Video trending: 1124 </a:t>
            </a:r>
          </a:p>
          <a:p>
            <a:pPr algn="l" marL="755651" indent="-377825" lvl="1">
              <a:lnSpc>
                <a:spcPts val="5250"/>
              </a:lnSpc>
              <a:buFont typeface="Arial"/>
              <a:buChar char="•"/>
            </a:pPr>
            <a:r>
              <a:rPr lang="en-US" sz="3500">
                <a:solidFill>
                  <a:srgbClr val="3A3F50"/>
                </a:solidFill>
                <a:latin typeface="Be Vietnam"/>
                <a:ea typeface="Be Vietnam"/>
                <a:cs typeface="Be Vietnam"/>
                <a:sym typeface="Be Vietnam"/>
              </a:rPr>
              <a:t>Video không trending: 86635</a:t>
            </a:r>
          </a:p>
        </p:txBody>
      </p:sp>
    </p:spTree>
  </p:cSld>
  <p:clrMapOvr>
    <a:masterClrMapping/>
  </p:clrMapOvr>
  <p:transition spd="fast">
    <p:fade/>
  </p:transition>
</p:sld>
</file>

<file path=ppt/slides/slide2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0">
            <a:off x="17373600" y="9349700"/>
            <a:ext cx="937200" cy="937200"/>
            <a:chOff x="0" y="0"/>
            <a:chExt cx="1249600" cy="1249600"/>
          </a:xfrm>
        </p:grpSpPr>
        <p:sp>
          <p:nvSpPr>
            <p:cNvPr name="Freeform 3" id="3"/>
            <p:cNvSpPr/>
            <p:nvPr/>
          </p:nvSpPr>
          <p:spPr>
            <a:xfrm flipH="false" flipV="false" rot="0">
              <a:off x="0" y="0"/>
              <a:ext cx="1249553" cy="1249553"/>
            </a:xfrm>
            <a:custGeom>
              <a:avLst/>
              <a:gdLst/>
              <a:ahLst/>
              <a:cxnLst/>
              <a:rect r="r" b="b" t="t" l="l"/>
              <a:pathLst>
                <a:path h="1249553" w="1249553">
                  <a:moveTo>
                    <a:pt x="1249553" y="1249553"/>
                  </a:moveTo>
                  <a:lnTo>
                    <a:pt x="1249553" y="0"/>
                  </a:lnTo>
                  <a:lnTo>
                    <a:pt x="0" y="1249553"/>
                  </a:lnTo>
                  <a:close/>
                </a:path>
              </a:pathLst>
            </a:custGeom>
            <a:solidFill>
              <a:srgbClr val="00B5DD"/>
            </a:solidFill>
          </p:spPr>
        </p:sp>
      </p:grpSp>
      <p:grpSp>
        <p:nvGrpSpPr>
          <p:cNvPr name="Group 4" id="4"/>
          <p:cNvGrpSpPr/>
          <p:nvPr/>
        </p:nvGrpSpPr>
        <p:grpSpPr>
          <a:xfrm rot="5400000">
            <a:off x="-200700" y="529147"/>
            <a:ext cx="937200" cy="535800"/>
            <a:chOff x="0" y="0"/>
            <a:chExt cx="1249600" cy="714400"/>
          </a:xfrm>
        </p:grpSpPr>
        <p:sp>
          <p:nvSpPr>
            <p:cNvPr name="Freeform 5" id="5"/>
            <p:cNvSpPr/>
            <p:nvPr/>
          </p:nvSpPr>
          <p:spPr>
            <a:xfrm flipH="false" flipV="false" rot="0">
              <a:off x="0" y="0"/>
              <a:ext cx="1249680" cy="714375"/>
            </a:xfrm>
            <a:custGeom>
              <a:avLst/>
              <a:gdLst/>
              <a:ahLst/>
              <a:cxnLst/>
              <a:rect r="r" b="b" t="t" l="l"/>
              <a:pathLst>
                <a:path h="714375" w="1249680">
                  <a:moveTo>
                    <a:pt x="0" y="714375"/>
                  </a:moveTo>
                  <a:lnTo>
                    <a:pt x="624840" y="0"/>
                  </a:lnTo>
                  <a:lnTo>
                    <a:pt x="1249680" y="714375"/>
                  </a:lnTo>
                  <a:close/>
                </a:path>
              </a:pathLst>
            </a:custGeom>
            <a:solidFill>
              <a:srgbClr val="00B5DD"/>
            </a:solidFill>
          </p:spPr>
        </p:sp>
      </p:grpSp>
      <p:sp>
        <p:nvSpPr>
          <p:cNvPr name="Freeform 6" id="6"/>
          <p:cNvSpPr/>
          <p:nvPr/>
        </p:nvSpPr>
        <p:spPr>
          <a:xfrm flipH="false" flipV="false" rot="0">
            <a:off x="4091581" y="2304742"/>
            <a:ext cx="10209541" cy="7982258"/>
          </a:xfrm>
          <a:custGeom>
            <a:avLst/>
            <a:gdLst/>
            <a:ahLst/>
            <a:cxnLst/>
            <a:rect r="r" b="b" t="t" l="l"/>
            <a:pathLst>
              <a:path h="7982258" w="10209541">
                <a:moveTo>
                  <a:pt x="0" y="0"/>
                </a:moveTo>
                <a:lnTo>
                  <a:pt x="10209541" y="0"/>
                </a:lnTo>
                <a:lnTo>
                  <a:pt x="10209541" y="7982258"/>
                </a:lnTo>
                <a:lnTo>
                  <a:pt x="0" y="7982258"/>
                </a:lnTo>
                <a:lnTo>
                  <a:pt x="0" y="0"/>
                </a:lnTo>
                <a:close/>
              </a:path>
            </a:pathLst>
          </a:custGeom>
          <a:blipFill>
            <a:blip r:embed="rId3"/>
            <a:stretch>
              <a:fillRect l="-1025" t="-1967" r="0" b="0"/>
            </a:stretch>
          </a:blipFill>
        </p:spPr>
      </p:sp>
      <p:sp>
        <p:nvSpPr>
          <p:cNvPr name="TextBox 7" id="7"/>
          <p:cNvSpPr txBox="true"/>
          <p:nvPr/>
        </p:nvSpPr>
        <p:spPr>
          <a:xfrm rot="0">
            <a:off x="755501" y="363058"/>
            <a:ext cx="17475319" cy="773431"/>
          </a:xfrm>
          <a:prstGeom prst="rect">
            <a:avLst/>
          </a:prstGeom>
        </p:spPr>
        <p:txBody>
          <a:bodyPr anchor="t" rtlCol="false" tIns="0" lIns="0" bIns="0" rIns="0">
            <a:spAutoFit/>
          </a:bodyPr>
          <a:lstStyle/>
          <a:p>
            <a:pPr algn="l">
              <a:lnSpc>
                <a:spcPts val="5760"/>
              </a:lnSpc>
            </a:pPr>
            <a:r>
              <a:rPr lang="en-US" b="true" sz="6000">
                <a:solidFill>
                  <a:srgbClr val="007BB9"/>
                </a:solidFill>
                <a:latin typeface="Be Vietnam Medium"/>
                <a:ea typeface="Be Vietnam Medium"/>
                <a:cs typeface="Be Vietnam Medium"/>
                <a:sym typeface="Be Vietnam Medium"/>
              </a:rPr>
              <a:t>3.2 Ứng dụng mô hình XGBoost</a:t>
            </a:r>
          </a:p>
        </p:txBody>
      </p:sp>
      <p:sp>
        <p:nvSpPr>
          <p:cNvPr name="TextBox 8" id="8"/>
          <p:cNvSpPr txBox="true"/>
          <p:nvPr/>
        </p:nvSpPr>
        <p:spPr>
          <a:xfrm rot="0">
            <a:off x="17853825" y="9808775"/>
            <a:ext cx="376995" cy="428625"/>
          </a:xfrm>
          <a:prstGeom prst="rect">
            <a:avLst/>
          </a:prstGeom>
        </p:spPr>
        <p:txBody>
          <a:bodyPr anchor="t" rtlCol="false" tIns="0" lIns="0" bIns="0" rIns="0">
            <a:spAutoFit/>
          </a:bodyPr>
          <a:lstStyle/>
          <a:p>
            <a:pPr algn="r">
              <a:lnSpc>
                <a:spcPts val="3359"/>
              </a:lnSpc>
            </a:pPr>
            <a:r>
              <a:rPr lang="en-US" sz="2799">
                <a:solidFill>
                  <a:srgbClr val="FFFFFF"/>
                </a:solidFill>
                <a:latin typeface="Barlow Light"/>
                <a:ea typeface="Barlow Light"/>
                <a:cs typeface="Barlow Light"/>
                <a:sym typeface="Barlow Light"/>
              </a:rPr>
              <a:t>22</a:t>
            </a:r>
          </a:p>
        </p:txBody>
      </p:sp>
      <p:sp>
        <p:nvSpPr>
          <p:cNvPr name="TextBox 9" id="9"/>
          <p:cNvSpPr txBox="true"/>
          <p:nvPr/>
        </p:nvSpPr>
        <p:spPr>
          <a:xfrm rot="0">
            <a:off x="535800" y="1556602"/>
            <a:ext cx="8115300" cy="657225"/>
          </a:xfrm>
          <a:prstGeom prst="rect">
            <a:avLst/>
          </a:prstGeom>
        </p:spPr>
        <p:txBody>
          <a:bodyPr anchor="t" rtlCol="false" tIns="0" lIns="0" bIns="0" rIns="0">
            <a:spAutoFit/>
          </a:bodyPr>
          <a:lstStyle/>
          <a:p>
            <a:pPr algn="l">
              <a:lnSpc>
                <a:spcPts val="4800"/>
              </a:lnSpc>
            </a:pPr>
            <a:r>
              <a:rPr lang="en-US" b="true" sz="5000">
                <a:solidFill>
                  <a:srgbClr val="007BB9"/>
                </a:solidFill>
                <a:latin typeface="Be Vietnam Medium"/>
                <a:ea typeface="Be Vietnam Medium"/>
                <a:cs typeface="Be Vietnam Medium"/>
                <a:sym typeface="Be Vietnam Medium"/>
              </a:rPr>
              <a:t>Ma trận nhầm lẫn</a:t>
            </a:r>
          </a:p>
        </p:txBody>
      </p:sp>
    </p:spTree>
  </p:cSld>
  <p:clrMapOvr>
    <a:masterClrMapping/>
  </p:clrMapOvr>
  <p:transition spd="fast">
    <p:fade/>
  </p:transition>
</p:sld>
</file>

<file path=ppt/slides/slide2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0">
            <a:off x="17373600" y="9349700"/>
            <a:ext cx="937200" cy="937200"/>
            <a:chOff x="0" y="0"/>
            <a:chExt cx="1249600" cy="1249600"/>
          </a:xfrm>
        </p:grpSpPr>
        <p:sp>
          <p:nvSpPr>
            <p:cNvPr name="Freeform 3" id="3"/>
            <p:cNvSpPr/>
            <p:nvPr/>
          </p:nvSpPr>
          <p:spPr>
            <a:xfrm flipH="false" flipV="false" rot="0">
              <a:off x="0" y="0"/>
              <a:ext cx="1249553" cy="1249553"/>
            </a:xfrm>
            <a:custGeom>
              <a:avLst/>
              <a:gdLst/>
              <a:ahLst/>
              <a:cxnLst/>
              <a:rect r="r" b="b" t="t" l="l"/>
              <a:pathLst>
                <a:path h="1249553" w="1249553">
                  <a:moveTo>
                    <a:pt x="1249553" y="1249553"/>
                  </a:moveTo>
                  <a:lnTo>
                    <a:pt x="1249553" y="0"/>
                  </a:lnTo>
                  <a:lnTo>
                    <a:pt x="0" y="1249553"/>
                  </a:lnTo>
                  <a:close/>
                </a:path>
              </a:pathLst>
            </a:custGeom>
            <a:solidFill>
              <a:srgbClr val="00B5DD"/>
            </a:solidFill>
          </p:spPr>
        </p:sp>
      </p:grpSp>
      <p:grpSp>
        <p:nvGrpSpPr>
          <p:cNvPr name="Group 4" id="4"/>
          <p:cNvGrpSpPr/>
          <p:nvPr/>
        </p:nvGrpSpPr>
        <p:grpSpPr>
          <a:xfrm rot="5400000">
            <a:off x="-200700" y="529147"/>
            <a:ext cx="937200" cy="535800"/>
            <a:chOff x="0" y="0"/>
            <a:chExt cx="1249600" cy="714400"/>
          </a:xfrm>
        </p:grpSpPr>
        <p:sp>
          <p:nvSpPr>
            <p:cNvPr name="Freeform 5" id="5"/>
            <p:cNvSpPr/>
            <p:nvPr/>
          </p:nvSpPr>
          <p:spPr>
            <a:xfrm flipH="false" flipV="false" rot="0">
              <a:off x="0" y="0"/>
              <a:ext cx="1249680" cy="714375"/>
            </a:xfrm>
            <a:custGeom>
              <a:avLst/>
              <a:gdLst/>
              <a:ahLst/>
              <a:cxnLst/>
              <a:rect r="r" b="b" t="t" l="l"/>
              <a:pathLst>
                <a:path h="714375" w="1249680">
                  <a:moveTo>
                    <a:pt x="0" y="714375"/>
                  </a:moveTo>
                  <a:lnTo>
                    <a:pt x="624840" y="0"/>
                  </a:lnTo>
                  <a:lnTo>
                    <a:pt x="1249680" y="714375"/>
                  </a:lnTo>
                  <a:close/>
                </a:path>
              </a:pathLst>
            </a:custGeom>
            <a:solidFill>
              <a:srgbClr val="00B5DD"/>
            </a:solidFill>
          </p:spPr>
        </p:sp>
      </p:grpSp>
      <p:sp>
        <p:nvSpPr>
          <p:cNvPr name="Freeform 6" id="6"/>
          <p:cNvSpPr/>
          <p:nvPr/>
        </p:nvSpPr>
        <p:spPr>
          <a:xfrm flipH="false" flipV="false" rot="0">
            <a:off x="6065429" y="5964466"/>
            <a:ext cx="5225143" cy="4114800"/>
          </a:xfrm>
          <a:custGeom>
            <a:avLst/>
            <a:gdLst/>
            <a:ahLst/>
            <a:cxnLst/>
            <a:rect r="r" b="b" t="t" l="l"/>
            <a:pathLst>
              <a:path h="4114800" w="5225143">
                <a:moveTo>
                  <a:pt x="0" y="0"/>
                </a:moveTo>
                <a:lnTo>
                  <a:pt x="5225142" y="0"/>
                </a:lnTo>
                <a:lnTo>
                  <a:pt x="5225142"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755501" y="363058"/>
            <a:ext cx="17475319" cy="773497"/>
          </a:xfrm>
          <a:prstGeom prst="rect">
            <a:avLst/>
          </a:prstGeom>
        </p:spPr>
        <p:txBody>
          <a:bodyPr anchor="t" rtlCol="false" tIns="0" lIns="0" bIns="0" rIns="0">
            <a:spAutoFit/>
          </a:bodyPr>
          <a:lstStyle/>
          <a:p>
            <a:pPr algn="l">
              <a:lnSpc>
                <a:spcPts val="5760"/>
              </a:lnSpc>
            </a:pPr>
            <a:r>
              <a:rPr lang="en-US" b="true" sz="6000">
                <a:solidFill>
                  <a:srgbClr val="007BB9"/>
                </a:solidFill>
                <a:latin typeface="Be Vietnam Medium"/>
                <a:ea typeface="Be Vietnam Medium"/>
                <a:cs typeface="Be Vietnam Medium"/>
                <a:sym typeface="Be Vietnam Medium"/>
              </a:rPr>
              <a:t>3.3 Xử lí mất cân bằng </a:t>
            </a:r>
          </a:p>
        </p:txBody>
      </p:sp>
      <p:sp>
        <p:nvSpPr>
          <p:cNvPr name="TextBox 8" id="8"/>
          <p:cNvSpPr txBox="true"/>
          <p:nvPr/>
        </p:nvSpPr>
        <p:spPr>
          <a:xfrm rot="0">
            <a:off x="17861293" y="9808775"/>
            <a:ext cx="369527" cy="428625"/>
          </a:xfrm>
          <a:prstGeom prst="rect">
            <a:avLst/>
          </a:prstGeom>
        </p:spPr>
        <p:txBody>
          <a:bodyPr anchor="t" rtlCol="false" tIns="0" lIns="0" bIns="0" rIns="0">
            <a:spAutoFit/>
          </a:bodyPr>
          <a:lstStyle/>
          <a:p>
            <a:pPr algn="r">
              <a:lnSpc>
                <a:spcPts val="3359"/>
              </a:lnSpc>
            </a:pPr>
            <a:r>
              <a:rPr lang="en-US" sz="2799">
                <a:solidFill>
                  <a:srgbClr val="FFFFFF"/>
                </a:solidFill>
                <a:latin typeface="Barlow Light"/>
                <a:ea typeface="Barlow Light"/>
                <a:cs typeface="Barlow Light"/>
                <a:sym typeface="Barlow Light"/>
              </a:rPr>
              <a:t>23</a:t>
            </a:r>
          </a:p>
        </p:txBody>
      </p:sp>
      <p:sp>
        <p:nvSpPr>
          <p:cNvPr name="TextBox 9" id="9"/>
          <p:cNvSpPr txBox="true"/>
          <p:nvPr/>
        </p:nvSpPr>
        <p:spPr>
          <a:xfrm rot="0">
            <a:off x="755501" y="1469584"/>
            <a:ext cx="15983044" cy="5549901"/>
          </a:xfrm>
          <a:prstGeom prst="rect">
            <a:avLst/>
          </a:prstGeom>
        </p:spPr>
        <p:txBody>
          <a:bodyPr anchor="t" rtlCol="false" tIns="0" lIns="0" bIns="0" rIns="0">
            <a:spAutoFit/>
          </a:bodyPr>
          <a:lstStyle/>
          <a:p>
            <a:pPr algn="just">
              <a:lnSpc>
                <a:spcPts val="4899"/>
              </a:lnSpc>
            </a:pPr>
            <a:r>
              <a:rPr lang="en-US" sz="3499">
                <a:solidFill>
                  <a:srgbClr val="000000"/>
                </a:solidFill>
                <a:latin typeface="Be Vietnam"/>
                <a:ea typeface="Be Vietnam"/>
                <a:cs typeface="Be Vietnam"/>
                <a:sym typeface="Be Vietnam"/>
              </a:rPr>
              <a:t>Do dữ liệu có sự mất cân bằng nghiêm trọng giữa hai lớp, mô hình áp dụng kết hợp nhiều chiến lược. Tham số scale_pos_weight của XGBoost được sử dụng để tăng trọng số cho lớp hiếm (Trending), giúp mô hình chú ý hơn đến các mẫu quan trọng. Bên cạnh đó, quá trình GridSearchCV được tối ưu theo F1-score nhằm cân bằng giữa precision và recall. Cuối cùng, decision threshold được điều chỉnh dựa trên mục tiêu đánh giá, giúp cải thiện đáng kể hiệu quả dự đoán trong bối cảnh dữ liệu lệch lớp.</a:t>
            </a:r>
          </a:p>
          <a:p>
            <a:pPr algn="just">
              <a:lnSpc>
                <a:spcPts val="4899"/>
              </a:lnSpc>
            </a:pPr>
          </a:p>
          <a:p>
            <a:pPr algn="just">
              <a:lnSpc>
                <a:spcPts val="4899"/>
              </a:lnSpc>
            </a:pPr>
          </a:p>
        </p:txBody>
      </p:sp>
    </p:spTree>
  </p:cSld>
  <p:clrMapOvr>
    <a:masterClrMapping/>
  </p:clrMapOvr>
  <p:transition spd="fast">
    <p:fade/>
  </p:transition>
</p:sld>
</file>

<file path=ppt/slides/slide24.xml><?xml version="1.0" encoding="utf-8"?>
<p:sld xmlns:p="http://schemas.openxmlformats.org/presentationml/2006/main" xmlns:a="http://schemas.openxmlformats.org/drawingml/2006/main">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0">
            <a:off x="17373600" y="9349700"/>
            <a:ext cx="937200" cy="937200"/>
            <a:chOff x="0" y="0"/>
            <a:chExt cx="1249600" cy="1249600"/>
          </a:xfrm>
        </p:grpSpPr>
        <p:sp>
          <p:nvSpPr>
            <p:cNvPr name="Freeform 3" id="3"/>
            <p:cNvSpPr/>
            <p:nvPr/>
          </p:nvSpPr>
          <p:spPr>
            <a:xfrm flipH="false" flipV="false" rot="0">
              <a:off x="0" y="0"/>
              <a:ext cx="1249553" cy="1249553"/>
            </a:xfrm>
            <a:custGeom>
              <a:avLst/>
              <a:gdLst/>
              <a:ahLst/>
              <a:cxnLst/>
              <a:rect r="r" b="b" t="t" l="l"/>
              <a:pathLst>
                <a:path h="1249553" w="1249553">
                  <a:moveTo>
                    <a:pt x="1249553" y="1249553"/>
                  </a:moveTo>
                  <a:lnTo>
                    <a:pt x="1249553" y="0"/>
                  </a:lnTo>
                  <a:lnTo>
                    <a:pt x="0" y="1249553"/>
                  </a:lnTo>
                  <a:close/>
                </a:path>
              </a:pathLst>
            </a:custGeom>
            <a:solidFill>
              <a:srgbClr val="00B5DD"/>
            </a:solidFill>
          </p:spPr>
        </p:sp>
      </p:grpSp>
      <p:grpSp>
        <p:nvGrpSpPr>
          <p:cNvPr name="Group 4" id="4"/>
          <p:cNvGrpSpPr/>
          <p:nvPr/>
        </p:nvGrpSpPr>
        <p:grpSpPr>
          <a:xfrm rot="5400000">
            <a:off x="-200700" y="529147"/>
            <a:ext cx="937200" cy="535800"/>
            <a:chOff x="0" y="0"/>
            <a:chExt cx="1249600" cy="714400"/>
          </a:xfrm>
        </p:grpSpPr>
        <p:sp>
          <p:nvSpPr>
            <p:cNvPr name="Freeform 5" id="5"/>
            <p:cNvSpPr/>
            <p:nvPr/>
          </p:nvSpPr>
          <p:spPr>
            <a:xfrm flipH="false" flipV="false" rot="0">
              <a:off x="0" y="0"/>
              <a:ext cx="1249680" cy="714375"/>
            </a:xfrm>
            <a:custGeom>
              <a:avLst/>
              <a:gdLst/>
              <a:ahLst/>
              <a:cxnLst/>
              <a:rect r="r" b="b" t="t" l="l"/>
              <a:pathLst>
                <a:path h="714375" w="1249680">
                  <a:moveTo>
                    <a:pt x="0" y="714375"/>
                  </a:moveTo>
                  <a:lnTo>
                    <a:pt x="624840" y="0"/>
                  </a:lnTo>
                  <a:lnTo>
                    <a:pt x="1249680" y="714375"/>
                  </a:lnTo>
                  <a:close/>
                </a:path>
              </a:pathLst>
            </a:custGeom>
            <a:solidFill>
              <a:srgbClr val="00B5DD"/>
            </a:solidFill>
          </p:spPr>
        </p:sp>
      </p:grpSp>
      <p:graphicFrame>
        <p:nvGraphicFramePr>
          <p:cNvPr name="Table 6" id="6"/>
          <p:cNvGraphicFramePr>
            <a:graphicFrameLocks noGrp="true"/>
          </p:cNvGraphicFramePr>
          <p:nvPr/>
        </p:nvGraphicFramePr>
        <p:xfrm>
          <a:off x="966811" y="1624012"/>
          <a:ext cx="16106822" cy="5798025"/>
        </p:xfrm>
        <a:graphic>
          <a:graphicData uri="http://schemas.openxmlformats.org/drawingml/2006/table">
            <a:tbl>
              <a:tblPr/>
              <a:tblGrid>
                <a:gridCol w="3838788"/>
                <a:gridCol w="3838788"/>
                <a:gridCol w="3950322"/>
                <a:gridCol w="4478924"/>
              </a:tblGrid>
              <a:tr h="987564">
                <a:tc>
                  <a:txBody>
                    <a:bodyPr anchor="t" rtlCol="false"/>
                    <a:lstStyle/>
                    <a:p>
                      <a:pPr algn="ctr">
                        <a:lnSpc>
                          <a:spcPts val="4200"/>
                        </a:lnSpc>
                        <a:defRPr/>
                      </a:pPr>
                      <a:r>
                        <a:rPr lang="en-US" sz="3000" b="true">
                          <a:solidFill>
                            <a:srgbClr val="000000"/>
                          </a:solidFill>
                          <a:latin typeface="Barlow Bold"/>
                          <a:ea typeface="Barlow Bold"/>
                          <a:cs typeface="Barlow Bold"/>
                          <a:sym typeface="Barlow Bold"/>
                        </a:rPr>
                        <a:t>Kiểu mô hình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0000"/>
                          </a:solidFill>
                          <a:latin typeface="Barlow Bold"/>
                          <a:ea typeface="Barlow Bold"/>
                          <a:cs typeface="Barlow Bold"/>
                          <a:sym typeface="Barlow Bold"/>
                        </a:rPr>
                        <a:t>Logistic Regression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0000"/>
                          </a:solidFill>
                          <a:latin typeface="Barlow Bold"/>
                          <a:ea typeface="Barlow Bold"/>
                          <a:cs typeface="Barlow Bold"/>
                          <a:sym typeface="Barlow Bold"/>
                        </a:rPr>
                        <a:t>Random Forest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200"/>
                        </a:lnSpc>
                        <a:defRPr/>
                      </a:pPr>
                      <a:r>
                        <a:rPr lang="en-US" sz="3000" b="true">
                          <a:solidFill>
                            <a:srgbClr val="000000"/>
                          </a:solidFill>
                          <a:latin typeface="Barlow Bold"/>
                          <a:ea typeface="Barlow Bold"/>
                          <a:cs typeface="Barlow Bold"/>
                          <a:sym typeface="Barlow Bold"/>
                        </a:rPr>
                        <a:t> XGBoost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831309">
                <a:tc>
                  <a:txBody>
                    <a:bodyPr anchor="t" rtlCol="false"/>
                    <a:lstStyle/>
                    <a:p>
                      <a:pPr algn="ctr">
                        <a:lnSpc>
                          <a:spcPts val="3499"/>
                        </a:lnSpc>
                        <a:defRPr/>
                      </a:pPr>
                      <a:r>
                        <a:rPr lang="en-US" sz="2499">
                          <a:solidFill>
                            <a:srgbClr val="000000"/>
                          </a:solidFill>
                          <a:latin typeface="Be Vietnam"/>
                          <a:ea typeface="Be Vietnam"/>
                          <a:cs typeface="Be Vietnam"/>
                          <a:sym typeface="Be Vietnam"/>
                        </a:rPr>
                        <a:t>Kiểu mô hình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Be Vietnam"/>
                          <a:ea typeface="Be Vietnam"/>
                          <a:cs typeface="Be Vietnam"/>
                          <a:sym typeface="Be Vietnam"/>
                        </a:rPr>
                        <a:t>Tuyến tính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Be Vietnam"/>
                          <a:ea typeface="Be Vietnam"/>
                          <a:cs typeface="Be Vietnam"/>
                          <a:sym typeface="Be Vietnam"/>
                        </a:rPr>
                        <a:t>Ensemble (Bagging)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endParaRPr lang="en-US" sz="1100"/>
                    </a:p>
                    <a:p>
                      <a:pPr algn="ctr">
                        <a:lnSpc>
                          <a:spcPts val="3499"/>
                        </a:lnSpc>
                      </a:pPr>
                      <a:r>
                        <a:rPr lang="en-US" sz="2499">
                          <a:solidFill>
                            <a:srgbClr val="000000"/>
                          </a:solidFill>
                          <a:latin typeface="Be Vietnam"/>
                          <a:ea typeface="Be Vietnam"/>
                          <a:cs typeface="Be Vietnam"/>
                          <a:sym typeface="Be Vietnam"/>
                        </a:rPr>
                        <a:t>Ensemble (Boosting)</a:t>
                      </a:r>
                    </a:p>
                    <a:p>
                      <a:pPr algn="ctr">
                        <a:lnSpc>
                          <a:spcPts val="3499"/>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25071">
                <a:tc>
                  <a:txBody>
                    <a:bodyPr anchor="t" rtlCol="false"/>
                    <a:lstStyle/>
                    <a:p>
                      <a:pPr algn="ctr">
                        <a:lnSpc>
                          <a:spcPts val="3499"/>
                        </a:lnSpc>
                        <a:defRPr/>
                      </a:pPr>
                      <a:r>
                        <a:rPr lang="en-US" sz="2499">
                          <a:solidFill>
                            <a:srgbClr val="000000"/>
                          </a:solidFill>
                          <a:latin typeface="Be Vietnam"/>
                          <a:ea typeface="Be Vietnam"/>
                          <a:cs typeface="Be Vietnam"/>
                          <a:sym typeface="Be Vietnam"/>
                        </a:rPr>
                        <a:t>Học từ lỗi trước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Be Vietnam"/>
                          <a:ea typeface="Be Vietnam"/>
                          <a:cs typeface="Be Vietnam"/>
                          <a:sym typeface="Be Vietnam"/>
                        </a:rPr>
                        <a:t>Không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Be Vietnam"/>
                          <a:ea typeface="Be Vietnam"/>
                          <a:cs typeface="Be Vietnam"/>
                          <a:sym typeface="Be Vietnam"/>
                        </a:rPr>
                        <a:t>Không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Be Vietnam"/>
                          <a:ea typeface="Be Vietnam"/>
                          <a:cs typeface="Be Vietnam"/>
                          <a:sym typeface="Be Vietnam"/>
                        </a:rPr>
                        <a:t>Có</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77041">
                <a:tc>
                  <a:txBody>
                    <a:bodyPr anchor="t" rtlCol="false"/>
                    <a:lstStyle/>
                    <a:p>
                      <a:pPr algn="ctr">
                        <a:lnSpc>
                          <a:spcPts val="3499"/>
                        </a:lnSpc>
                        <a:defRPr/>
                      </a:pPr>
                      <a:r>
                        <a:rPr lang="en-US" sz="2499">
                          <a:solidFill>
                            <a:srgbClr val="000000"/>
                          </a:solidFill>
                          <a:latin typeface="Be Vietnam"/>
                          <a:ea typeface="Be Vietnam"/>
                          <a:cs typeface="Be Vietnam"/>
                          <a:sym typeface="Be Vietnam"/>
                        </a:rPr>
                        <a:t>Xử lý mất cân bằng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Be Vietnam"/>
                          <a:ea typeface="Be Vietnam"/>
                          <a:cs typeface="Be Vietnam"/>
                          <a:sym typeface="Be Vietnam"/>
                        </a:rPr>
                        <a:t>Hạn chế</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Be Vietnam"/>
                          <a:ea typeface="Be Vietnam"/>
                          <a:cs typeface="Be Vietnam"/>
                          <a:sym typeface="Be Vietnam"/>
                        </a:rPr>
                        <a:t>Trung bình</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Be Vietnam"/>
                          <a:ea typeface="Be Vietnam"/>
                          <a:cs typeface="Be Vietnam"/>
                          <a:sym typeface="Be Vietnam"/>
                        </a:rPr>
                        <a:t>Rất cao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977041">
                <a:tc>
                  <a:txBody>
                    <a:bodyPr anchor="t" rtlCol="false"/>
                    <a:lstStyle/>
                    <a:p>
                      <a:pPr algn="ctr">
                        <a:lnSpc>
                          <a:spcPts val="3499"/>
                        </a:lnSpc>
                        <a:defRPr/>
                      </a:pPr>
                      <a:r>
                        <a:rPr lang="en-US" sz="2499">
                          <a:solidFill>
                            <a:srgbClr val="000000"/>
                          </a:solidFill>
                          <a:latin typeface="Be Vietnam"/>
                          <a:ea typeface="Be Vietnam"/>
                          <a:cs typeface="Be Vietnam"/>
                          <a:sym typeface="Be Vietnam"/>
                        </a:rPr>
                        <a:t>Kiểm soát overfitting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Be Vietnam"/>
                          <a:ea typeface="Be Vietnam"/>
                          <a:cs typeface="Be Vietnam"/>
                          <a:sym typeface="Be Vietnam"/>
                        </a:rPr>
                        <a:t>Thấp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Be Vietnam"/>
                          <a:ea typeface="Be Vietnam"/>
                          <a:cs typeface="Be Vietnam"/>
                          <a:sym typeface="Be Vietnam"/>
                        </a:rPr>
                        <a:t>Cao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Be Vietnam"/>
                          <a:ea typeface="Be Vietnam"/>
                          <a:cs typeface="Be Vietnam"/>
                          <a:sym typeface="Be Vietnam"/>
                        </a:rPr>
                        <a:t>Rất cao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755501" y="363058"/>
            <a:ext cx="17475319" cy="773431"/>
          </a:xfrm>
          <a:prstGeom prst="rect">
            <a:avLst/>
          </a:prstGeom>
        </p:spPr>
        <p:txBody>
          <a:bodyPr anchor="t" rtlCol="false" tIns="0" lIns="0" bIns="0" rIns="0">
            <a:spAutoFit/>
          </a:bodyPr>
          <a:lstStyle/>
          <a:p>
            <a:pPr algn="l">
              <a:lnSpc>
                <a:spcPts val="5760"/>
              </a:lnSpc>
            </a:pPr>
            <a:r>
              <a:rPr lang="en-US" b="true" sz="6000">
                <a:solidFill>
                  <a:srgbClr val="007BB9"/>
                </a:solidFill>
                <a:latin typeface="Be Vietnam Medium"/>
                <a:ea typeface="Be Vietnam Medium"/>
                <a:cs typeface="Be Vietnam Medium"/>
                <a:sym typeface="Be Vietnam Medium"/>
              </a:rPr>
              <a:t>3.5 So sánh hiệu quả giữa các mô hình</a:t>
            </a:r>
          </a:p>
        </p:txBody>
      </p:sp>
      <p:sp>
        <p:nvSpPr>
          <p:cNvPr name="TextBox 8" id="8"/>
          <p:cNvSpPr txBox="true"/>
          <p:nvPr/>
        </p:nvSpPr>
        <p:spPr>
          <a:xfrm rot="0">
            <a:off x="17851335" y="9808775"/>
            <a:ext cx="379485" cy="428625"/>
          </a:xfrm>
          <a:prstGeom prst="rect">
            <a:avLst/>
          </a:prstGeom>
        </p:spPr>
        <p:txBody>
          <a:bodyPr anchor="t" rtlCol="false" tIns="0" lIns="0" bIns="0" rIns="0">
            <a:spAutoFit/>
          </a:bodyPr>
          <a:lstStyle/>
          <a:p>
            <a:pPr algn="r">
              <a:lnSpc>
                <a:spcPts val="3359"/>
              </a:lnSpc>
            </a:pPr>
            <a:r>
              <a:rPr lang="en-US" sz="2799">
                <a:solidFill>
                  <a:srgbClr val="FFFFFF"/>
                </a:solidFill>
                <a:latin typeface="Barlow Light"/>
                <a:ea typeface="Barlow Light"/>
                <a:cs typeface="Barlow Light"/>
                <a:sym typeface="Barlow Light"/>
              </a:rPr>
              <a:t>24</a:t>
            </a:r>
          </a:p>
        </p:txBody>
      </p:sp>
      <p:sp>
        <p:nvSpPr>
          <p:cNvPr name="TextBox 9" id="9"/>
          <p:cNvSpPr txBox="true"/>
          <p:nvPr/>
        </p:nvSpPr>
        <p:spPr>
          <a:xfrm rot="0">
            <a:off x="1090589" y="7941905"/>
            <a:ext cx="15983044" cy="1407795"/>
          </a:xfrm>
          <a:prstGeom prst="rect">
            <a:avLst/>
          </a:prstGeom>
        </p:spPr>
        <p:txBody>
          <a:bodyPr anchor="t" rtlCol="false" tIns="0" lIns="0" bIns="0" rIns="0">
            <a:spAutoFit/>
          </a:bodyPr>
          <a:lstStyle/>
          <a:p>
            <a:pPr algn="just">
              <a:lnSpc>
                <a:spcPts val="3779"/>
              </a:lnSpc>
            </a:pPr>
            <a:r>
              <a:rPr lang="en-US" sz="2700">
                <a:solidFill>
                  <a:srgbClr val="000000"/>
                </a:solidFill>
                <a:latin typeface="Be Vietnam"/>
                <a:ea typeface="Be Vietnam"/>
                <a:cs typeface="Be Vietnam"/>
                <a:sym typeface="Be Vietnam"/>
              </a:rPr>
              <a:t>=&gt;</a:t>
            </a:r>
            <a:r>
              <a:rPr lang="en-US" sz="2700">
                <a:solidFill>
                  <a:srgbClr val="000000"/>
                </a:solidFill>
                <a:latin typeface="Be Vietnam"/>
                <a:ea typeface="Be Vietnam"/>
                <a:cs typeface="Be Vietnam"/>
                <a:sym typeface="Be Vietnam"/>
              </a:rPr>
              <a:t> XGBoost cho hiệu suất vượt trội hơn Logistic Regression và Random Forest đặc biệt trong bối cảnh dữ liệu mất cân bằng nghiêm trọng. Nhờ cơ chế boosting và hàm mất mát có trọng số, XGBoost có khả năng học tốt các mẫu hiếm nhưng quan trọng.</a:t>
            </a:r>
          </a:p>
        </p:txBody>
      </p:sp>
    </p:spTree>
  </p:cSld>
  <p:clrMapOvr>
    <a:masterClrMapping/>
  </p:clrMapOvr>
  <p:transition spd="fast">
    <p:fade/>
  </p:transition>
</p:sld>
</file>

<file path=ppt/slides/slide2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5400000">
            <a:off x="-606750" y="4333810"/>
            <a:ext cx="2832600" cy="1619400"/>
            <a:chOff x="0" y="0"/>
            <a:chExt cx="3776800" cy="2159200"/>
          </a:xfrm>
        </p:grpSpPr>
        <p:sp>
          <p:nvSpPr>
            <p:cNvPr name="Freeform 3" id="3"/>
            <p:cNvSpPr/>
            <p:nvPr/>
          </p:nvSpPr>
          <p:spPr>
            <a:xfrm flipH="false" flipV="false" rot="0">
              <a:off x="0" y="0"/>
              <a:ext cx="3776853" cy="2159254"/>
            </a:xfrm>
            <a:custGeom>
              <a:avLst/>
              <a:gdLst/>
              <a:ahLst/>
              <a:cxnLst/>
              <a:rect r="r" b="b" t="t" l="l"/>
              <a:pathLst>
                <a:path h="2159254" w="3776853">
                  <a:moveTo>
                    <a:pt x="0" y="2159254"/>
                  </a:moveTo>
                  <a:lnTo>
                    <a:pt x="1888363" y="0"/>
                  </a:lnTo>
                  <a:lnTo>
                    <a:pt x="3776853" y="2159254"/>
                  </a:lnTo>
                  <a:close/>
                </a:path>
              </a:pathLst>
            </a:custGeom>
            <a:solidFill>
              <a:srgbClr val="00B5DD"/>
            </a:solidFill>
          </p:spPr>
        </p:sp>
      </p:grpSp>
      <p:sp>
        <p:nvSpPr>
          <p:cNvPr name="Freeform 4" id="4"/>
          <p:cNvSpPr/>
          <p:nvPr/>
        </p:nvSpPr>
        <p:spPr>
          <a:xfrm flipH="false" flipV="false" rot="0">
            <a:off x="8881193" y="1717910"/>
            <a:ext cx="7317704" cy="6851201"/>
          </a:xfrm>
          <a:custGeom>
            <a:avLst/>
            <a:gdLst/>
            <a:ahLst/>
            <a:cxnLst/>
            <a:rect r="r" b="b" t="t" l="l"/>
            <a:pathLst>
              <a:path h="6851201" w="7317704">
                <a:moveTo>
                  <a:pt x="0" y="0"/>
                </a:moveTo>
                <a:lnTo>
                  <a:pt x="7317704" y="0"/>
                </a:lnTo>
                <a:lnTo>
                  <a:pt x="7317704" y="6851200"/>
                </a:lnTo>
                <a:lnTo>
                  <a:pt x="0" y="68512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769425" y="4402148"/>
            <a:ext cx="7626830" cy="1289050"/>
          </a:xfrm>
          <a:prstGeom prst="rect">
            <a:avLst/>
          </a:prstGeom>
        </p:spPr>
        <p:txBody>
          <a:bodyPr anchor="t" rtlCol="false" tIns="0" lIns="0" bIns="0" rIns="0">
            <a:spAutoFit/>
          </a:bodyPr>
          <a:lstStyle/>
          <a:p>
            <a:pPr algn="l">
              <a:lnSpc>
                <a:spcPts val="10400"/>
              </a:lnSpc>
            </a:pPr>
            <a:r>
              <a:rPr lang="en-US" b="true" sz="8000">
                <a:solidFill>
                  <a:srgbClr val="007BB9"/>
                </a:solidFill>
                <a:latin typeface="Be Vietnam Ultra-Bold"/>
                <a:ea typeface="Be Vietnam Ultra-Bold"/>
                <a:cs typeface="Be Vietnam Ultra-Bold"/>
                <a:sym typeface="Be Vietnam Ultra-Bold"/>
              </a:rPr>
              <a:t>KẾT LUẬN</a:t>
            </a:r>
          </a:p>
        </p:txBody>
      </p:sp>
      <p:sp>
        <p:nvSpPr>
          <p:cNvPr name="TextBox 6" id="6"/>
          <p:cNvSpPr txBox="true"/>
          <p:nvPr/>
        </p:nvSpPr>
        <p:spPr>
          <a:xfrm rot="0">
            <a:off x="-7650" y="4595822"/>
            <a:ext cx="1036350" cy="1095375"/>
          </a:xfrm>
          <a:prstGeom prst="rect">
            <a:avLst/>
          </a:prstGeom>
        </p:spPr>
        <p:txBody>
          <a:bodyPr anchor="t" rtlCol="false" tIns="0" lIns="0" bIns="0" rIns="0">
            <a:spAutoFit/>
          </a:bodyPr>
          <a:lstStyle/>
          <a:p>
            <a:pPr algn="ctr">
              <a:lnSpc>
                <a:spcPts val="8640"/>
              </a:lnSpc>
            </a:pPr>
            <a:r>
              <a:rPr lang="en-US" b="true" sz="7200">
                <a:solidFill>
                  <a:srgbClr val="FFFFFF"/>
                </a:solidFill>
                <a:latin typeface="Barlow Bold"/>
                <a:ea typeface="Barlow Bold"/>
                <a:cs typeface="Barlow Bold"/>
                <a:sym typeface="Barlow Bold"/>
              </a:rPr>
              <a:t>4</a:t>
            </a:r>
          </a:p>
        </p:txBody>
      </p:sp>
    </p:spTree>
  </p:cSld>
  <p:clrMapOvr>
    <a:masterClrMapping/>
  </p:clrMapOvr>
  <p:transition spd="fast">
    <p:fade/>
  </p:transition>
</p:sld>
</file>

<file path=ppt/slides/slide2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0">
            <a:off x="17373600" y="9349700"/>
            <a:ext cx="937200" cy="937200"/>
            <a:chOff x="0" y="0"/>
            <a:chExt cx="1249600" cy="1249600"/>
          </a:xfrm>
        </p:grpSpPr>
        <p:sp>
          <p:nvSpPr>
            <p:cNvPr name="Freeform 3" id="3"/>
            <p:cNvSpPr/>
            <p:nvPr/>
          </p:nvSpPr>
          <p:spPr>
            <a:xfrm flipH="false" flipV="false" rot="0">
              <a:off x="0" y="0"/>
              <a:ext cx="1249553" cy="1249553"/>
            </a:xfrm>
            <a:custGeom>
              <a:avLst/>
              <a:gdLst/>
              <a:ahLst/>
              <a:cxnLst/>
              <a:rect r="r" b="b" t="t" l="l"/>
              <a:pathLst>
                <a:path h="1249553" w="1249553">
                  <a:moveTo>
                    <a:pt x="1249553" y="1249553"/>
                  </a:moveTo>
                  <a:lnTo>
                    <a:pt x="1249553" y="0"/>
                  </a:lnTo>
                  <a:lnTo>
                    <a:pt x="0" y="1249553"/>
                  </a:lnTo>
                  <a:close/>
                </a:path>
              </a:pathLst>
            </a:custGeom>
            <a:solidFill>
              <a:srgbClr val="00B5DD"/>
            </a:solidFill>
          </p:spPr>
        </p:sp>
      </p:grpSp>
      <p:grpSp>
        <p:nvGrpSpPr>
          <p:cNvPr name="Group 4" id="4"/>
          <p:cNvGrpSpPr/>
          <p:nvPr/>
        </p:nvGrpSpPr>
        <p:grpSpPr>
          <a:xfrm rot="5400000">
            <a:off x="-200700" y="1448970"/>
            <a:ext cx="937200" cy="535800"/>
            <a:chOff x="0" y="0"/>
            <a:chExt cx="1249600" cy="714400"/>
          </a:xfrm>
        </p:grpSpPr>
        <p:sp>
          <p:nvSpPr>
            <p:cNvPr name="Freeform 5" id="5"/>
            <p:cNvSpPr/>
            <p:nvPr/>
          </p:nvSpPr>
          <p:spPr>
            <a:xfrm flipH="false" flipV="false" rot="0">
              <a:off x="0" y="0"/>
              <a:ext cx="1249680" cy="714375"/>
            </a:xfrm>
            <a:custGeom>
              <a:avLst/>
              <a:gdLst/>
              <a:ahLst/>
              <a:cxnLst/>
              <a:rect r="r" b="b" t="t" l="l"/>
              <a:pathLst>
                <a:path h="714375" w="1249680">
                  <a:moveTo>
                    <a:pt x="0" y="714375"/>
                  </a:moveTo>
                  <a:lnTo>
                    <a:pt x="624840" y="0"/>
                  </a:lnTo>
                  <a:lnTo>
                    <a:pt x="1249680" y="714375"/>
                  </a:lnTo>
                  <a:close/>
                </a:path>
              </a:pathLst>
            </a:custGeom>
            <a:solidFill>
              <a:srgbClr val="00B5DD"/>
            </a:solidFill>
          </p:spPr>
        </p:sp>
      </p:grpSp>
      <p:sp>
        <p:nvSpPr>
          <p:cNvPr name="Freeform 6" id="6"/>
          <p:cNvSpPr/>
          <p:nvPr/>
        </p:nvSpPr>
        <p:spPr>
          <a:xfrm flipH="false" flipV="false" rot="0">
            <a:off x="535800" y="3735607"/>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812681" y="1372095"/>
            <a:ext cx="17029519" cy="710565"/>
          </a:xfrm>
          <a:prstGeom prst="rect">
            <a:avLst/>
          </a:prstGeom>
        </p:spPr>
        <p:txBody>
          <a:bodyPr anchor="t" rtlCol="false" tIns="0" lIns="0" bIns="0" rIns="0">
            <a:spAutoFit/>
          </a:bodyPr>
          <a:lstStyle/>
          <a:p>
            <a:pPr algn="l">
              <a:lnSpc>
                <a:spcPts val="5279"/>
              </a:lnSpc>
            </a:pPr>
            <a:r>
              <a:rPr lang="en-US" b="true" sz="5499">
                <a:solidFill>
                  <a:srgbClr val="007BB9"/>
                </a:solidFill>
                <a:latin typeface="Be Vietnam Medium"/>
                <a:ea typeface="Be Vietnam Medium"/>
                <a:cs typeface="Be Vietnam Medium"/>
                <a:sym typeface="Be Vietnam Medium"/>
              </a:rPr>
              <a:t>4.1 Kết luận </a:t>
            </a:r>
          </a:p>
        </p:txBody>
      </p:sp>
      <p:sp>
        <p:nvSpPr>
          <p:cNvPr name="TextBox 8" id="8"/>
          <p:cNvSpPr txBox="true"/>
          <p:nvPr/>
        </p:nvSpPr>
        <p:spPr>
          <a:xfrm rot="0">
            <a:off x="17776680" y="9858375"/>
            <a:ext cx="369527" cy="428625"/>
          </a:xfrm>
          <a:prstGeom prst="rect">
            <a:avLst/>
          </a:prstGeom>
        </p:spPr>
        <p:txBody>
          <a:bodyPr anchor="t" rtlCol="false" tIns="0" lIns="0" bIns="0" rIns="0">
            <a:spAutoFit/>
          </a:bodyPr>
          <a:lstStyle/>
          <a:p>
            <a:pPr algn="r">
              <a:lnSpc>
                <a:spcPts val="3359"/>
              </a:lnSpc>
            </a:pPr>
            <a:r>
              <a:rPr lang="en-US" sz="2799">
                <a:solidFill>
                  <a:srgbClr val="FFFFFF"/>
                </a:solidFill>
                <a:latin typeface="Barlow Light"/>
                <a:ea typeface="Barlow Light"/>
                <a:cs typeface="Barlow Light"/>
                <a:sym typeface="Barlow Light"/>
              </a:rPr>
              <a:t>26</a:t>
            </a:r>
          </a:p>
        </p:txBody>
      </p:sp>
      <p:sp>
        <p:nvSpPr>
          <p:cNvPr name="TextBox 9" id="9"/>
          <p:cNvSpPr txBox="true"/>
          <p:nvPr/>
        </p:nvSpPr>
        <p:spPr>
          <a:xfrm rot="0">
            <a:off x="4387793" y="1683702"/>
            <a:ext cx="12871507" cy="8998585"/>
          </a:xfrm>
          <a:prstGeom prst="rect">
            <a:avLst/>
          </a:prstGeom>
        </p:spPr>
        <p:txBody>
          <a:bodyPr anchor="t" rtlCol="false" tIns="0" lIns="0" bIns="0" rIns="0">
            <a:spAutoFit/>
          </a:bodyPr>
          <a:lstStyle/>
          <a:p>
            <a:pPr algn="just">
              <a:lnSpc>
                <a:spcPts val="4200"/>
              </a:lnSpc>
            </a:pPr>
          </a:p>
          <a:p>
            <a:pPr algn="just" marL="914019" indent="-457010" lvl="1">
              <a:lnSpc>
                <a:spcPts val="4800"/>
              </a:lnSpc>
              <a:buFont typeface="Arial"/>
              <a:buChar char="•"/>
            </a:pPr>
            <a:r>
              <a:rPr lang="en-US" b="true" sz="3000">
                <a:solidFill>
                  <a:srgbClr val="3A3F50"/>
                </a:solidFill>
                <a:latin typeface="Be Vietnam Ultra-Bold"/>
                <a:ea typeface="Be Vietnam Ultra-Bold"/>
                <a:cs typeface="Be Vietnam Ultra-Bold"/>
                <a:sym typeface="Be Vietnam Ultra-Bold"/>
              </a:rPr>
              <a:t>Thu</a:t>
            </a:r>
            <a:r>
              <a:rPr lang="en-US" b="true" sz="3000">
                <a:solidFill>
                  <a:srgbClr val="3A3F50"/>
                </a:solidFill>
                <a:latin typeface="Be Vietnam Ultra-Bold"/>
                <a:ea typeface="Be Vietnam Ultra-Bold"/>
                <a:cs typeface="Be Vietnam Ultra-Bold"/>
                <a:sym typeface="Be Vietnam Ultra-Bold"/>
              </a:rPr>
              <a:t> thập dữ liệu:</a:t>
            </a:r>
            <a:r>
              <a:rPr lang="en-US" sz="3000">
                <a:solidFill>
                  <a:srgbClr val="3A3F50"/>
                </a:solidFill>
                <a:latin typeface="Be Vietnam"/>
                <a:ea typeface="Be Vietnam"/>
                <a:cs typeface="Be Vietnam"/>
                <a:sym typeface="Be Vietnam"/>
              </a:rPr>
              <a:t> Lấy thông tin video từ YouTube API v3 để cập nhật dữ liệu xu hướng.</a:t>
            </a:r>
          </a:p>
          <a:p>
            <a:pPr algn="just" marL="914019" indent="-457010" lvl="1">
              <a:lnSpc>
                <a:spcPts val="4800"/>
              </a:lnSpc>
              <a:buFont typeface="Arial"/>
              <a:buChar char="•"/>
            </a:pPr>
            <a:r>
              <a:rPr lang="en-US" b="true" sz="3000">
                <a:solidFill>
                  <a:srgbClr val="3A3F50"/>
                </a:solidFill>
                <a:latin typeface="Be Vietnam Ultra-Bold"/>
                <a:ea typeface="Be Vietnam Ultra-Bold"/>
                <a:cs typeface="Be Vietnam Ultra-Bold"/>
                <a:sym typeface="Be Vietnam Ultra-Bold"/>
              </a:rPr>
              <a:t>Phân tích dữ liệu:</a:t>
            </a:r>
            <a:r>
              <a:rPr lang="en-US" sz="3000">
                <a:solidFill>
                  <a:srgbClr val="3A3F50"/>
                </a:solidFill>
                <a:latin typeface="Be Vietnam"/>
                <a:ea typeface="Be Vietnam"/>
                <a:cs typeface="Be Vietnam"/>
                <a:sym typeface="Be Vietnam"/>
              </a:rPr>
              <a:t> Làm sạch, chuẩn hóa và phân tích thống kê để xác định các yếu tố ảnh hưởng đến khả năng video trở thành xu hướng.</a:t>
            </a:r>
          </a:p>
          <a:p>
            <a:pPr algn="just" marL="914019" indent="-457010" lvl="1">
              <a:lnSpc>
                <a:spcPts val="4800"/>
              </a:lnSpc>
              <a:buFont typeface="Arial"/>
              <a:buChar char="•"/>
            </a:pPr>
            <a:r>
              <a:rPr lang="en-US" b="true" sz="3000">
                <a:solidFill>
                  <a:srgbClr val="3A3F50"/>
                </a:solidFill>
                <a:latin typeface="Be Vietnam Ultra-Bold"/>
                <a:ea typeface="Be Vietnam Ultra-Bold"/>
                <a:cs typeface="Be Vietnam Ultra-Bold"/>
                <a:sym typeface="Be Vietnam Ultra-Bold"/>
              </a:rPr>
              <a:t>Huấn luyện mô hình:</a:t>
            </a:r>
            <a:r>
              <a:rPr lang="en-US" sz="3000">
                <a:solidFill>
                  <a:srgbClr val="3A3F50"/>
                </a:solidFill>
                <a:latin typeface="Be Vietnam"/>
                <a:ea typeface="Be Vietnam"/>
                <a:cs typeface="Be Vietnam"/>
                <a:sym typeface="Be Vietnam"/>
              </a:rPr>
              <a:t> Sử dụng thuật toán XGBoost để huấn luyện mô hình dự đoán video có thể trending hay không.</a:t>
            </a:r>
          </a:p>
          <a:p>
            <a:pPr algn="just" marL="914019" indent="-457010" lvl="1">
              <a:lnSpc>
                <a:spcPts val="4800"/>
              </a:lnSpc>
              <a:buFont typeface="Arial"/>
              <a:buChar char="•"/>
            </a:pPr>
            <a:r>
              <a:rPr lang="en-US" b="true" sz="3000">
                <a:solidFill>
                  <a:srgbClr val="3A3F50"/>
                </a:solidFill>
                <a:latin typeface="Be Vietnam Ultra-Bold"/>
                <a:ea typeface="Be Vietnam Ultra-Bold"/>
                <a:cs typeface="Be Vietnam Ultra-Bold"/>
                <a:sym typeface="Be Vietnam Ultra-Bold"/>
              </a:rPr>
              <a:t>Hiển thị kết quả:</a:t>
            </a:r>
            <a:r>
              <a:rPr lang="en-US" sz="3000">
                <a:solidFill>
                  <a:srgbClr val="3A3F50"/>
                </a:solidFill>
                <a:latin typeface="Be Vietnam"/>
                <a:ea typeface="Be Vietnam"/>
                <a:cs typeface="Be Vietnam"/>
                <a:sym typeface="Be Vietnam"/>
              </a:rPr>
              <a:t> Trình bày kết quả dự đoán (Trending/Không Trending) kèm xác suất và các chỉ số giải thích mô hình.</a:t>
            </a:r>
          </a:p>
          <a:p>
            <a:pPr algn="just" marL="914019" indent="-457010" lvl="1">
              <a:lnSpc>
                <a:spcPts val="4800"/>
              </a:lnSpc>
              <a:buFont typeface="Arial"/>
              <a:buChar char="•"/>
            </a:pPr>
            <a:r>
              <a:rPr lang="en-US" b="true" sz="3000">
                <a:solidFill>
                  <a:srgbClr val="3A3F50"/>
                </a:solidFill>
                <a:latin typeface="Be Vietnam Ultra-Bold"/>
                <a:ea typeface="Be Vietnam Ultra-Bold"/>
                <a:cs typeface="Be Vietnam Ultra-Bold"/>
                <a:sym typeface="Be Vietnam Ultra-Bold"/>
              </a:rPr>
              <a:t>Giao diện người dùng:</a:t>
            </a:r>
            <a:r>
              <a:rPr lang="en-US" sz="3000">
                <a:solidFill>
                  <a:srgbClr val="3A3F50"/>
                </a:solidFill>
                <a:latin typeface="Be Vietnam"/>
                <a:ea typeface="Be Vietnam"/>
                <a:cs typeface="Be Vietnam"/>
                <a:sym typeface="Be Vietnam"/>
              </a:rPr>
              <a:t> Cung cấp UI/UX thân thiện giúp nhập video, xem kết quả và theo dõi xu hướng dễ dàng, trực quan.</a:t>
            </a:r>
          </a:p>
          <a:p>
            <a:pPr algn="just">
              <a:lnSpc>
                <a:spcPts val="5119"/>
              </a:lnSpc>
            </a:pPr>
          </a:p>
          <a:p>
            <a:pPr algn="just">
              <a:lnSpc>
                <a:spcPts val="4479"/>
              </a:lnSpc>
            </a:pPr>
          </a:p>
          <a:p>
            <a:pPr algn="just">
              <a:lnSpc>
                <a:spcPts val="4479"/>
              </a:lnSpc>
            </a:pPr>
          </a:p>
        </p:txBody>
      </p:sp>
      <p:sp>
        <p:nvSpPr>
          <p:cNvPr name="TextBox 10" id="10"/>
          <p:cNvSpPr txBox="true"/>
          <p:nvPr/>
        </p:nvSpPr>
        <p:spPr>
          <a:xfrm rot="0">
            <a:off x="1028700" y="2290245"/>
            <a:ext cx="8115300" cy="657225"/>
          </a:xfrm>
          <a:prstGeom prst="rect">
            <a:avLst/>
          </a:prstGeom>
        </p:spPr>
        <p:txBody>
          <a:bodyPr anchor="t" rtlCol="false" tIns="0" lIns="0" bIns="0" rIns="0">
            <a:spAutoFit/>
          </a:bodyPr>
          <a:lstStyle/>
          <a:p>
            <a:pPr algn="l">
              <a:lnSpc>
                <a:spcPts val="4800"/>
              </a:lnSpc>
            </a:pPr>
            <a:r>
              <a:rPr lang="en-US" sz="5000">
                <a:solidFill>
                  <a:srgbClr val="007BB9"/>
                </a:solidFill>
                <a:latin typeface="Be Vietnam"/>
                <a:ea typeface="Be Vietnam"/>
                <a:cs typeface="Be Vietnam"/>
                <a:sym typeface="Be Vietnam"/>
              </a:rPr>
              <a:t>Ưu điểm:</a:t>
            </a:r>
          </a:p>
        </p:txBody>
      </p:sp>
    </p:spTree>
  </p:cSld>
  <p:clrMapOvr>
    <a:masterClrMapping/>
  </p:clrMapOvr>
  <p:transition spd="fast">
    <p:fade/>
  </p:transition>
</p:sld>
</file>

<file path=ppt/slides/slide2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0">
            <a:off x="17373600" y="9349700"/>
            <a:ext cx="937200" cy="937200"/>
            <a:chOff x="0" y="0"/>
            <a:chExt cx="1249600" cy="1249600"/>
          </a:xfrm>
        </p:grpSpPr>
        <p:sp>
          <p:nvSpPr>
            <p:cNvPr name="Freeform 3" id="3"/>
            <p:cNvSpPr/>
            <p:nvPr/>
          </p:nvSpPr>
          <p:spPr>
            <a:xfrm flipH="false" flipV="false" rot="0">
              <a:off x="0" y="0"/>
              <a:ext cx="1249553" cy="1249553"/>
            </a:xfrm>
            <a:custGeom>
              <a:avLst/>
              <a:gdLst/>
              <a:ahLst/>
              <a:cxnLst/>
              <a:rect r="r" b="b" t="t" l="l"/>
              <a:pathLst>
                <a:path h="1249553" w="1249553">
                  <a:moveTo>
                    <a:pt x="1249553" y="1249553"/>
                  </a:moveTo>
                  <a:lnTo>
                    <a:pt x="1249553" y="0"/>
                  </a:lnTo>
                  <a:lnTo>
                    <a:pt x="0" y="1249553"/>
                  </a:lnTo>
                  <a:close/>
                </a:path>
              </a:pathLst>
            </a:custGeom>
            <a:solidFill>
              <a:srgbClr val="00B5DD"/>
            </a:solidFill>
          </p:spPr>
        </p:sp>
      </p:grpSp>
      <p:grpSp>
        <p:nvGrpSpPr>
          <p:cNvPr name="Group 4" id="4"/>
          <p:cNvGrpSpPr/>
          <p:nvPr/>
        </p:nvGrpSpPr>
        <p:grpSpPr>
          <a:xfrm rot="5400000">
            <a:off x="-200700" y="1448970"/>
            <a:ext cx="937200" cy="535800"/>
            <a:chOff x="0" y="0"/>
            <a:chExt cx="1249600" cy="714400"/>
          </a:xfrm>
        </p:grpSpPr>
        <p:sp>
          <p:nvSpPr>
            <p:cNvPr name="Freeform 5" id="5"/>
            <p:cNvSpPr/>
            <p:nvPr/>
          </p:nvSpPr>
          <p:spPr>
            <a:xfrm flipH="false" flipV="false" rot="0">
              <a:off x="0" y="0"/>
              <a:ext cx="1249680" cy="714375"/>
            </a:xfrm>
            <a:custGeom>
              <a:avLst/>
              <a:gdLst/>
              <a:ahLst/>
              <a:cxnLst/>
              <a:rect r="r" b="b" t="t" l="l"/>
              <a:pathLst>
                <a:path h="714375" w="1249680">
                  <a:moveTo>
                    <a:pt x="0" y="714375"/>
                  </a:moveTo>
                  <a:lnTo>
                    <a:pt x="624840" y="0"/>
                  </a:lnTo>
                  <a:lnTo>
                    <a:pt x="1249680" y="714375"/>
                  </a:lnTo>
                  <a:close/>
                </a:path>
              </a:pathLst>
            </a:custGeom>
            <a:solidFill>
              <a:srgbClr val="00B5DD"/>
            </a:solidFill>
          </p:spPr>
        </p:sp>
      </p:grpSp>
      <p:sp>
        <p:nvSpPr>
          <p:cNvPr name="Freeform 6" id="6"/>
          <p:cNvSpPr/>
          <p:nvPr/>
        </p:nvSpPr>
        <p:spPr>
          <a:xfrm flipH="false" flipV="false" rot="0">
            <a:off x="747673" y="367929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812681" y="1372095"/>
            <a:ext cx="17029519" cy="710565"/>
          </a:xfrm>
          <a:prstGeom prst="rect">
            <a:avLst/>
          </a:prstGeom>
        </p:spPr>
        <p:txBody>
          <a:bodyPr anchor="t" rtlCol="false" tIns="0" lIns="0" bIns="0" rIns="0">
            <a:spAutoFit/>
          </a:bodyPr>
          <a:lstStyle/>
          <a:p>
            <a:pPr algn="l">
              <a:lnSpc>
                <a:spcPts val="5279"/>
              </a:lnSpc>
            </a:pPr>
            <a:r>
              <a:rPr lang="en-US" b="true" sz="5499">
                <a:solidFill>
                  <a:srgbClr val="007BB9"/>
                </a:solidFill>
                <a:latin typeface="Be Vietnam Medium"/>
                <a:ea typeface="Be Vietnam Medium"/>
                <a:cs typeface="Be Vietnam Medium"/>
                <a:sym typeface="Be Vietnam Medium"/>
              </a:rPr>
              <a:t>4.1 Kết luận </a:t>
            </a:r>
          </a:p>
        </p:txBody>
      </p:sp>
      <p:sp>
        <p:nvSpPr>
          <p:cNvPr name="TextBox 8" id="8"/>
          <p:cNvSpPr txBox="true"/>
          <p:nvPr/>
        </p:nvSpPr>
        <p:spPr>
          <a:xfrm rot="0">
            <a:off x="17791696" y="9858375"/>
            <a:ext cx="354590" cy="428625"/>
          </a:xfrm>
          <a:prstGeom prst="rect">
            <a:avLst/>
          </a:prstGeom>
        </p:spPr>
        <p:txBody>
          <a:bodyPr anchor="t" rtlCol="false" tIns="0" lIns="0" bIns="0" rIns="0">
            <a:spAutoFit/>
          </a:bodyPr>
          <a:lstStyle/>
          <a:p>
            <a:pPr algn="r">
              <a:lnSpc>
                <a:spcPts val="3359"/>
              </a:lnSpc>
            </a:pPr>
            <a:r>
              <a:rPr lang="en-US" sz="2799">
                <a:solidFill>
                  <a:srgbClr val="FFFFFF"/>
                </a:solidFill>
                <a:latin typeface="Barlow Light"/>
                <a:ea typeface="Barlow Light"/>
                <a:cs typeface="Barlow Light"/>
                <a:sym typeface="Barlow Light"/>
              </a:rPr>
              <a:t>27</a:t>
            </a:r>
          </a:p>
        </p:txBody>
      </p:sp>
      <p:sp>
        <p:nvSpPr>
          <p:cNvPr name="TextBox 9" id="9"/>
          <p:cNvSpPr txBox="true"/>
          <p:nvPr/>
        </p:nvSpPr>
        <p:spPr>
          <a:xfrm rot="0">
            <a:off x="4731898" y="1693227"/>
            <a:ext cx="12403878" cy="6929120"/>
          </a:xfrm>
          <a:prstGeom prst="rect">
            <a:avLst/>
          </a:prstGeom>
        </p:spPr>
        <p:txBody>
          <a:bodyPr anchor="t" rtlCol="false" tIns="0" lIns="0" bIns="0" rIns="0">
            <a:spAutoFit/>
          </a:bodyPr>
          <a:lstStyle/>
          <a:p>
            <a:pPr algn="just">
              <a:lnSpc>
                <a:spcPts val="4479"/>
              </a:lnSpc>
            </a:pPr>
          </a:p>
          <a:p>
            <a:pPr algn="just" marL="974950" indent="-487475" lvl="1">
              <a:lnSpc>
                <a:spcPts val="5119"/>
              </a:lnSpc>
              <a:buFont typeface="Arial"/>
              <a:buChar char="•"/>
            </a:pPr>
            <a:r>
              <a:rPr lang="en-US" b="true" sz="3199">
                <a:solidFill>
                  <a:srgbClr val="3A3F50"/>
                </a:solidFill>
                <a:latin typeface="Be Vietnam Ultra-Bold"/>
                <a:ea typeface="Be Vietnam Ultra-Bold"/>
                <a:cs typeface="Be Vietnam Ultra-Bold"/>
                <a:sym typeface="Be Vietnam Ultra-Bold"/>
              </a:rPr>
              <a:t>Phụ thuộc</a:t>
            </a:r>
            <a:r>
              <a:rPr lang="en-US" b="true" sz="3199">
                <a:solidFill>
                  <a:srgbClr val="3A3F50"/>
                </a:solidFill>
                <a:latin typeface="Be Vietnam Ultra-Bold"/>
                <a:ea typeface="Be Vietnam Ultra-Bold"/>
                <a:cs typeface="Be Vietnam Ultra-Bold"/>
                <a:sym typeface="Be Vietnam Ultra-Bold"/>
              </a:rPr>
              <a:t> YouTube API:</a:t>
            </a:r>
            <a:r>
              <a:rPr lang="en-US" sz="3199">
                <a:solidFill>
                  <a:srgbClr val="3A3F50"/>
                </a:solidFill>
                <a:latin typeface="Be Vietnam"/>
                <a:ea typeface="Be Vietnam"/>
                <a:cs typeface="Be Vietnam"/>
                <a:sym typeface="Be Vietnam"/>
              </a:rPr>
              <a:t> Hệ thống bị giới hạn bởi quota của YouTube Data API v3, gây khó khăn khi thu thập dữ liệu lớn.</a:t>
            </a:r>
          </a:p>
          <a:p>
            <a:pPr algn="just" marL="974950" indent="-487475" lvl="1">
              <a:lnSpc>
                <a:spcPts val="5119"/>
              </a:lnSpc>
              <a:buFont typeface="Arial"/>
              <a:buChar char="•"/>
            </a:pPr>
            <a:r>
              <a:rPr lang="en-US" b="true" sz="3199">
                <a:solidFill>
                  <a:srgbClr val="3A3F50"/>
                </a:solidFill>
                <a:latin typeface="Be Vietnam Ultra-Bold"/>
                <a:ea typeface="Be Vietnam Ultra-Bold"/>
                <a:cs typeface="Be Vietnam Ultra-Bold"/>
                <a:sym typeface="Be Vietnam Ultra-Bold"/>
              </a:rPr>
              <a:t>Dữ liệu chưa đa dạng:</a:t>
            </a:r>
            <a:r>
              <a:rPr lang="en-US" sz="3199">
                <a:solidFill>
                  <a:srgbClr val="3A3F50"/>
                </a:solidFill>
                <a:latin typeface="Be Vietnam"/>
                <a:ea typeface="Be Vietnam"/>
                <a:cs typeface="Be Vietnam"/>
                <a:sym typeface="Be Vietnam"/>
              </a:rPr>
              <a:t> Tập dữ liệu chủ yếu từ vài chủ đề phổ biến nên chưa bao quát đầy đủ các lĩnh vực nội dung trên YouTube.</a:t>
            </a:r>
          </a:p>
          <a:p>
            <a:pPr algn="just" marL="974950" indent="-487475" lvl="1">
              <a:lnSpc>
                <a:spcPts val="5119"/>
              </a:lnSpc>
              <a:buFont typeface="Arial"/>
              <a:buChar char="•"/>
            </a:pPr>
            <a:r>
              <a:rPr lang="en-US" b="true" sz="3199">
                <a:solidFill>
                  <a:srgbClr val="3A3F50"/>
                </a:solidFill>
                <a:latin typeface="Be Vietnam Ultra-Bold"/>
                <a:ea typeface="Be Vietnam Ultra-Bold"/>
                <a:cs typeface="Be Vietnam Ultra-Bold"/>
                <a:sym typeface="Be Vietnam Ultra-Bold"/>
              </a:rPr>
              <a:t>Mất cân bằng dữ liệu:</a:t>
            </a:r>
            <a:r>
              <a:rPr lang="en-US" sz="3199">
                <a:solidFill>
                  <a:srgbClr val="3A3F50"/>
                </a:solidFill>
                <a:latin typeface="Be Vietnam"/>
                <a:ea typeface="Be Vietnam"/>
                <a:cs typeface="Be Vietnam"/>
                <a:sym typeface="Be Vietnam"/>
              </a:rPr>
              <a:t> Số lượng video trending ít hơn nhiều so với không trending, khiến mô hình XGBoost dự đoán chưa tối ưu cho lớp thiểu số.</a:t>
            </a:r>
          </a:p>
          <a:p>
            <a:pPr algn="just">
              <a:lnSpc>
                <a:spcPts val="5119"/>
              </a:lnSpc>
            </a:pPr>
          </a:p>
          <a:p>
            <a:pPr algn="just">
              <a:lnSpc>
                <a:spcPts val="4479"/>
              </a:lnSpc>
            </a:pPr>
          </a:p>
        </p:txBody>
      </p:sp>
      <p:sp>
        <p:nvSpPr>
          <p:cNvPr name="TextBox 10" id="10"/>
          <p:cNvSpPr txBox="true"/>
          <p:nvPr/>
        </p:nvSpPr>
        <p:spPr>
          <a:xfrm rot="0">
            <a:off x="1028700" y="2290245"/>
            <a:ext cx="8115300" cy="657225"/>
          </a:xfrm>
          <a:prstGeom prst="rect">
            <a:avLst/>
          </a:prstGeom>
        </p:spPr>
        <p:txBody>
          <a:bodyPr anchor="t" rtlCol="false" tIns="0" lIns="0" bIns="0" rIns="0">
            <a:spAutoFit/>
          </a:bodyPr>
          <a:lstStyle/>
          <a:p>
            <a:pPr algn="l">
              <a:lnSpc>
                <a:spcPts val="4800"/>
              </a:lnSpc>
            </a:pPr>
            <a:r>
              <a:rPr lang="en-US" sz="5000">
                <a:solidFill>
                  <a:srgbClr val="007BB9"/>
                </a:solidFill>
                <a:latin typeface="Be Vietnam"/>
                <a:ea typeface="Be Vietnam"/>
                <a:cs typeface="Be Vietnam"/>
                <a:sym typeface="Be Vietnam"/>
              </a:rPr>
              <a:t>Nhược điểm:</a:t>
            </a:r>
          </a:p>
        </p:txBody>
      </p:sp>
    </p:spTree>
  </p:cSld>
  <p:clrMapOvr>
    <a:masterClrMapping/>
  </p:clrMapOvr>
  <p:transition spd="fast">
    <p:fade/>
  </p:transition>
</p:sld>
</file>

<file path=ppt/slides/slide2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0">
            <a:off x="17373600" y="9349700"/>
            <a:ext cx="937200" cy="937200"/>
            <a:chOff x="0" y="0"/>
            <a:chExt cx="1249600" cy="1249600"/>
          </a:xfrm>
        </p:grpSpPr>
        <p:sp>
          <p:nvSpPr>
            <p:cNvPr name="Freeform 3" id="3"/>
            <p:cNvSpPr/>
            <p:nvPr/>
          </p:nvSpPr>
          <p:spPr>
            <a:xfrm flipH="false" flipV="false" rot="0">
              <a:off x="0" y="0"/>
              <a:ext cx="1249553" cy="1249553"/>
            </a:xfrm>
            <a:custGeom>
              <a:avLst/>
              <a:gdLst/>
              <a:ahLst/>
              <a:cxnLst/>
              <a:rect r="r" b="b" t="t" l="l"/>
              <a:pathLst>
                <a:path h="1249553" w="1249553">
                  <a:moveTo>
                    <a:pt x="1249553" y="1249553"/>
                  </a:moveTo>
                  <a:lnTo>
                    <a:pt x="1249553" y="0"/>
                  </a:lnTo>
                  <a:lnTo>
                    <a:pt x="0" y="1249553"/>
                  </a:lnTo>
                  <a:close/>
                </a:path>
              </a:pathLst>
            </a:custGeom>
            <a:solidFill>
              <a:srgbClr val="00B5DD"/>
            </a:solidFill>
          </p:spPr>
        </p:sp>
      </p:grpSp>
      <p:grpSp>
        <p:nvGrpSpPr>
          <p:cNvPr name="Group 4" id="4"/>
          <p:cNvGrpSpPr/>
          <p:nvPr/>
        </p:nvGrpSpPr>
        <p:grpSpPr>
          <a:xfrm rot="5400000">
            <a:off x="-200700" y="1448970"/>
            <a:ext cx="937200" cy="535800"/>
            <a:chOff x="0" y="0"/>
            <a:chExt cx="1249600" cy="714400"/>
          </a:xfrm>
        </p:grpSpPr>
        <p:sp>
          <p:nvSpPr>
            <p:cNvPr name="Freeform 5" id="5"/>
            <p:cNvSpPr/>
            <p:nvPr/>
          </p:nvSpPr>
          <p:spPr>
            <a:xfrm flipH="false" flipV="false" rot="0">
              <a:off x="0" y="0"/>
              <a:ext cx="1249680" cy="714375"/>
            </a:xfrm>
            <a:custGeom>
              <a:avLst/>
              <a:gdLst/>
              <a:ahLst/>
              <a:cxnLst/>
              <a:rect r="r" b="b" t="t" l="l"/>
              <a:pathLst>
                <a:path h="714375" w="1249680">
                  <a:moveTo>
                    <a:pt x="0" y="714375"/>
                  </a:moveTo>
                  <a:lnTo>
                    <a:pt x="624840" y="0"/>
                  </a:lnTo>
                  <a:lnTo>
                    <a:pt x="1249680" y="714375"/>
                  </a:lnTo>
                  <a:close/>
                </a:path>
              </a:pathLst>
            </a:custGeom>
            <a:solidFill>
              <a:srgbClr val="00B5DD"/>
            </a:solidFill>
          </p:spPr>
        </p:sp>
      </p:grpSp>
      <p:sp>
        <p:nvSpPr>
          <p:cNvPr name="Freeform 6" id="6"/>
          <p:cNvSpPr/>
          <p:nvPr/>
        </p:nvSpPr>
        <p:spPr>
          <a:xfrm flipH="false" flipV="false" rot="0">
            <a:off x="11696887" y="2082660"/>
            <a:ext cx="6143540" cy="6151230"/>
          </a:xfrm>
          <a:custGeom>
            <a:avLst/>
            <a:gdLst/>
            <a:ahLst/>
            <a:cxnLst/>
            <a:rect r="r" b="b" t="t" l="l"/>
            <a:pathLst>
              <a:path h="6151230" w="6143540">
                <a:moveTo>
                  <a:pt x="0" y="0"/>
                </a:moveTo>
                <a:lnTo>
                  <a:pt x="6143540" y="0"/>
                </a:lnTo>
                <a:lnTo>
                  <a:pt x="6143540" y="6151229"/>
                </a:lnTo>
                <a:lnTo>
                  <a:pt x="0" y="6151229"/>
                </a:lnTo>
                <a:lnTo>
                  <a:pt x="0" y="0"/>
                </a:lnTo>
                <a:close/>
              </a:path>
            </a:pathLst>
          </a:custGeom>
          <a:blipFill>
            <a:blip r:embed="rId3"/>
            <a:stretch>
              <a:fillRect l="0" t="0" r="0" b="0"/>
            </a:stretch>
          </a:blipFill>
        </p:spPr>
      </p:sp>
      <p:sp>
        <p:nvSpPr>
          <p:cNvPr name="TextBox 7" id="7"/>
          <p:cNvSpPr txBox="true"/>
          <p:nvPr/>
        </p:nvSpPr>
        <p:spPr>
          <a:xfrm rot="0">
            <a:off x="812681" y="1372095"/>
            <a:ext cx="17029519" cy="710565"/>
          </a:xfrm>
          <a:prstGeom prst="rect">
            <a:avLst/>
          </a:prstGeom>
        </p:spPr>
        <p:txBody>
          <a:bodyPr anchor="t" rtlCol="false" tIns="0" lIns="0" bIns="0" rIns="0">
            <a:spAutoFit/>
          </a:bodyPr>
          <a:lstStyle/>
          <a:p>
            <a:pPr algn="l">
              <a:lnSpc>
                <a:spcPts val="5279"/>
              </a:lnSpc>
            </a:pPr>
            <a:r>
              <a:rPr lang="en-US" b="true" sz="5499">
                <a:solidFill>
                  <a:srgbClr val="007BB9"/>
                </a:solidFill>
                <a:latin typeface="Be Vietnam Medium"/>
                <a:ea typeface="Be Vietnam Medium"/>
                <a:cs typeface="Be Vietnam Medium"/>
                <a:sym typeface="Be Vietnam Medium"/>
              </a:rPr>
              <a:t>4.2 Hướng phát triển </a:t>
            </a:r>
          </a:p>
        </p:txBody>
      </p:sp>
      <p:sp>
        <p:nvSpPr>
          <p:cNvPr name="TextBox 8" id="8"/>
          <p:cNvSpPr txBox="true"/>
          <p:nvPr/>
        </p:nvSpPr>
        <p:spPr>
          <a:xfrm rot="0">
            <a:off x="17775027" y="9858375"/>
            <a:ext cx="371259" cy="428625"/>
          </a:xfrm>
          <a:prstGeom prst="rect">
            <a:avLst/>
          </a:prstGeom>
        </p:spPr>
        <p:txBody>
          <a:bodyPr anchor="t" rtlCol="false" tIns="0" lIns="0" bIns="0" rIns="0">
            <a:spAutoFit/>
          </a:bodyPr>
          <a:lstStyle/>
          <a:p>
            <a:pPr algn="r">
              <a:lnSpc>
                <a:spcPts val="3359"/>
              </a:lnSpc>
            </a:pPr>
            <a:r>
              <a:rPr lang="en-US" sz="2799">
                <a:solidFill>
                  <a:srgbClr val="FFFFFF"/>
                </a:solidFill>
                <a:latin typeface="Barlow Light"/>
                <a:ea typeface="Barlow Light"/>
                <a:cs typeface="Barlow Light"/>
                <a:sym typeface="Barlow Light"/>
              </a:rPr>
              <a:t>28</a:t>
            </a:r>
          </a:p>
        </p:txBody>
      </p:sp>
      <p:sp>
        <p:nvSpPr>
          <p:cNvPr name="TextBox 9" id="9"/>
          <p:cNvSpPr txBox="true"/>
          <p:nvPr/>
        </p:nvSpPr>
        <p:spPr>
          <a:xfrm rot="0">
            <a:off x="409835" y="1792414"/>
            <a:ext cx="10174794" cy="7233920"/>
          </a:xfrm>
          <a:prstGeom prst="rect">
            <a:avLst/>
          </a:prstGeom>
        </p:spPr>
        <p:txBody>
          <a:bodyPr anchor="t" rtlCol="false" tIns="0" lIns="0" bIns="0" rIns="0">
            <a:spAutoFit/>
          </a:bodyPr>
          <a:lstStyle/>
          <a:p>
            <a:pPr algn="just">
              <a:lnSpc>
                <a:spcPts val="4479"/>
              </a:lnSpc>
            </a:pPr>
          </a:p>
          <a:p>
            <a:pPr algn="just" marL="914019" indent="-457010" lvl="1">
              <a:lnSpc>
                <a:spcPts val="4800"/>
              </a:lnSpc>
              <a:buFont typeface="Arial"/>
              <a:buChar char="•"/>
            </a:pPr>
            <a:r>
              <a:rPr lang="en-US" b="true" sz="3000">
                <a:solidFill>
                  <a:srgbClr val="3A3F50"/>
                </a:solidFill>
                <a:latin typeface="Be Vietnam Ultra-Bold"/>
                <a:ea typeface="Be Vietnam Ultra-Bold"/>
                <a:cs typeface="Be Vietnam Ultra-Bold"/>
                <a:sym typeface="Be Vietnam Ultra-Bold"/>
              </a:rPr>
              <a:t>Mở rộng</a:t>
            </a:r>
            <a:r>
              <a:rPr lang="en-US" b="true" sz="3000">
                <a:solidFill>
                  <a:srgbClr val="3A3F50"/>
                </a:solidFill>
                <a:latin typeface="Be Vietnam Ultra-Bold"/>
                <a:ea typeface="Be Vietnam Ultra-Bold"/>
                <a:cs typeface="Be Vietnam Ultra-Bold"/>
                <a:sym typeface="Be Vietnam Ultra-Bold"/>
              </a:rPr>
              <a:t> tập dữ liệu: </a:t>
            </a:r>
            <a:r>
              <a:rPr lang="en-US" sz="3000">
                <a:solidFill>
                  <a:srgbClr val="3A3F50"/>
                </a:solidFill>
                <a:latin typeface="Be Vietnam"/>
                <a:ea typeface="Be Vietnam"/>
                <a:cs typeface="Be Vietnam"/>
                <a:sym typeface="Be Vietnam"/>
              </a:rPr>
              <a:t>Thu thập trong thời gian dài hơn, nhiều lĩnh vực nội dung và quốc gia khác nhau để tăng tính tổng quát và độ tin cậy.</a:t>
            </a:r>
          </a:p>
          <a:p>
            <a:pPr algn="just" marL="914019" indent="-457010" lvl="1">
              <a:lnSpc>
                <a:spcPts val="4800"/>
              </a:lnSpc>
              <a:buFont typeface="Arial"/>
              <a:buChar char="•"/>
            </a:pPr>
            <a:r>
              <a:rPr lang="en-US" b="true" sz="3000">
                <a:solidFill>
                  <a:srgbClr val="3A3F50"/>
                </a:solidFill>
                <a:latin typeface="Be Vietnam Ultra-Bold"/>
                <a:ea typeface="Be Vietnam Ultra-Bold"/>
                <a:cs typeface="Be Vietnam Ultra-Bold"/>
                <a:sym typeface="Be Vietnam Ultra-Bold"/>
              </a:rPr>
              <a:t>Tối ưu mô hình học máy:</a:t>
            </a:r>
            <a:r>
              <a:rPr lang="en-US" sz="3000">
                <a:solidFill>
                  <a:srgbClr val="3A3F50"/>
                </a:solidFill>
                <a:latin typeface="Be Vietnam"/>
                <a:ea typeface="Be Vietnam"/>
                <a:cs typeface="Be Vietnam"/>
                <a:sym typeface="Be Vietnam"/>
              </a:rPr>
              <a:t> Thử nghiệm thêm các thuật toán như LightGBM, CatBoost để nâng cao độ chính xác.</a:t>
            </a:r>
          </a:p>
          <a:p>
            <a:pPr algn="just" marL="914019" indent="-457010" lvl="1">
              <a:lnSpc>
                <a:spcPts val="4800"/>
              </a:lnSpc>
              <a:buFont typeface="Arial"/>
              <a:buChar char="•"/>
            </a:pPr>
            <a:r>
              <a:rPr lang="en-US" b="true" sz="3000">
                <a:solidFill>
                  <a:srgbClr val="3A3F50"/>
                </a:solidFill>
                <a:latin typeface="Be Vietnam Ultra-Bold"/>
                <a:ea typeface="Be Vietnam Ultra-Bold"/>
                <a:cs typeface="Be Vietnam Ultra-Bold"/>
                <a:sym typeface="Be Vietnam Ultra-Bold"/>
              </a:rPr>
              <a:t>Phát triển hệ thống realtime:</a:t>
            </a:r>
            <a:r>
              <a:rPr lang="en-US" sz="3000">
                <a:solidFill>
                  <a:srgbClr val="3A3F50"/>
                </a:solidFill>
                <a:latin typeface="Be Vietnam"/>
                <a:ea typeface="Be Vietnam"/>
                <a:cs typeface="Be Vietnam"/>
                <a:sym typeface="Be Vietnam"/>
              </a:rPr>
              <a:t> Cho phép cập nhật và phân tích dữ liệu trực tiếp để nắm bắt xu hướng kịp thời.</a:t>
            </a:r>
          </a:p>
          <a:p>
            <a:pPr algn="just">
              <a:lnSpc>
                <a:spcPts val="5119"/>
              </a:lnSpc>
            </a:pPr>
          </a:p>
          <a:p>
            <a:pPr algn="just">
              <a:lnSpc>
                <a:spcPts val="4479"/>
              </a:lnSpc>
            </a:pPr>
          </a:p>
        </p:txBody>
      </p:sp>
    </p:spTree>
  </p:cSld>
  <p:clrMapOvr>
    <a:masterClrMapping/>
  </p:clrMapOvr>
  <p:transition spd="fast">
    <p:fade/>
  </p:transition>
</p:sld>
</file>

<file path=ppt/slides/slide29.xml><?xml version="1.0" encoding="utf-8"?>
<p:sld xmlns:p="http://schemas.openxmlformats.org/presentationml/2006/main" xmlns:a="http://schemas.openxmlformats.org/drawingml/2006/main">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grpSp>
        <p:nvGrpSpPr>
          <p:cNvPr name="Group 2" id="2"/>
          <p:cNvGrpSpPr/>
          <p:nvPr/>
        </p:nvGrpSpPr>
        <p:grpSpPr>
          <a:xfrm rot="0">
            <a:off x="17373600" y="9349700"/>
            <a:ext cx="937200" cy="937200"/>
            <a:chOff x="0" y="0"/>
            <a:chExt cx="1249600" cy="1249600"/>
          </a:xfrm>
        </p:grpSpPr>
        <p:sp>
          <p:nvSpPr>
            <p:cNvPr name="Freeform 3" id="3"/>
            <p:cNvSpPr/>
            <p:nvPr/>
          </p:nvSpPr>
          <p:spPr>
            <a:xfrm flipH="false" flipV="false" rot="0">
              <a:off x="0" y="0"/>
              <a:ext cx="1249553" cy="1249553"/>
            </a:xfrm>
            <a:custGeom>
              <a:avLst/>
              <a:gdLst/>
              <a:ahLst/>
              <a:cxnLst/>
              <a:rect r="r" b="b" t="t" l="l"/>
              <a:pathLst>
                <a:path h="1249553" w="1249553">
                  <a:moveTo>
                    <a:pt x="1249553" y="1249553"/>
                  </a:moveTo>
                  <a:lnTo>
                    <a:pt x="1249553" y="0"/>
                  </a:lnTo>
                  <a:lnTo>
                    <a:pt x="0" y="1249553"/>
                  </a:lnTo>
                  <a:close/>
                </a:path>
              </a:pathLst>
            </a:custGeom>
            <a:solidFill>
              <a:srgbClr val="00B5DD"/>
            </a:solidFill>
          </p:spPr>
        </p:sp>
      </p:grpSp>
      <p:grpSp>
        <p:nvGrpSpPr>
          <p:cNvPr name="Group 4" id="4"/>
          <p:cNvGrpSpPr/>
          <p:nvPr/>
        </p:nvGrpSpPr>
        <p:grpSpPr>
          <a:xfrm rot="5400000">
            <a:off x="-200700" y="5203350"/>
            <a:ext cx="937200" cy="535800"/>
            <a:chOff x="0" y="0"/>
            <a:chExt cx="1249600" cy="714400"/>
          </a:xfrm>
        </p:grpSpPr>
        <p:sp>
          <p:nvSpPr>
            <p:cNvPr name="Freeform 5" id="5"/>
            <p:cNvSpPr/>
            <p:nvPr/>
          </p:nvSpPr>
          <p:spPr>
            <a:xfrm flipH="false" flipV="false" rot="0">
              <a:off x="0" y="0"/>
              <a:ext cx="1249680" cy="714375"/>
            </a:xfrm>
            <a:custGeom>
              <a:avLst/>
              <a:gdLst/>
              <a:ahLst/>
              <a:cxnLst/>
              <a:rect r="r" b="b" t="t" l="l"/>
              <a:pathLst>
                <a:path h="714375" w="1249680">
                  <a:moveTo>
                    <a:pt x="0" y="714375"/>
                  </a:moveTo>
                  <a:lnTo>
                    <a:pt x="624840" y="0"/>
                  </a:lnTo>
                  <a:lnTo>
                    <a:pt x="1249680" y="714375"/>
                  </a:lnTo>
                  <a:close/>
                </a:path>
              </a:pathLst>
            </a:custGeom>
            <a:solidFill>
              <a:srgbClr val="00B5DD"/>
            </a:solidFill>
          </p:spPr>
        </p:sp>
      </p:grpSp>
      <p:sp>
        <p:nvSpPr>
          <p:cNvPr name="TextBox 6" id="6"/>
          <p:cNvSpPr txBox="true"/>
          <p:nvPr/>
        </p:nvSpPr>
        <p:spPr>
          <a:xfrm rot="0">
            <a:off x="5340987" y="5017863"/>
            <a:ext cx="7606026" cy="1097272"/>
          </a:xfrm>
          <a:prstGeom prst="rect">
            <a:avLst/>
          </a:prstGeom>
        </p:spPr>
        <p:txBody>
          <a:bodyPr anchor="t" rtlCol="false" tIns="0" lIns="0" bIns="0" rIns="0">
            <a:spAutoFit/>
          </a:bodyPr>
          <a:lstStyle/>
          <a:p>
            <a:pPr algn="ctr">
              <a:lnSpc>
                <a:spcPts val="8159"/>
              </a:lnSpc>
            </a:pPr>
            <a:r>
              <a:rPr lang="en-US" b="true" sz="8499">
                <a:solidFill>
                  <a:srgbClr val="007BB9"/>
                </a:solidFill>
                <a:latin typeface="Be Vietnam Medium"/>
                <a:ea typeface="Be Vietnam Medium"/>
                <a:cs typeface="Be Vietnam Medium"/>
                <a:sym typeface="Be Vietnam Medium"/>
              </a:rPr>
              <a:t>3.2 Demo </a:t>
            </a:r>
          </a:p>
        </p:txBody>
      </p:sp>
      <p:sp>
        <p:nvSpPr>
          <p:cNvPr name="TextBox 7" id="7"/>
          <p:cNvSpPr txBox="true"/>
          <p:nvPr/>
        </p:nvSpPr>
        <p:spPr>
          <a:xfrm rot="0">
            <a:off x="17773108" y="9858375"/>
            <a:ext cx="373099" cy="428625"/>
          </a:xfrm>
          <a:prstGeom prst="rect">
            <a:avLst/>
          </a:prstGeom>
        </p:spPr>
        <p:txBody>
          <a:bodyPr anchor="t" rtlCol="false" tIns="0" lIns="0" bIns="0" rIns="0">
            <a:spAutoFit/>
          </a:bodyPr>
          <a:lstStyle/>
          <a:p>
            <a:pPr algn="r">
              <a:lnSpc>
                <a:spcPts val="3359"/>
              </a:lnSpc>
            </a:pPr>
            <a:r>
              <a:rPr lang="en-US" sz="2799">
                <a:solidFill>
                  <a:srgbClr val="FFFFFF"/>
                </a:solidFill>
                <a:latin typeface="Barlow Light"/>
                <a:ea typeface="Barlow Light"/>
                <a:cs typeface="Barlow Light"/>
                <a:sym typeface="Barlow Light"/>
              </a:rPr>
              <a:t>29</a:t>
            </a:r>
          </a:p>
        </p:txBody>
      </p:sp>
    </p:spTree>
  </p:cSld>
  <p:clrMapOvr>
    <a:masterClrMapping/>
  </p:clrMapOvr>
  <p:transition spd="fast">
    <p:fade/>
  </p:transition>
</p:sld>
</file>

<file path=ppt/slides/slide30.xml><?xml version="1.0" encoding="utf-8"?>
<p:sld xmlns:p="http://schemas.openxmlformats.org/presentationml/2006/main" xmlns:a="http://schemas.openxmlformats.org/drawingml/2006/main">
  <p:cSld>
    <p:bg>
      <p:bgPr>
        <a:gradFill rotWithShape="true">
          <a:gsLst>
            <a:gs pos="0">
              <a:srgbClr val="FFFFFF">
                <a:alpha val="100000"/>
              </a:srgbClr>
            </a:gs>
            <a:gs pos="50000">
              <a:srgbClr val="FFFFFF">
                <a:alpha val="100000"/>
              </a:srgbClr>
            </a:gs>
            <a:gs pos="100000">
              <a:srgbClr val="E9EAF2">
                <a:alpha val="100000"/>
              </a:srgbClr>
            </a:gs>
          </a:gsLst>
          <a:lin ang="16200038"/>
        </a:gradFill>
      </p:bgPr>
    </p:bg>
    <p:spTree>
      <p:nvGrpSpPr>
        <p:cNvPr id="1" name=""/>
        <p:cNvGrpSpPr/>
        <p:nvPr/>
      </p:nvGrpSpPr>
      <p:grpSpPr>
        <a:xfrm>
          <a:off x="0" y="0"/>
          <a:ext cx="0" cy="0"/>
          <a:chOff x="0" y="0"/>
          <a:chExt cx="0" cy="0"/>
        </a:xfrm>
      </p:grpSpPr>
      <p:sp>
        <p:nvSpPr>
          <p:cNvPr name="TextBox 2" id="2"/>
          <p:cNvSpPr txBox="true"/>
          <p:nvPr/>
        </p:nvSpPr>
        <p:spPr>
          <a:xfrm rot="0">
            <a:off x="1743076" y="3099675"/>
            <a:ext cx="15887700" cy="3578733"/>
          </a:xfrm>
          <a:prstGeom prst="rect">
            <a:avLst/>
          </a:prstGeom>
        </p:spPr>
        <p:txBody>
          <a:bodyPr anchor="t" rtlCol="false" tIns="0" lIns="0" bIns="0" rIns="0">
            <a:spAutoFit/>
          </a:bodyPr>
          <a:lstStyle/>
          <a:p>
            <a:pPr algn="ctr">
              <a:lnSpc>
                <a:spcPts val="14256"/>
              </a:lnSpc>
            </a:pPr>
            <a:r>
              <a:rPr lang="en-US" b="true" sz="10800">
                <a:solidFill>
                  <a:srgbClr val="00B5DD"/>
                </a:solidFill>
                <a:latin typeface="Be Vietnam Ultra-Bold"/>
                <a:ea typeface="Be Vietnam Ultra-Bold"/>
                <a:cs typeface="Be Vietnam Ultra-Bold"/>
                <a:sym typeface="Be Vietnam Ultra-Bold"/>
              </a:rPr>
              <a:t>Cảm ơn thầy cô và </a:t>
            </a:r>
          </a:p>
          <a:p>
            <a:pPr algn="ctr">
              <a:lnSpc>
                <a:spcPts val="14256"/>
              </a:lnSpc>
            </a:pPr>
            <a:r>
              <a:rPr lang="en-US" b="true" sz="10800">
                <a:solidFill>
                  <a:srgbClr val="00B5DD"/>
                </a:solidFill>
                <a:latin typeface="Be Vietnam Ultra-Bold"/>
                <a:ea typeface="Be Vietnam Ultra-Bold"/>
                <a:cs typeface="Be Vietnam Ultra-Bold"/>
                <a:sym typeface="Be Vietnam Ultra-Bold"/>
              </a:rPr>
              <a:t>các bạn đã lắng nghe!</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DAGqCXaGQLA</dc:identifier>
  <dcterms:modified xsi:type="dcterms:W3CDTF">2011-08-01T06:04:30Z</dcterms:modified>
  <cp:revision>1</cp:revision>
  <dc:title>BC_KLTN</dc:title>
</cp:coreProperties>
</file>